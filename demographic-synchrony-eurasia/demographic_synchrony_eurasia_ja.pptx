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37"/>
        </a:solidFill>
      </p:bgPr>
    </p:bg>
    <p:spTree>
      <p:nvGrpSpPr>
        <p:cNvPr id="1" name=""/>
        <p:cNvGrpSpPr/>
        <p:nvPr/>
      </p:nvGrpSpPr>
      <p:grpSpPr>
        <a:xfrm>
          <a:off x="0" y="0"/>
          <a:ext cx="0" cy="0"/>
          <a:chOff x="0" y="0"/>
          <a:chExt cx="0" cy="0"/>
        </a:xfrm>
      </p:grpSpPr>
      <p:sp>
        <p:nvSpPr>
          <p:cNvPr id="2" name="Shape 0"/>
          <p:cNvSpPr/>
          <p:nvPr/>
        </p:nvSpPr>
        <p:spPr>
          <a:xfrm>
            <a:off x="0" y="3840480"/>
            <a:ext cx="9144000" cy="1303020"/>
          </a:xfrm>
          <a:prstGeom prst="rect">
            <a:avLst/>
          </a:prstGeom>
          <a:solidFill>
            <a:srgbClr val="3B6FA0"/>
          </a:solidFill>
          <a:ln/>
        </p:spPr>
      </p:sp>
      <p:sp>
        <p:nvSpPr>
          <p:cNvPr id="3" name="Text 1"/>
          <p:cNvSpPr/>
          <p:nvPr/>
        </p:nvSpPr>
        <p:spPr>
          <a:xfrm>
            <a:off x="731520" y="548640"/>
            <a:ext cx="7680960" cy="1371600"/>
          </a:xfrm>
          <a:prstGeom prst="rect">
            <a:avLst/>
          </a:prstGeom>
          <a:noFill/>
          <a:ln/>
        </p:spPr>
        <p:txBody>
          <a:bodyPr wrap="square" rtlCol="0" anchor="ctr"/>
          <a:lstStyle/>
          <a:p>
            <a:pPr indent="0" marL="0">
              <a:lnSpc>
                <a:spcPct val="130000"/>
              </a:lnSpc>
              <a:buNone/>
            </a:pPr>
            <a:r>
              <a:rPr lang="en-US" sz="3000" b="1" dirty="0">
                <a:solidFill>
                  <a:srgbClr val="FFFFFF"/>
                </a:solidFill>
                <a:latin typeface="Georgia" pitchFamily="34" charset="0"/>
                <a:ea typeface="Georgia" pitchFamily="34" charset="-122"/>
                <a:cs typeface="Georgia" pitchFamily="34" charset="-120"/>
              </a:rPr>
              <a:t>完新世ユーラシアの</a:t>
            </a:r>
            <a:endParaRPr lang="en-US" sz="3000" dirty="0"/>
          </a:p>
          <a:p>
            <a:pPr indent="0" marL="0">
              <a:lnSpc>
                <a:spcPct val="130000"/>
              </a:lnSpc>
              <a:buNone/>
            </a:pPr>
            <a:r>
              <a:rPr lang="en-US" sz="3000" b="1" dirty="0">
                <a:solidFill>
                  <a:srgbClr val="FFFFFF"/>
                </a:solidFill>
                <a:latin typeface="Georgia" pitchFamily="34" charset="0"/>
                <a:ea typeface="Georgia" pitchFamily="34" charset="-122"/>
                <a:cs typeface="Georgia" pitchFamily="34" charset="-120"/>
              </a:rPr>
              <a:t>人口は連動していた</a:t>
            </a:r>
            <a:endParaRPr lang="en-US" sz="3000" dirty="0"/>
          </a:p>
        </p:txBody>
      </p:sp>
      <p:sp>
        <p:nvSpPr>
          <p:cNvPr id="4" name="Text 2"/>
          <p:cNvSpPr/>
          <p:nvPr/>
        </p:nvSpPr>
        <p:spPr>
          <a:xfrm>
            <a:off x="731520" y="2011680"/>
            <a:ext cx="7680960" cy="457200"/>
          </a:xfrm>
          <a:prstGeom prst="rect">
            <a:avLst/>
          </a:prstGeom>
          <a:noFill/>
          <a:ln/>
        </p:spPr>
        <p:txBody>
          <a:bodyPr wrap="square" rtlCol="0" anchor="ctr"/>
          <a:lstStyle/>
          <a:p>
            <a:pPr indent="0" marL="0">
              <a:buNone/>
            </a:pPr>
            <a:r>
              <a:rPr lang="en-US" sz="1600" dirty="0">
                <a:solidFill>
                  <a:srgbClr val="97BC62"/>
                </a:solidFill>
                <a:latin typeface="Calibri" pitchFamily="34" charset="0"/>
                <a:ea typeface="Calibri" pitchFamily="34" charset="-122"/>
                <a:cs typeface="Calibri" pitchFamily="34" charset="-120"/>
              </a:rPr>
              <a:t>154,000件の放射性炭素年代が示す7地域の人口動態同期性</a:t>
            </a:r>
            <a:endParaRPr lang="en-US" sz="1600" dirty="0"/>
          </a:p>
        </p:txBody>
      </p:sp>
      <p:sp>
        <p:nvSpPr>
          <p:cNvPr id="5" name="Text 3"/>
          <p:cNvSpPr/>
          <p:nvPr/>
        </p:nvSpPr>
        <p:spPr>
          <a:xfrm>
            <a:off x="731520" y="4114800"/>
            <a:ext cx="7315200" cy="365760"/>
          </a:xfrm>
          <a:prstGeom prst="rect">
            <a:avLst/>
          </a:prstGeom>
          <a:noFill/>
          <a:ln/>
        </p:spPr>
        <p:txBody>
          <a:bodyPr wrap="square"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ArchEco 歴史生態学×考古学 研究室 | 2026年3月</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4E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3B6FA0"/>
          </a:solidFill>
          <a:ln/>
        </p:spPr>
      </p:sp>
      <p:sp>
        <p:nvSpPr>
          <p:cNvPr id="3" name="Text 1"/>
          <p:cNvSpPr/>
          <p:nvPr/>
        </p:nvSpPr>
        <p:spPr>
          <a:xfrm>
            <a:off x="457200" y="4800600"/>
            <a:ext cx="8229600" cy="274320"/>
          </a:xfrm>
          <a:prstGeom prst="rect">
            <a:avLst/>
          </a:prstGeom>
          <a:noFill/>
          <a:ln/>
        </p:spPr>
        <p:txBody>
          <a:bodyPr wrap="square" rtlCol="0" anchor="ctr"/>
          <a:lstStyle/>
          <a:p>
            <a:pPr indent="0" marL="0">
              <a:buNone/>
            </a:pPr>
            <a:r>
              <a:rPr lang="en-US" sz="800" dirty="0">
                <a:solidFill>
                  <a:srgbClr val="666666"/>
                </a:solidFill>
                <a:latin typeface="Calibri" pitchFamily="34" charset="0"/>
                <a:ea typeface="Calibri" pitchFamily="34" charset="-122"/>
                <a:cs typeface="Calibri" pitchFamily="34" charset="-120"/>
              </a:rPr>
              <a:t>ArchEco — 完新世ユーラシアの人口動態同期性</a:t>
            </a:r>
            <a:endParaRPr lang="en-US" sz="800" dirty="0"/>
          </a:p>
        </p:txBody>
      </p:sp>
      <p:sp>
        <p:nvSpPr>
          <p:cNvPr id="4" name="Text 2"/>
          <p:cNvSpPr/>
          <p:nvPr/>
        </p:nvSpPr>
        <p:spPr>
          <a:xfrm>
            <a:off x="457200" y="228600"/>
            <a:ext cx="8229600" cy="457200"/>
          </a:xfrm>
          <a:prstGeom prst="rect">
            <a:avLst/>
          </a:prstGeom>
          <a:noFill/>
          <a:ln/>
        </p:spPr>
        <p:txBody>
          <a:bodyPr wrap="square" lIns="0" tIns="0" rIns="0" bIns="0" rtlCol="0" anchor="ctr"/>
          <a:lstStyle/>
          <a:p>
            <a:pPr indent="0" marL="0">
              <a:buNone/>
            </a:pPr>
            <a:r>
              <a:rPr lang="en-US" sz="2400" b="1" dirty="0">
                <a:solidFill>
                  <a:srgbClr val="1E2737"/>
                </a:solidFill>
                <a:latin typeface="Georgia" pitchFamily="34" charset="0"/>
                <a:ea typeface="Georgia" pitchFamily="34" charset="-122"/>
                <a:cs typeface="Georgia" pitchFamily="34" charset="-120"/>
              </a:rPr>
              <a:t>概要</a:t>
            </a:r>
            <a:endParaRPr lang="en-US" sz="2400" dirty="0"/>
          </a:p>
        </p:txBody>
      </p:sp>
      <p:sp>
        <p:nvSpPr>
          <p:cNvPr id="5" name="Text 3"/>
          <p:cNvSpPr/>
          <p:nvPr/>
        </p:nvSpPr>
        <p:spPr>
          <a:xfrm>
            <a:off x="640080" y="822960"/>
            <a:ext cx="7863840" cy="3657600"/>
          </a:xfrm>
          <a:prstGeom prst="rect">
            <a:avLst/>
          </a:prstGeom>
          <a:noFill/>
          <a:ln/>
        </p:spPr>
        <p:txBody>
          <a:bodyPr wrap="square" rtlCol="0" anchor="t"/>
          <a:lstStyle/>
          <a:p>
            <a:pPr indent="0" marL="0">
              <a:lnSpc>
                <a:spcPct val="110000"/>
              </a:lnSpc>
              <a:buNone/>
            </a:pPr>
            <a:r>
              <a:rPr lang="en-US" sz="1250" b="1" dirty="0">
                <a:solidFill>
                  <a:srgbClr val="B85042"/>
                </a:solidFill>
                <a:latin typeface="Calibri" pitchFamily="34" charset="0"/>
                <a:ea typeface="Calibri" pitchFamily="34" charset="-122"/>
                <a:cs typeface="Calibri" pitchFamily="34" charset="-120"/>
              </a:rPr>
              <a:t>問い: </a:t>
            </a:r>
            <a:pPr indent="0" marL="0">
              <a:lnSpc>
                <a:spcPct val="110000"/>
              </a:lnSpc>
              <a:buNone/>
            </a:pPr>
            <a:r>
              <a:rPr lang="en-US" sz="1250" dirty="0">
                <a:solidFill>
                  <a:srgbClr val="2D2D2D"/>
                </a:solidFill>
                <a:latin typeface="Calibri" pitchFamily="34" charset="0"/>
                <a:ea typeface="Calibri" pitchFamily="34" charset="-122"/>
                <a:cs typeface="Calibri" pitchFamily="34" charset="-120"/>
              </a:rPr>
              <a:t>完新世の異なる地域の人口は、連動して増減したか？</a:t>
            </a:r>
            <a:endParaRPr lang="en-US" sz="1250" dirty="0"/>
          </a:p>
          <a:p>
            <a:pPr indent="0" marL="0">
              <a:lnSpc>
                <a:spcPct val="110000"/>
              </a:lnSpc>
              <a:buNone/>
            </a:pPr>
            <a:r>
              <a:rPr lang="en-US" sz="1250" dirty="0">
                <a:solidFill>
                  <a:srgbClr val="2D2D2D"/>
                </a:solidFill>
                <a:latin typeface="Calibri" pitchFamily="34" charset="0"/>
                <a:ea typeface="Calibri" pitchFamily="34" charset="-122"/>
                <a:cs typeface="Calibri" pitchFamily="34" charset="-120"/>
              </a:rPr>
              <a:t>連動していれば共通の外的要因（気候等）が示唆される。</a:t>
            </a:r>
            <a:endParaRPr lang="en-US" sz="1250" dirty="0"/>
          </a:p>
          <a:p>
            <a:pPr indent="0" marL="0">
              <a:lnSpc>
                <a:spcPct val="110000"/>
              </a:lnSpc>
              <a:buNone/>
            </a:pPr>
            <a:endParaRPr lang="en-US" sz="1250" dirty="0"/>
          </a:p>
          <a:p>
            <a:pPr indent="0" marL="0">
              <a:lnSpc>
                <a:spcPct val="110000"/>
              </a:lnSpc>
              <a:buNone/>
            </a:pPr>
            <a:r>
              <a:rPr lang="en-US" sz="1250" b="1" dirty="0">
                <a:solidFill>
                  <a:srgbClr val="2C5F2D"/>
                </a:solidFill>
                <a:latin typeface="Calibri" pitchFamily="34" charset="0"/>
                <a:ea typeface="Calibri" pitchFamily="34" charset="-122"/>
                <a:cs typeface="Calibri" pitchFamily="34" charset="-120"/>
              </a:rPr>
              <a:t>方法: </a:t>
            </a:r>
            <a:pPr indent="0" marL="0">
              <a:lnSpc>
                <a:spcPct val="110000"/>
              </a:lnSpc>
              <a:buNone/>
            </a:pPr>
            <a:r>
              <a:rPr lang="en-US" sz="1250" dirty="0">
                <a:solidFill>
                  <a:srgbClr val="2D2D2D"/>
                </a:solidFill>
                <a:latin typeface="Calibri" pitchFamily="34" charset="0"/>
                <a:ea typeface="Calibri" pitchFamily="34" charset="-122"/>
                <a:cs typeface="Calibri" pitchFamily="34" charset="-120"/>
              </a:rPr>
              <a:t>p3k14cデータベースから154,466件の放射性炭素年代を取得。</a:t>
            </a:r>
            <a:endParaRPr lang="en-US" sz="1250" dirty="0"/>
          </a:p>
          <a:p>
            <a:pPr indent="0" marL="0">
              <a:lnSpc>
                <a:spcPct val="110000"/>
              </a:lnSpc>
              <a:buNone/>
            </a:pPr>
            <a:r>
              <a:rPr lang="en-US" sz="1250" dirty="0">
                <a:solidFill>
                  <a:srgbClr val="2D2D2D"/>
                </a:solidFill>
                <a:latin typeface="Calibri" pitchFamily="34" charset="0"/>
                <a:ea typeface="Calibri" pitchFamily="34" charset="-122"/>
                <a:cs typeface="Calibri" pitchFamily="34" charset="-120"/>
              </a:rPr>
              <a:t>7地域（英国〜日本）のSPD（確率密度合計）を計算し、デトレンド後の相関を分析。</a:t>
            </a:r>
            <a:endParaRPr lang="en-US" sz="1250" dirty="0"/>
          </a:p>
          <a:p>
            <a:pPr indent="0" marL="0">
              <a:lnSpc>
                <a:spcPct val="110000"/>
              </a:lnSpc>
              <a:buNone/>
            </a:pPr>
            <a:endParaRPr lang="en-US" sz="1250" dirty="0"/>
          </a:p>
          <a:p>
            <a:pPr indent="0" marL="0">
              <a:lnSpc>
                <a:spcPct val="110000"/>
              </a:lnSpc>
              <a:buNone/>
            </a:pPr>
            <a:r>
              <a:rPr lang="en-US" sz="1250" b="1" dirty="0">
                <a:solidFill>
                  <a:srgbClr val="B85042"/>
                </a:solidFill>
                <a:latin typeface="Calibri" pitchFamily="34" charset="0"/>
                <a:ea typeface="Calibri" pitchFamily="34" charset="-122"/>
                <a:cs typeface="Calibri" pitchFamily="34" charset="-120"/>
              </a:rPr>
              <a:t>発見: </a:t>
            </a:r>
            <a:pPr indent="0" marL="0">
              <a:lnSpc>
                <a:spcPct val="110000"/>
              </a:lnSpc>
              <a:buNone/>
            </a:pPr>
            <a:r>
              <a:rPr lang="en-US" sz="1250" dirty="0">
                <a:solidFill>
                  <a:srgbClr val="2D2D2D"/>
                </a:solidFill>
                <a:latin typeface="Calibri" pitchFamily="34" charset="0"/>
                <a:ea typeface="Calibri" pitchFamily="34" charset="-122"/>
                <a:cs typeface="Calibri" pitchFamily="34" charset="-120"/>
              </a:rPr>
              <a:t>20/21ペアで有意な正の相関（平均r=0.458）。</a:t>
            </a:r>
            <a:endParaRPr lang="en-US" sz="1250" dirty="0"/>
          </a:p>
          <a:p>
            <a:pPr indent="0" marL="0">
              <a:lnSpc>
                <a:spcPct val="110000"/>
              </a:lnSpc>
              <a:buNone/>
            </a:pPr>
            <a:r>
              <a:rPr lang="en-US" sz="1250" dirty="0">
                <a:solidFill>
                  <a:srgbClr val="2D2D2D"/>
                </a:solidFill>
                <a:latin typeface="Calibri" pitchFamily="34" charset="0"/>
                <a:ea typeface="Calibri" pitchFamily="34" charset="-122"/>
                <a:cs typeface="Calibri" pitchFamily="34" charset="-120"/>
              </a:rPr>
              <a:t>6つの頑健性検定を全て通過。しかし気候プロキシとの相関は5.3倍弱い。</a:t>
            </a:r>
            <a:endParaRPr lang="en-US" sz="1250" dirty="0"/>
          </a:p>
          <a:p>
            <a:pPr indent="0" marL="0">
              <a:lnSpc>
                <a:spcPct val="110000"/>
              </a:lnSpc>
              <a:buNone/>
            </a:pPr>
            <a:endParaRPr lang="en-US" sz="1250" dirty="0"/>
          </a:p>
          <a:p>
            <a:pPr indent="0" marL="0">
              <a:lnSpc>
                <a:spcPct val="110000"/>
              </a:lnSpc>
              <a:buNone/>
            </a:pPr>
            <a:r>
              <a:rPr lang="en-US" sz="1250" b="1" dirty="0">
                <a:solidFill>
                  <a:srgbClr val="2C5F2D"/>
                </a:solidFill>
                <a:latin typeface="Calibri" pitchFamily="34" charset="0"/>
                <a:ea typeface="Calibri" pitchFamily="34" charset="-122"/>
                <a:cs typeface="Calibri" pitchFamily="34" charset="-120"/>
              </a:rPr>
              <a:t>結論: 完新世ユーラシアの人口動態は百年スケールで連動していた。</a:t>
            </a:r>
            <a:endParaRPr lang="en-US" sz="1250" dirty="0"/>
          </a:p>
          <a:p>
            <a:pPr indent="0" marL="0">
              <a:lnSpc>
                <a:spcPct val="110000"/>
              </a:lnSpc>
              <a:buNone/>
            </a:pPr>
            <a:r>
              <a:rPr lang="en-US" sz="1250" b="1" dirty="0">
                <a:solidFill>
                  <a:srgbClr val="2C5F2D"/>
                </a:solidFill>
                <a:latin typeface="Calibri" pitchFamily="34" charset="0"/>
                <a:ea typeface="Calibri" pitchFamily="34" charset="-122"/>
                <a:cs typeface="Calibri" pitchFamily="34" charset="-120"/>
              </a:rPr>
              <a:t>しかし気候強制だけでは説明不十分。メカニズムは未解明の重要な問い。</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4E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3B6FA0"/>
          </a:solidFill>
          <a:ln/>
        </p:spPr>
      </p:sp>
      <p:sp>
        <p:nvSpPr>
          <p:cNvPr id="3" name="Text 1"/>
          <p:cNvSpPr/>
          <p:nvPr/>
        </p:nvSpPr>
        <p:spPr>
          <a:xfrm>
            <a:off x="457200" y="4800600"/>
            <a:ext cx="8229600" cy="274320"/>
          </a:xfrm>
          <a:prstGeom prst="rect">
            <a:avLst/>
          </a:prstGeom>
          <a:noFill/>
          <a:ln/>
        </p:spPr>
        <p:txBody>
          <a:bodyPr wrap="square" rtlCol="0" anchor="ctr"/>
          <a:lstStyle/>
          <a:p>
            <a:pPr indent="0" marL="0">
              <a:buNone/>
            </a:pPr>
            <a:r>
              <a:rPr lang="en-US" sz="800" dirty="0">
                <a:solidFill>
                  <a:srgbClr val="666666"/>
                </a:solidFill>
                <a:latin typeface="Calibri" pitchFamily="34" charset="0"/>
                <a:ea typeface="Calibri" pitchFamily="34" charset="-122"/>
                <a:cs typeface="Calibri" pitchFamily="34" charset="-120"/>
              </a:rPr>
              <a:t>ArchEco — 完新世ユーラシアの人口動態同期性</a:t>
            </a:r>
            <a:endParaRPr lang="en-US" sz="800" dirty="0"/>
          </a:p>
        </p:txBody>
      </p:sp>
      <p:sp>
        <p:nvSpPr>
          <p:cNvPr id="4" name="Text 2"/>
          <p:cNvSpPr/>
          <p:nvPr/>
        </p:nvSpPr>
        <p:spPr>
          <a:xfrm>
            <a:off x="457200" y="228600"/>
            <a:ext cx="8229600" cy="457200"/>
          </a:xfrm>
          <a:prstGeom prst="rect">
            <a:avLst/>
          </a:prstGeom>
          <a:noFill/>
          <a:ln/>
        </p:spPr>
        <p:txBody>
          <a:bodyPr wrap="square" lIns="0" tIns="0" rIns="0" bIns="0" rtlCol="0" anchor="ctr"/>
          <a:lstStyle/>
          <a:p>
            <a:pPr indent="0" marL="0">
              <a:buNone/>
            </a:pPr>
            <a:r>
              <a:rPr lang="en-US" sz="2400" b="1" dirty="0">
                <a:solidFill>
                  <a:srgbClr val="1E2737"/>
                </a:solidFill>
                <a:latin typeface="Georgia" pitchFamily="34" charset="0"/>
                <a:ea typeface="Georgia" pitchFamily="34" charset="-122"/>
                <a:cs typeface="Georgia" pitchFamily="34" charset="-120"/>
              </a:rPr>
              <a:t>用語解説</a:t>
            </a:r>
            <a:endParaRPr lang="en-US" sz="2400" dirty="0"/>
          </a:p>
        </p:txBody>
      </p:sp>
      <p:sp>
        <p:nvSpPr>
          <p:cNvPr id="5" name="Text 3"/>
          <p:cNvSpPr/>
          <p:nvPr/>
        </p:nvSpPr>
        <p:spPr>
          <a:xfrm>
            <a:off x="640080" y="822960"/>
            <a:ext cx="7863840" cy="3657600"/>
          </a:xfrm>
          <a:prstGeom prst="rect">
            <a:avLst/>
          </a:prstGeom>
          <a:noFill/>
          <a:ln/>
        </p:spPr>
        <p:txBody>
          <a:bodyPr wrap="square" rtlCol="0" anchor="t"/>
          <a:lstStyle/>
          <a:p>
            <a:pPr indent="0" marL="0">
              <a:lnSpc>
                <a:spcPct val="105000"/>
              </a:lnSpc>
              <a:buNone/>
            </a:pPr>
            <a:r>
              <a:rPr lang="en-US" sz="1100" b="1" dirty="0">
                <a:solidFill>
                  <a:srgbClr val="2D2D2D"/>
                </a:solidFill>
                <a:latin typeface="Calibri" pitchFamily="34" charset="0"/>
                <a:ea typeface="Calibri" pitchFamily="34" charset="-122"/>
                <a:cs typeface="Calibri" pitchFamily="34" charset="-120"/>
              </a:rPr>
              <a:t>SPD（Summed Probability Distribution）</a:t>
            </a:r>
            <a:endParaRPr lang="en-US" sz="1100" dirty="0"/>
          </a:p>
          <a:p>
            <a:pPr indent="0" marL="0">
              <a:lnSpc>
                <a:spcPct val="105000"/>
              </a:lnSpc>
              <a:buNone/>
            </a:pPr>
            <a:r>
              <a:rPr lang="en-US" sz="1100" dirty="0">
                <a:solidFill>
                  <a:srgbClr val="2D2D2D"/>
                </a:solidFill>
                <a:latin typeface="Calibri" pitchFamily="34" charset="0"/>
                <a:ea typeface="Calibri" pitchFamily="34" charset="-122"/>
                <a:cs typeface="Calibri" pitchFamily="34" charset="-120"/>
              </a:rPr>
              <a:t>放射性炭素年代を較正し確率密度を合計したもの。年代の密度＝人間活動の強度≒人口の代理指標。</a:t>
            </a:r>
            <a:endParaRPr lang="en-US" sz="1100" dirty="0"/>
          </a:p>
          <a:p>
            <a:pPr indent="0" marL="0">
              <a:lnSpc>
                <a:spcPct val="105000"/>
              </a:lnSpc>
              <a:buNone/>
            </a:pPr>
            <a:endParaRPr lang="en-US" sz="1100" dirty="0"/>
          </a:p>
          <a:p>
            <a:pPr indent="0" marL="0">
              <a:lnSpc>
                <a:spcPct val="105000"/>
              </a:lnSpc>
              <a:buNone/>
            </a:pPr>
            <a:r>
              <a:rPr lang="en-US" sz="1100" b="1" dirty="0">
                <a:solidFill>
                  <a:srgbClr val="2D2D2D"/>
                </a:solidFill>
                <a:latin typeface="Calibri" pitchFamily="34" charset="0"/>
                <a:ea typeface="Calibri" pitchFamily="34" charset="-122"/>
                <a:cs typeface="Calibri" pitchFamily="34" charset="-120"/>
              </a:rPr>
              <a:t>デトレンド（一次差分法）</a:t>
            </a:r>
            <a:endParaRPr lang="en-US" sz="1100" dirty="0"/>
          </a:p>
          <a:p>
            <a:pPr indent="0" marL="0">
              <a:lnSpc>
                <a:spcPct val="105000"/>
              </a:lnSpc>
              <a:buNone/>
            </a:pPr>
            <a:r>
              <a:rPr lang="en-US" sz="1100" dirty="0">
                <a:solidFill>
                  <a:srgbClr val="2D2D2D"/>
                </a:solidFill>
                <a:latin typeface="Calibri" pitchFamily="34" charset="0"/>
                <a:ea typeface="Calibri" pitchFamily="34" charset="-122"/>
                <a:cs typeface="Calibri" pitchFamily="34" charset="-120"/>
              </a:rPr>
              <a:t>SPDの隣接時間ステップの差を取る。長期トレンド（人口増加・保存バイアス）を除去し、</a:t>
            </a:r>
            <a:endParaRPr lang="en-US" sz="1100" dirty="0"/>
          </a:p>
          <a:p>
            <a:pPr indent="0" marL="0">
              <a:lnSpc>
                <a:spcPct val="105000"/>
              </a:lnSpc>
              <a:buNone/>
            </a:pPr>
            <a:r>
              <a:rPr lang="en-US" sz="1100" dirty="0">
                <a:solidFill>
                  <a:srgbClr val="2D2D2D"/>
                </a:solidFill>
                <a:latin typeface="Calibri" pitchFamily="34" charset="0"/>
                <a:ea typeface="Calibri" pitchFamily="34" charset="-122"/>
                <a:cs typeface="Calibri" pitchFamily="34" charset="-120"/>
              </a:rPr>
              <a:t>百年スケールの変動のみを抽出する手法。</a:t>
            </a:r>
            <a:endParaRPr lang="en-US" sz="1100" dirty="0"/>
          </a:p>
          <a:p>
            <a:pPr indent="0" marL="0">
              <a:lnSpc>
                <a:spcPct val="105000"/>
              </a:lnSpc>
              <a:buNone/>
            </a:pPr>
            <a:endParaRPr lang="en-US" sz="1100" dirty="0"/>
          </a:p>
          <a:p>
            <a:pPr indent="0" marL="0">
              <a:lnSpc>
                <a:spcPct val="105000"/>
              </a:lnSpc>
              <a:buNone/>
            </a:pPr>
            <a:r>
              <a:rPr lang="en-US" sz="1100" b="1" dirty="0">
                <a:solidFill>
                  <a:srgbClr val="2D2D2D"/>
                </a:solidFill>
                <a:latin typeface="Calibri" pitchFamily="34" charset="0"/>
                <a:ea typeface="Calibri" pitchFamily="34" charset="-122"/>
                <a:cs typeface="Calibri" pitchFamily="34" charset="-120"/>
              </a:rPr>
              <a:t>IntCal20</a:t>
            </a:r>
            <a:endParaRPr lang="en-US" sz="1100" dirty="0"/>
          </a:p>
          <a:p>
            <a:pPr indent="0" marL="0">
              <a:lnSpc>
                <a:spcPct val="105000"/>
              </a:lnSpc>
              <a:buNone/>
            </a:pPr>
            <a:r>
              <a:rPr lang="en-US" sz="1100" dirty="0">
                <a:solidFill>
                  <a:srgbClr val="2D2D2D"/>
                </a:solidFill>
                <a:latin typeface="Calibri" pitchFamily="34" charset="0"/>
                <a:ea typeface="Calibri" pitchFamily="34" charset="-122"/>
                <a:cs typeface="Calibri" pitchFamily="34" charset="-120"/>
              </a:rPr>
              <a:t>放射性炭素年代を暦年に変換する較正曲線（2020年版）。全地域で同じ曲線を使用するため、</a:t>
            </a:r>
            <a:endParaRPr lang="en-US" sz="1100" dirty="0"/>
          </a:p>
          <a:p>
            <a:pPr indent="0" marL="0">
              <a:lnSpc>
                <a:spcPct val="105000"/>
              </a:lnSpc>
              <a:buNone/>
            </a:pPr>
            <a:r>
              <a:rPr lang="en-US" sz="1100" dirty="0">
                <a:solidFill>
                  <a:srgbClr val="2D2D2D"/>
                </a:solidFill>
                <a:latin typeface="Calibri" pitchFamily="34" charset="0"/>
                <a:ea typeface="Calibri" pitchFamily="34" charset="-122"/>
                <a:cs typeface="Calibri" pitchFamily="34" charset="-120"/>
              </a:rPr>
              <a:t>偽の同期性を生む可能性がある（→ 較正アーティファクト検定で検証）。</a:t>
            </a:r>
            <a:endParaRPr lang="en-US" sz="1100" dirty="0"/>
          </a:p>
          <a:p>
            <a:pPr indent="0" marL="0">
              <a:lnSpc>
                <a:spcPct val="105000"/>
              </a:lnSpc>
              <a:buNone/>
            </a:pPr>
            <a:endParaRPr lang="en-US" sz="1100" dirty="0"/>
          </a:p>
          <a:p>
            <a:pPr indent="0" marL="0">
              <a:lnSpc>
                <a:spcPct val="105000"/>
              </a:lnSpc>
              <a:buNone/>
            </a:pPr>
            <a:r>
              <a:rPr lang="en-US" sz="1100" b="1" dirty="0">
                <a:solidFill>
                  <a:srgbClr val="2D2D2D"/>
                </a:solidFill>
                <a:latin typeface="Calibri" pitchFamily="34" charset="0"/>
                <a:ea typeface="Calibri" pitchFamily="34" charset="-122"/>
                <a:cs typeface="Calibri" pitchFamily="34" charset="-120"/>
              </a:rPr>
              <a:t>p3k14c</a:t>
            </a:r>
            <a:endParaRPr lang="en-US" sz="1100" dirty="0"/>
          </a:p>
          <a:p>
            <a:pPr indent="0" marL="0">
              <a:lnSpc>
                <a:spcPct val="105000"/>
              </a:lnSpc>
              <a:buNone/>
            </a:pPr>
            <a:r>
              <a:rPr lang="en-US" sz="1100" dirty="0">
                <a:solidFill>
                  <a:srgbClr val="2D2D2D"/>
                </a:solidFill>
                <a:latin typeface="Calibri" pitchFamily="34" charset="0"/>
                <a:ea typeface="Calibri" pitchFamily="34" charset="-122"/>
                <a:cs typeface="Calibri" pitchFamily="34" charset="-120"/>
              </a:rPr>
              <a:t>Bird et al. (2022)が構築した全球放射性炭素年代データベース。約180,000件の年代を収録。</a:t>
            </a:r>
            <a:endParaRPr lang="en-US" sz="1100" dirty="0"/>
          </a:p>
          <a:p>
            <a:pPr indent="0" marL="0">
              <a:lnSpc>
                <a:spcPct val="105000"/>
              </a:lnSpc>
              <a:buNone/>
            </a:pPr>
            <a:endParaRPr lang="en-US" sz="1100" dirty="0"/>
          </a:p>
          <a:p>
            <a:pPr indent="0" marL="0">
              <a:lnSpc>
                <a:spcPct val="105000"/>
              </a:lnSpc>
              <a:buNone/>
            </a:pPr>
            <a:r>
              <a:rPr lang="en-US" sz="1100" b="1" dirty="0">
                <a:solidFill>
                  <a:srgbClr val="2D2D2D"/>
                </a:solidFill>
                <a:latin typeface="Calibri" pitchFamily="34" charset="0"/>
                <a:ea typeface="Calibri" pitchFamily="34" charset="-122"/>
                <a:cs typeface="Calibri" pitchFamily="34" charset="-120"/>
              </a:rPr>
              <a:t>cal BP</a:t>
            </a:r>
            <a:endParaRPr lang="en-US" sz="1100" dirty="0"/>
          </a:p>
          <a:p>
            <a:pPr indent="0" marL="0">
              <a:lnSpc>
                <a:spcPct val="105000"/>
              </a:lnSpc>
              <a:buNone/>
            </a:pPr>
            <a:r>
              <a:rPr lang="en-US" sz="1100" dirty="0">
                <a:solidFill>
                  <a:srgbClr val="2D2D2D"/>
                </a:solidFill>
                <a:latin typeface="Calibri" pitchFamily="34" charset="0"/>
                <a:ea typeface="Calibri" pitchFamily="34" charset="-122"/>
                <a:cs typeface="Calibri" pitchFamily="34" charset="-120"/>
              </a:rPr>
              <a:t>較正済み暦年（Before Present = 1950年基準）。例: 4200 cal BP = 紀元前2250年頃。</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4E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3B6FA0"/>
          </a:solidFill>
          <a:ln/>
        </p:spPr>
      </p:sp>
      <p:sp>
        <p:nvSpPr>
          <p:cNvPr id="3" name="Text 1"/>
          <p:cNvSpPr/>
          <p:nvPr/>
        </p:nvSpPr>
        <p:spPr>
          <a:xfrm>
            <a:off x="457200" y="4800600"/>
            <a:ext cx="8229600" cy="274320"/>
          </a:xfrm>
          <a:prstGeom prst="rect">
            <a:avLst/>
          </a:prstGeom>
          <a:noFill/>
          <a:ln/>
        </p:spPr>
        <p:txBody>
          <a:bodyPr wrap="square" rtlCol="0" anchor="ctr"/>
          <a:lstStyle/>
          <a:p>
            <a:pPr indent="0" marL="0">
              <a:buNone/>
            </a:pPr>
            <a:r>
              <a:rPr lang="en-US" sz="800" dirty="0">
                <a:solidFill>
                  <a:srgbClr val="666666"/>
                </a:solidFill>
                <a:latin typeface="Calibri" pitchFamily="34" charset="0"/>
                <a:ea typeface="Calibri" pitchFamily="34" charset="-122"/>
                <a:cs typeface="Calibri" pitchFamily="34" charset="-120"/>
              </a:rPr>
              <a:t>ArchEco — 完新世ユーラシアの人口動態同期性</a:t>
            </a:r>
            <a:endParaRPr lang="en-US" sz="800" dirty="0"/>
          </a:p>
        </p:txBody>
      </p:sp>
      <p:sp>
        <p:nvSpPr>
          <p:cNvPr id="4" name="Text 2"/>
          <p:cNvSpPr/>
          <p:nvPr/>
        </p:nvSpPr>
        <p:spPr>
          <a:xfrm>
            <a:off x="457200" y="228600"/>
            <a:ext cx="8229600" cy="457200"/>
          </a:xfrm>
          <a:prstGeom prst="rect">
            <a:avLst/>
          </a:prstGeom>
          <a:noFill/>
          <a:ln/>
        </p:spPr>
        <p:txBody>
          <a:bodyPr wrap="square" lIns="0" tIns="0" rIns="0" bIns="0" rtlCol="0" anchor="ctr"/>
          <a:lstStyle/>
          <a:p>
            <a:pPr indent="0" marL="0">
              <a:buNone/>
            </a:pPr>
            <a:r>
              <a:rPr lang="en-US" sz="2200" b="1" dirty="0">
                <a:solidFill>
                  <a:srgbClr val="1E2737"/>
                </a:solidFill>
                <a:latin typeface="Georgia" pitchFamily="34" charset="0"/>
                <a:ea typeface="Georgia" pitchFamily="34" charset="-122"/>
                <a:cs typeface="Georgia" pitchFamily="34" charset="-120"/>
              </a:rPr>
              <a:t>データ — 7地域・154,466件の放射性炭素年代</a:t>
            </a:r>
            <a:endParaRPr lang="en-US" sz="2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40080" y="822960"/>
          <a:ext cx="7863840" cy="2743200"/>
        </p:xfrm>
        <a:graphic>
          <a:graphicData uri="http://schemas.openxmlformats.org/drawingml/2006/table">
            <a:tbl>
              <a:tblPr/>
              <a:tblGrid>
                <a:gridCol w="3657600"/>
                <a:gridCol w="2103120"/>
                <a:gridCol w="2103120"/>
              </a:tblGrid>
              <a:tr h="342900">
                <a:tc>
                  <a:txBody>
                    <a:bodyPr/>
                    <a:lstStyle/>
                    <a:p>
                      <a:pPr indent="0" marL="0">
                        <a:buNone/>
                      </a:pPr>
                      <a:r>
                        <a:rPr lang="en-US" sz="1100" b="1" dirty="0">
                          <a:solidFill>
                            <a:srgbClr val="FFFFFF"/>
                          </a:solidFill>
                        </a:rPr>
                        <a:t>地域</a:t>
                      </a:r>
                      <a:endParaRPr lang="en-US" sz="1100" dirty="0"/>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1E2737"/>
                    </a:solidFill>
                  </a:tcPr>
                </a:tc>
                <a:tc>
                  <a:txBody>
                    <a:bodyPr/>
                    <a:lstStyle/>
                    <a:p>
                      <a:pPr algn="ctr" indent="0" marL="0">
                        <a:buNone/>
                      </a:pPr>
                      <a:r>
                        <a:rPr lang="en-US" sz="1100" b="1" dirty="0">
                          <a:solidFill>
                            <a:srgbClr val="FFFFFF"/>
                          </a:solidFill>
                        </a:rPr>
                        <a:t>年代数</a:t>
                      </a:r>
                      <a:endParaRPr lang="en-US" sz="1100" dirty="0"/>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1E2737"/>
                    </a:solidFill>
                  </a:tcPr>
                </a:tc>
                <a:tc>
                  <a:txBody>
                    <a:bodyPr/>
                    <a:lstStyle/>
                    <a:p>
                      <a:pPr algn="ctr" indent="0" marL="0">
                        <a:buNone/>
                      </a:pPr>
                      <a:r>
                        <a:rPr lang="en-US" sz="1100" b="1" dirty="0">
                          <a:solidFill>
                            <a:srgbClr val="FFFFFF"/>
                          </a:solidFill>
                        </a:rPr>
                        <a:t>ビン化後</a:t>
                      </a:r>
                      <a:endParaRPr lang="en-US" sz="1100" dirty="0"/>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1E2737"/>
                    </a:solidFill>
                  </a:tcPr>
                </a:tc>
              </a:tr>
              <a:tr h="342900">
                <a:tc>
                  <a:txBody>
                    <a:bodyPr/>
                    <a:lstStyle/>
                    <a:p>
                      <a:pPr indent="0" marL="0">
                        <a:buNone/>
                      </a:pPr>
                      <a:r>
                        <a:rPr lang="en-US" sz="1100" dirty="0">
                          <a:solidFill>
                            <a:srgbClr val="000000"/>
                          </a:solidFill>
                        </a:rPr>
                        <a:t>英国+アイルランド</a:t>
                      </a:r>
                      <a:endParaRPr lang="en-US" sz="1100" dirty="0"/>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tcPr>
                </a:tc>
                <a:tc>
                  <a:txBody>
                    <a:bodyPr/>
                    <a:lstStyle/>
                    <a:p>
                      <a:pPr algn="ctr" indent="0" marL="0">
                        <a:buNone/>
                      </a:pPr>
                      <a:r>
                        <a:rPr lang="en-US" sz="1100" b="1" dirty="0">
                          <a:solidFill>
                            <a:srgbClr val="000000"/>
                          </a:solidFill>
                        </a:rPr>
                        <a:t>29,794</a:t>
                      </a:r>
                      <a:endParaRPr lang="en-US" sz="1100" dirty="0"/>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tcPr>
                </a:tc>
                <a:tc>
                  <a:txBody>
                    <a:bodyPr/>
                    <a:lstStyle/>
                    <a:p>
                      <a:pPr algn="ctr" indent="0" marL="0">
                        <a:buNone/>
                      </a:pPr>
                      <a:r>
                        <a:rPr lang="en-US" sz="1100" dirty="0">
                          <a:solidFill>
                            <a:srgbClr val="000000"/>
                          </a:solidFill>
                        </a:rPr>
                        <a:t>13,427</a:t>
                      </a:r>
                      <a:endParaRPr lang="en-US" sz="1100" dirty="0"/>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tcPr>
                </a:tc>
              </a:tr>
              <a:tr h="342900">
                <a:tc>
                  <a:txBody>
                    <a:bodyPr/>
                    <a:lstStyle/>
                    <a:p>
                      <a:pPr indent="0" marL="0">
                        <a:buNone/>
                      </a:pPr>
                      <a:r>
                        <a:rPr lang="en-US" sz="1100" dirty="0">
                          <a:solidFill>
                            <a:srgbClr val="000000"/>
                          </a:solidFill>
                        </a:rPr>
                        <a:t>西ヨーロッパ（仏・独・伊等）</a:t>
                      </a:r>
                      <a:endParaRPr lang="en-US" sz="1100" dirty="0"/>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tcPr>
                </a:tc>
                <a:tc>
                  <a:txBody>
                    <a:bodyPr/>
                    <a:lstStyle/>
                    <a:p>
                      <a:pPr algn="ctr" indent="0" marL="0">
                        <a:buNone/>
                      </a:pPr>
                      <a:r>
                        <a:rPr lang="en-US" sz="1100" dirty="0">
                          <a:solidFill>
                            <a:srgbClr val="000000"/>
                          </a:solidFill>
                        </a:rPr>
                        <a:t>18,052</a:t>
                      </a:r>
                      <a:endParaRPr lang="en-US" sz="1100" dirty="0"/>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tcPr>
                </a:tc>
                <a:tc>
                  <a:txBody>
                    <a:bodyPr/>
                    <a:lstStyle/>
                    <a:p>
                      <a:pPr algn="ctr" indent="0" marL="0">
                        <a:buNone/>
                      </a:pPr>
                      <a:r>
                        <a:rPr lang="en-US" sz="1100" dirty="0">
                          <a:solidFill>
                            <a:srgbClr val="000000"/>
                          </a:solidFill>
                        </a:rPr>
                        <a:t>8,365</a:t>
                      </a:r>
                      <a:endParaRPr lang="en-US" sz="1100" dirty="0"/>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tcPr>
                </a:tc>
              </a:tr>
              <a:tr h="342900">
                <a:tc>
                  <a:txBody>
                    <a:bodyPr/>
                    <a:lstStyle/>
                    <a:p>
                      <a:pPr indent="0" marL="0">
                        <a:buNone/>
                      </a:pPr>
                      <a:r>
                        <a:rPr lang="en-US" sz="1100" dirty="0">
                          <a:solidFill>
                            <a:srgbClr val="000000"/>
                          </a:solidFill>
                        </a:rPr>
                        <a:t>東ヨーロッパ+ギリシャ</a:t>
                      </a:r>
                      <a:endParaRPr lang="en-US" sz="1100" dirty="0"/>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tcPr>
                </a:tc>
                <a:tc>
                  <a:txBody>
                    <a:bodyPr/>
                    <a:lstStyle/>
                    <a:p>
                      <a:pPr algn="ctr" indent="0" marL="0">
                        <a:buNone/>
                      </a:pPr>
                      <a:r>
                        <a:rPr lang="en-US" sz="1100" dirty="0">
                          <a:solidFill>
                            <a:srgbClr val="000000"/>
                          </a:solidFill>
                        </a:rPr>
                        <a:t>6,893</a:t>
                      </a:r>
                      <a:endParaRPr lang="en-US" sz="1100" dirty="0"/>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tcPr>
                </a:tc>
                <a:tc>
                  <a:txBody>
                    <a:bodyPr/>
                    <a:lstStyle/>
                    <a:p>
                      <a:pPr algn="ctr" indent="0" marL="0">
                        <a:buNone/>
                      </a:pPr>
                      <a:r>
                        <a:rPr lang="en-US" sz="1100" dirty="0">
                          <a:solidFill>
                            <a:srgbClr val="000000"/>
                          </a:solidFill>
                        </a:rPr>
                        <a:t>2,176</a:t>
                      </a:r>
                      <a:endParaRPr lang="en-US" sz="1100" dirty="0"/>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tcPr>
                </a:tc>
              </a:tr>
              <a:tr h="342900">
                <a:tc>
                  <a:txBody>
                    <a:bodyPr/>
                    <a:lstStyle/>
                    <a:p>
                      <a:pPr indent="0" marL="0">
                        <a:buNone/>
                      </a:pPr>
                      <a:r>
                        <a:rPr lang="en-US" sz="1100" dirty="0">
                          <a:solidFill>
                            <a:srgbClr val="000000"/>
                          </a:solidFill>
                        </a:rPr>
                        <a:t>スカンジナビア</a:t>
                      </a:r>
                      <a:endParaRPr lang="en-US" sz="1100" dirty="0"/>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tcPr>
                </a:tc>
                <a:tc>
                  <a:txBody>
                    <a:bodyPr/>
                    <a:lstStyle/>
                    <a:p>
                      <a:pPr algn="ctr" indent="0" marL="0">
                        <a:buNone/>
                      </a:pPr>
                      <a:r>
                        <a:rPr lang="en-US" sz="1100" dirty="0">
                          <a:solidFill>
                            <a:srgbClr val="000000"/>
                          </a:solidFill>
                        </a:rPr>
                        <a:t>9,870</a:t>
                      </a:r>
                      <a:endParaRPr lang="en-US" sz="1100" dirty="0"/>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tcPr>
                </a:tc>
                <a:tc>
                  <a:txBody>
                    <a:bodyPr/>
                    <a:lstStyle/>
                    <a:p>
                      <a:pPr algn="ctr" indent="0" marL="0">
                        <a:buNone/>
                      </a:pPr>
                      <a:r>
                        <a:rPr lang="en-US" sz="1100" dirty="0">
                          <a:solidFill>
                            <a:srgbClr val="000000"/>
                          </a:solidFill>
                        </a:rPr>
                        <a:t>5,177</a:t>
                      </a:r>
                      <a:endParaRPr lang="en-US" sz="1100" dirty="0"/>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tcPr>
                </a:tc>
              </a:tr>
              <a:tr h="342900">
                <a:tc>
                  <a:txBody>
                    <a:bodyPr/>
                    <a:lstStyle/>
                    <a:p>
                      <a:pPr indent="0" marL="0">
                        <a:buNone/>
                      </a:pPr>
                      <a:r>
                        <a:rPr lang="en-US" sz="1100" dirty="0">
                          <a:solidFill>
                            <a:srgbClr val="000000"/>
                          </a:solidFill>
                        </a:rPr>
                        <a:t>近東（トルコ・イラン等）</a:t>
                      </a:r>
                      <a:endParaRPr lang="en-US" sz="1100" dirty="0"/>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tcPr>
                </a:tc>
                <a:tc>
                  <a:txBody>
                    <a:bodyPr/>
                    <a:lstStyle/>
                    <a:p>
                      <a:pPr algn="ctr" indent="0" marL="0">
                        <a:buNone/>
                      </a:pPr>
                      <a:r>
                        <a:rPr lang="en-US" sz="1100" dirty="0">
                          <a:solidFill>
                            <a:srgbClr val="000000"/>
                          </a:solidFill>
                        </a:rPr>
                        <a:t>5,161</a:t>
                      </a:r>
                      <a:endParaRPr lang="en-US" sz="1100" dirty="0"/>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tcPr>
                </a:tc>
                <a:tc>
                  <a:txBody>
                    <a:bodyPr/>
                    <a:lstStyle/>
                    <a:p>
                      <a:pPr algn="ctr" indent="0" marL="0">
                        <a:buNone/>
                      </a:pPr>
                      <a:r>
                        <a:rPr lang="en-US" sz="1100" dirty="0">
                          <a:solidFill>
                            <a:srgbClr val="000000"/>
                          </a:solidFill>
                        </a:rPr>
                        <a:t>1,476</a:t>
                      </a:r>
                      <a:endParaRPr lang="en-US" sz="1100" dirty="0"/>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tcPr>
                </a:tc>
              </a:tr>
              <a:tr h="342900">
                <a:tc>
                  <a:txBody>
                    <a:bodyPr/>
                    <a:lstStyle/>
                    <a:p>
                      <a:pPr indent="0" marL="0">
                        <a:buNone/>
                      </a:pPr>
                      <a:r>
                        <a:rPr lang="en-US" sz="1100" dirty="0">
                          <a:solidFill>
                            <a:srgbClr val="000000"/>
                          </a:solidFill>
                        </a:rPr>
                        <a:t>中国</a:t>
                      </a:r>
                      <a:endParaRPr lang="en-US" sz="1100" dirty="0"/>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tcPr>
                </a:tc>
                <a:tc>
                  <a:txBody>
                    <a:bodyPr/>
                    <a:lstStyle/>
                    <a:p>
                      <a:pPr algn="ctr" indent="0" marL="0">
                        <a:buNone/>
                      </a:pPr>
                      <a:r>
                        <a:rPr lang="en-US" sz="1100" dirty="0">
                          <a:solidFill>
                            <a:srgbClr val="000000"/>
                          </a:solidFill>
                        </a:rPr>
                        <a:t>4,065</a:t>
                      </a:r>
                      <a:endParaRPr lang="en-US" sz="1100" dirty="0"/>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tcPr>
                </a:tc>
                <a:tc>
                  <a:txBody>
                    <a:bodyPr/>
                    <a:lstStyle/>
                    <a:p>
                      <a:pPr algn="ctr" indent="0" marL="0">
                        <a:buNone/>
                      </a:pPr>
                      <a:r>
                        <a:rPr lang="en-US" sz="1100" dirty="0">
                          <a:solidFill>
                            <a:srgbClr val="000000"/>
                          </a:solidFill>
                        </a:rPr>
                        <a:t>1,909</a:t>
                      </a:r>
                      <a:endParaRPr lang="en-US" sz="1100" dirty="0"/>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tcPr>
                </a:tc>
              </a:tr>
              <a:tr h="342900">
                <a:tc>
                  <a:txBody>
                    <a:bodyPr/>
                    <a:lstStyle/>
                    <a:p>
                      <a:pPr indent="0" marL="0">
                        <a:buNone/>
                      </a:pPr>
                      <a:r>
                        <a:rPr lang="en-US" sz="1100" dirty="0">
                          <a:solidFill>
                            <a:srgbClr val="000000"/>
                          </a:solidFill>
                        </a:rPr>
                        <a:t>日本</a:t>
                      </a:r>
                      <a:endParaRPr lang="en-US" sz="1100" dirty="0"/>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tcPr>
                </a:tc>
                <a:tc>
                  <a:txBody>
                    <a:bodyPr/>
                    <a:lstStyle/>
                    <a:p>
                      <a:pPr algn="ctr" indent="0" marL="0">
                        <a:buNone/>
                      </a:pPr>
                      <a:r>
                        <a:rPr lang="en-US" sz="1100" dirty="0">
                          <a:solidFill>
                            <a:srgbClr val="666666"/>
                          </a:solidFill>
                        </a:rPr>
                        <a:t>1,433</a:t>
                      </a:r>
                      <a:endParaRPr lang="en-US" sz="1100" dirty="0"/>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tcPr>
                </a:tc>
                <a:tc>
                  <a:txBody>
                    <a:bodyPr/>
                    <a:lstStyle/>
                    <a:p>
                      <a:pPr algn="ctr" indent="0" marL="0">
                        <a:buNone/>
                      </a:pPr>
                      <a:r>
                        <a:rPr lang="en-US" sz="1100" dirty="0">
                          <a:solidFill>
                            <a:srgbClr val="666666"/>
                          </a:solidFill>
                        </a:rPr>
                        <a:t>402</a:t>
                      </a:r>
                      <a:endParaRPr lang="en-US" sz="1100" dirty="0"/>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tcPr>
                </a:tc>
              </a:tr>
            </a:tbl>
          </a:graphicData>
        </a:graphic>
      </p:graphicFrame>
      <p:sp>
        <p:nvSpPr>
          <p:cNvPr id="6" name="Text 3"/>
          <p:cNvSpPr/>
          <p:nvPr/>
        </p:nvSpPr>
        <p:spPr>
          <a:xfrm>
            <a:off x="640080" y="3749040"/>
            <a:ext cx="7863840" cy="914400"/>
          </a:xfrm>
          <a:prstGeom prst="rect">
            <a:avLst/>
          </a:prstGeom>
          <a:noFill/>
          <a:ln/>
        </p:spPr>
        <p:txBody>
          <a:bodyPr wrap="square" rtlCol="0" anchor="t"/>
          <a:lstStyle/>
          <a:p>
            <a:pPr indent="0" marL="0">
              <a:lnSpc>
                <a:spcPct val="110000"/>
              </a:lnSpc>
              <a:buNone/>
            </a:pPr>
            <a:r>
              <a:rPr lang="en-US" sz="1100" dirty="0">
                <a:solidFill>
                  <a:srgbClr val="2D2D2D"/>
                </a:solidFill>
                <a:latin typeface="Calibri" pitchFamily="34" charset="0"/>
                <a:ea typeface="Calibri" pitchFamily="34" charset="-122"/>
                <a:cs typeface="Calibri" pitchFamily="34" charset="-120"/>
              </a:rPr>
              <a:t>データソース: p3k14c (Bird et al. 2022)。サイトビニング（200年）で過剰代表を補正。</a:t>
            </a:r>
            <a:endParaRPr lang="en-US" sz="1100" dirty="0"/>
          </a:p>
          <a:p>
            <a:pPr indent="0" marL="0">
              <a:lnSpc>
                <a:spcPct val="110000"/>
              </a:lnSpc>
              <a:buNone/>
            </a:pPr>
            <a:r>
              <a:rPr lang="en-US" sz="1100" dirty="0">
                <a:solidFill>
                  <a:srgbClr val="2D2D2D"/>
                </a:solidFill>
                <a:latin typeface="Calibri" pitchFamily="34" charset="0"/>
                <a:ea typeface="Calibri" pitchFamily="34" charset="-122"/>
                <a:cs typeface="Calibri" pitchFamily="34" charset="-120"/>
              </a:rPr>
              <a:t>時間範囲: 10,000〜1,000 cal BP、50年解像度。各地域を平均=1に正規化。</a:t>
            </a:r>
            <a:endParaRPr lang="en-US" sz="1100" dirty="0"/>
          </a:p>
          <a:p>
            <a:pPr indent="0" marL="0">
              <a:lnSpc>
                <a:spcPct val="110000"/>
              </a:lnSpc>
              <a:buNone/>
            </a:pPr>
            <a:r>
              <a:rPr lang="en-US" sz="1100" dirty="0">
                <a:solidFill>
                  <a:srgbClr val="666666"/>
                </a:solidFill>
                <a:latin typeface="Calibri" pitchFamily="34" charset="0"/>
                <a:ea typeface="Calibri" pitchFamily="34" charset="-122"/>
                <a:cs typeface="Calibri" pitchFamily="34" charset="-120"/>
              </a:rPr>
              <a:t>注: 日本は年代数が最少（1,433件）のため、統計的検出力が制限される。</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4E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3B6FA0"/>
          </a:solidFill>
          <a:ln/>
        </p:spPr>
      </p:sp>
      <p:sp>
        <p:nvSpPr>
          <p:cNvPr id="3" name="Text 1"/>
          <p:cNvSpPr/>
          <p:nvPr/>
        </p:nvSpPr>
        <p:spPr>
          <a:xfrm>
            <a:off x="457200" y="4800600"/>
            <a:ext cx="8229600" cy="274320"/>
          </a:xfrm>
          <a:prstGeom prst="rect">
            <a:avLst/>
          </a:prstGeom>
          <a:noFill/>
          <a:ln/>
        </p:spPr>
        <p:txBody>
          <a:bodyPr wrap="square" rtlCol="0" anchor="ctr"/>
          <a:lstStyle/>
          <a:p>
            <a:pPr indent="0" marL="0">
              <a:buNone/>
            </a:pPr>
            <a:r>
              <a:rPr lang="en-US" sz="800" dirty="0">
                <a:solidFill>
                  <a:srgbClr val="666666"/>
                </a:solidFill>
                <a:latin typeface="Calibri" pitchFamily="34" charset="0"/>
                <a:ea typeface="Calibri" pitchFamily="34" charset="-122"/>
                <a:cs typeface="Calibri" pitchFamily="34" charset="-120"/>
              </a:rPr>
              <a:t>ArchEco — 完新世ユーラシアの人口動態同期性</a:t>
            </a:r>
            <a:endParaRPr lang="en-US" sz="800" dirty="0"/>
          </a:p>
        </p:txBody>
      </p:sp>
      <p:sp>
        <p:nvSpPr>
          <p:cNvPr id="4" name="Text 2"/>
          <p:cNvSpPr/>
          <p:nvPr/>
        </p:nvSpPr>
        <p:spPr>
          <a:xfrm>
            <a:off x="457200" y="228600"/>
            <a:ext cx="8229600" cy="457200"/>
          </a:xfrm>
          <a:prstGeom prst="rect">
            <a:avLst/>
          </a:prstGeom>
          <a:noFill/>
          <a:ln/>
        </p:spPr>
        <p:txBody>
          <a:bodyPr wrap="square" lIns="0" tIns="0" rIns="0" bIns="0" rtlCol="0" anchor="ctr"/>
          <a:lstStyle/>
          <a:p>
            <a:pPr indent="0" marL="0">
              <a:buNone/>
            </a:pPr>
            <a:r>
              <a:rPr lang="en-US" sz="2200" b="1" dirty="0">
                <a:solidFill>
                  <a:srgbClr val="1E2737"/>
                </a:solidFill>
                <a:latin typeface="Georgia" pitchFamily="34" charset="0"/>
                <a:ea typeface="Georgia" pitchFamily="34" charset="-122"/>
                <a:cs typeface="Georgia" pitchFamily="34" charset="-120"/>
              </a:rPr>
              <a:t>結果 — デトレンド後も同期性が持続</a:t>
            </a:r>
            <a:endParaRPr lang="en-US" sz="2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822960"/>
          <a:ext cx="8229600" cy="1828800"/>
        </p:xfrm>
        <a:graphic>
          <a:graphicData uri="http://schemas.openxmlformats.org/drawingml/2006/table">
            <a:tbl>
              <a:tblPr/>
              <a:tblGrid>
                <a:gridCol w="2286000"/>
                <a:gridCol w="1371600"/>
                <a:gridCol w="1097280"/>
                <a:gridCol w="1645920"/>
                <a:gridCol w="1828800"/>
              </a:tblGrid>
              <a:tr h="365760">
                <a:tc>
                  <a:txBody>
                    <a:bodyPr/>
                    <a:lstStyle/>
                    <a:p>
                      <a:pPr indent="0" marL="0">
                        <a:buNone/>
                      </a:pPr>
                      <a:r>
                        <a:rPr lang="en-US" sz="1000" b="1" dirty="0">
                          <a:solidFill>
                            <a:srgbClr val="FFFFFF"/>
                          </a:solidFill>
                        </a:rPr>
                        <a:t>ペア</a:t>
                      </a:r>
                      <a:endParaRPr lang="en-US" sz="1000" dirty="0"/>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1E2737"/>
                    </a:solidFill>
                  </a:tcPr>
                </a:tc>
                <a:tc>
                  <a:txBody>
                    <a:bodyPr/>
                    <a:lstStyle/>
                    <a:p>
                      <a:pPr algn="ctr" indent="0" marL="0">
                        <a:buNone/>
                      </a:pPr>
                      <a:r>
                        <a:rPr lang="en-US" sz="1000" b="1" dirty="0">
                          <a:solidFill>
                            <a:srgbClr val="FFFFFF"/>
                          </a:solidFill>
                        </a:rPr>
                        <a:t>距離(km)</a:t>
                      </a:r>
                      <a:endParaRPr lang="en-US" sz="1000" dirty="0"/>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1E2737"/>
                    </a:solidFill>
                  </a:tcPr>
                </a:tc>
                <a:tc>
                  <a:txBody>
                    <a:bodyPr/>
                    <a:lstStyle/>
                    <a:p>
                      <a:pPr algn="ctr" indent="0" marL="0">
                        <a:buNone/>
                      </a:pPr>
                      <a:r>
                        <a:rPr lang="en-US" sz="1000" b="1" dirty="0">
                          <a:solidFill>
                            <a:srgbClr val="FFFFFF"/>
                          </a:solidFill>
                        </a:rPr>
                        <a:t>生r</a:t>
                      </a:r>
                      <a:endParaRPr lang="en-US" sz="1000" dirty="0"/>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1E2737"/>
                    </a:solidFill>
                  </a:tcPr>
                </a:tc>
                <a:tc>
                  <a:txBody>
                    <a:bodyPr/>
                    <a:lstStyle/>
                    <a:p>
                      <a:pPr algn="ctr" indent="0" marL="0">
                        <a:buNone/>
                      </a:pPr>
                      <a:r>
                        <a:rPr lang="en-US" sz="1000" b="1" dirty="0">
                          <a:solidFill>
                            <a:srgbClr val="FFFFFF"/>
                          </a:solidFill>
                        </a:rPr>
                        <a:t>デトレンドr</a:t>
                      </a:r>
                      <a:endParaRPr lang="en-US" sz="1000" dirty="0"/>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1E2737"/>
                    </a:solidFill>
                  </a:tcPr>
                </a:tc>
                <a:tc>
                  <a:txBody>
                    <a:bodyPr/>
                    <a:lstStyle/>
                    <a:p>
                      <a:pPr algn="ctr" indent="0" marL="0">
                        <a:buNone/>
                      </a:pPr>
                      <a:r>
                        <a:rPr lang="en-US" sz="1000" b="1" dirty="0">
                          <a:solidFill>
                            <a:srgbClr val="FFFFFF"/>
                          </a:solidFill>
                        </a:rPr>
                        <a:t>p値</a:t>
                      </a:r>
                      <a:endParaRPr lang="en-US" sz="1000" dirty="0"/>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1E2737"/>
                    </a:solidFill>
                  </a:tcPr>
                </a:tc>
              </a:tr>
              <a:tr h="365760">
                <a:tc>
                  <a:txBody>
                    <a:bodyPr/>
                    <a:lstStyle/>
                    <a:p>
                      <a:pPr indent="0" marL="0">
                        <a:buNone/>
                      </a:pPr>
                      <a:r>
                        <a:rPr lang="en-US" sz="1000" b="1" dirty="0">
                          <a:solidFill>
                            <a:srgbClr val="000000"/>
                          </a:solidFill>
                        </a:rPr>
                        <a:t>西欧 × 中国</a:t>
                      </a:r>
                      <a:endParaRPr lang="en-US" sz="1000" dirty="0"/>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tcPr>
                </a:tc>
                <a:tc>
                  <a:txBody>
                    <a:bodyPr/>
                    <a:lstStyle/>
                    <a:p>
                      <a:pPr algn="ctr" indent="0" marL="0">
                        <a:buNone/>
                      </a:pPr>
                      <a:r>
                        <a:rPr lang="en-US" sz="1000" dirty="0">
                          <a:solidFill>
                            <a:srgbClr val="000000"/>
                          </a:solidFill>
                        </a:rPr>
                        <a:t>8,233</a:t>
                      </a:r>
                      <a:endParaRPr lang="en-US" sz="1000" dirty="0"/>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tcPr>
                </a:tc>
                <a:tc>
                  <a:txBody>
                    <a:bodyPr/>
                    <a:lstStyle/>
                    <a:p>
                      <a:pPr algn="ctr" indent="0" marL="0">
                        <a:buNone/>
                      </a:pPr>
                      <a:r>
                        <a:rPr lang="en-US" sz="1000" dirty="0">
                          <a:solidFill>
                            <a:srgbClr val="000000"/>
                          </a:solidFill>
                        </a:rPr>
                        <a:t>+0.51</a:t>
                      </a:r>
                      <a:endParaRPr lang="en-US" sz="1000" dirty="0"/>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tcPr>
                </a:tc>
                <a:tc>
                  <a:txBody>
                    <a:bodyPr/>
                    <a:lstStyle/>
                    <a:p>
                      <a:pPr algn="ctr" indent="0" marL="0">
                        <a:buNone/>
                      </a:pPr>
                      <a:r>
                        <a:rPr lang="en-US" sz="1000" b="1" dirty="0">
                          <a:solidFill>
                            <a:srgbClr val="B85042"/>
                          </a:solidFill>
                        </a:rPr>
                        <a:t>+0.719</a:t>
                      </a:r>
                      <a:endParaRPr lang="en-US" sz="1000" dirty="0"/>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tcPr>
                </a:tc>
                <a:tc>
                  <a:txBody>
                    <a:bodyPr/>
                    <a:lstStyle/>
                    <a:p>
                      <a:pPr algn="ctr" indent="0" marL="0">
                        <a:buNone/>
                      </a:pPr>
                      <a:r>
                        <a:rPr lang="en-US" sz="1000" dirty="0">
                          <a:solidFill>
                            <a:srgbClr val="000000"/>
                          </a:solidFill>
                        </a:rPr>
                        <a:t>&lt;10⁻²⁸</a:t>
                      </a:r>
                      <a:endParaRPr lang="en-US" sz="1000" dirty="0"/>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tcPr>
                </a:tc>
              </a:tr>
              <a:tr h="365760">
                <a:tc>
                  <a:txBody>
                    <a:bodyPr/>
                    <a:lstStyle/>
                    <a:p>
                      <a:pPr indent="0" marL="0">
                        <a:buNone/>
                      </a:pPr>
                      <a:r>
                        <a:rPr lang="en-US" sz="1000" dirty="0">
                          <a:solidFill>
                            <a:srgbClr val="000000"/>
                          </a:solidFill>
                        </a:rPr>
                        <a:t>東欧 × 近東</a:t>
                      </a:r>
                      <a:endParaRPr lang="en-US" sz="1000" dirty="0"/>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tcPr>
                </a:tc>
                <a:tc>
                  <a:txBody>
                    <a:bodyPr/>
                    <a:lstStyle/>
                    <a:p>
                      <a:pPr algn="ctr" indent="0" marL="0">
                        <a:buNone/>
                      </a:pPr>
                      <a:r>
                        <a:rPr lang="en-US" sz="1000" dirty="0">
                          <a:solidFill>
                            <a:srgbClr val="000000"/>
                          </a:solidFill>
                        </a:rPr>
                        <a:t>1,747</a:t>
                      </a:r>
                      <a:endParaRPr lang="en-US" sz="1000" dirty="0"/>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tcPr>
                </a:tc>
                <a:tc>
                  <a:txBody>
                    <a:bodyPr/>
                    <a:lstStyle/>
                    <a:p>
                      <a:pPr algn="ctr" indent="0" marL="0">
                        <a:buNone/>
                      </a:pPr>
                      <a:r>
                        <a:rPr lang="en-US" sz="1000" dirty="0">
                          <a:solidFill>
                            <a:srgbClr val="000000"/>
                          </a:solidFill>
                        </a:rPr>
                        <a:t>+0.29</a:t>
                      </a:r>
                      <a:endParaRPr lang="en-US" sz="1000" dirty="0"/>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tcPr>
                </a:tc>
                <a:tc>
                  <a:txBody>
                    <a:bodyPr/>
                    <a:lstStyle/>
                    <a:p>
                      <a:pPr algn="ctr" indent="0" marL="0">
                        <a:buNone/>
                      </a:pPr>
                      <a:r>
                        <a:rPr lang="en-US" sz="1000" b="1" dirty="0">
                          <a:solidFill>
                            <a:srgbClr val="B85042"/>
                          </a:solidFill>
                        </a:rPr>
                        <a:t>+0.664</a:t>
                      </a:r>
                      <a:endParaRPr lang="en-US" sz="1000" dirty="0"/>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tcPr>
                </a:tc>
                <a:tc>
                  <a:txBody>
                    <a:bodyPr/>
                    <a:lstStyle/>
                    <a:p>
                      <a:pPr algn="ctr" indent="0" marL="0">
                        <a:buNone/>
                      </a:pPr>
                      <a:r>
                        <a:rPr lang="en-US" sz="1000" dirty="0">
                          <a:solidFill>
                            <a:srgbClr val="000000"/>
                          </a:solidFill>
                        </a:rPr>
                        <a:t>&lt;10⁻²³</a:t>
                      </a:r>
                      <a:endParaRPr lang="en-US" sz="1000" dirty="0"/>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tcPr>
                </a:tc>
              </a:tr>
              <a:tr h="365760">
                <a:tc>
                  <a:txBody>
                    <a:bodyPr/>
                    <a:lstStyle/>
                    <a:p>
                      <a:pPr indent="0" marL="0">
                        <a:buNone/>
                      </a:pPr>
                      <a:r>
                        <a:rPr lang="en-US" sz="1000" dirty="0">
                          <a:solidFill>
                            <a:srgbClr val="000000"/>
                          </a:solidFill>
                        </a:rPr>
                        <a:t>英国 × 中国</a:t>
                      </a:r>
                      <a:endParaRPr lang="en-US" sz="1000" dirty="0"/>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tcPr>
                </a:tc>
                <a:tc>
                  <a:txBody>
                    <a:bodyPr/>
                    <a:lstStyle/>
                    <a:p>
                      <a:pPr algn="ctr" indent="0" marL="0">
                        <a:buNone/>
                      </a:pPr>
                      <a:r>
                        <a:rPr lang="en-US" sz="1000" dirty="0">
                          <a:solidFill>
                            <a:srgbClr val="000000"/>
                          </a:solidFill>
                        </a:rPr>
                        <a:t>8,175</a:t>
                      </a:r>
                      <a:endParaRPr lang="en-US" sz="1000" dirty="0"/>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tcPr>
                </a:tc>
                <a:tc>
                  <a:txBody>
                    <a:bodyPr/>
                    <a:lstStyle/>
                    <a:p>
                      <a:pPr algn="ctr" indent="0" marL="0">
                        <a:buNone/>
                      </a:pPr>
                      <a:r>
                        <a:rPr lang="en-US" sz="1000" dirty="0">
                          <a:solidFill>
                            <a:srgbClr val="000000"/>
                          </a:solidFill>
                        </a:rPr>
                        <a:t>+0.82</a:t>
                      </a:r>
                      <a:endParaRPr lang="en-US" sz="1000" dirty="0"/>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tcPr>
                </a:tc>
                <a:tc>
                  <a:txBody>
                    <a:bodyPr/>
                    <a:lstStyle/>
                    <a:p>
                      <a:pPr algn="ctr" indent="0" marL="0">
                        <a:buNone/>
                      </a:pPr>
                      <a:r>
                        <a:rPr lang="en-US" sz="1000" b="1" dirty="0">
                          <a:solidFill>
                            <a:srgbClr val="000000"/>
                          </a:solidFill>
                        </a:rPr>
                        <a:t>+0.653</a:t>
                      </a:r>
                      <a:endParaRPr lang="en-US" sz="1000" dirty="0"/>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tcPr>
                </a:tc>
                <a:tc>
                  <a:txBody>
                    <a:bodyPr/>
                    <a:lstStyle/>
                    <a:p>
                      <a:pPr algn="ctr" indent="0" marL="0">
                        <a:buNone/>
                      </a:pPr>
                      <a:r>
                        <a:rPr lang="en-US" sz="1000" dirty="0">
                          <a:solidFill>
                            <a:srgbClr val="000000"/>
                          </a:solidFill>
                        </a:rPr>
                        <a:t>&lt;10⁻²²</a:t>
                      </a:r>
                      <a:endParaRPr lang="en-US" sz="1000" dirty="0"/>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tcPr>
                </a:tc>
              </a:tr>
              <a:tr h="365760">
                <a:tc>
                  <a:txBody>
                    <a:bodyPr/>
                    <a:lstStyle/>
                    <a:p>
                      <a:pPr indent="0" marL="0">
                        <a:buNone/>
                      </a:pPr>
                      <a:r>
                        <a:rPr lang="en-US" sz="1000" dirty="0">
                          <a:solidFill>
                            <a:srgbClr val="666666"/>
                          </a:solidFill>
                        </a:rPr>
                        <a:t>英国 × 日本</a:t>
                      </a:r>
                      <a:endParaRPr lang="en-US" sz="1000" dirty="0"/>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tcPr>
                </a:tc>
                <a:tc>
                  <a:txBody>
                    <a:bodyPr/>
                    <a:lstStyle/>
                    <a:p>
                      <a:pPr algn="ctr" indent="0" marL="0">
                        <a:buNone/>
                      </a:pPr>
                      <a:r>
                        <a:rPr lang="en-US" sz="1000" dirty="0">
                          <a:solidFill>
                            <a:srgbClr val="666666"/>
                          </a:solidFill>
                        </a:rPr>
                        <a:t>9,297</a:t>
                      </a:r>
                      <a:endParaRPr lang="en-US" sz="1000" dirty="0"/>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tcPr>
                </a:tc>
                <a:tc>
                  <a:txBody>
                    <a:bodyPr/>
                    <a:lstStyle/>
                    <a:p>
                      <a:pPr algn="ctr" indent="0" marL="0">
                        <a:buNone/>
                      </a:pPr>
                      <a:r>
                        <a:rPr lang="en-US" sz="1000" dirty="0">
                          <a:solidFill>
                            <a:srgbClr val="666666"/>
                          </a:solidFill>
                        </a:rPr>
                        <a:t>+0.33</a:t>
                      </a:r>
                      <a:endParaRPr lang="en-US" sz="1000" dirty="0"/>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tcPr>
                </a:tc>
                <a:tc>
                  <a:txBody>
                    <a:bodyPr/>
                    <a:lstStyle/>
                    <a:p>
                      <a:pPr algn="ctr" indent="0" marL="0">
                        <a:buNone/>
                      </a:pPr>
                      <a:r>
                        <a:rPr lang="en-US" sz="1000" dirty="0">
                          <a:solidFill>
                            <a:srgbClr val="666666"/>
                          </a:solidFill>
                        </a:rPr>
                        <a:t>+0.138</a:t>
                      </a:r>
                      <a:endParaRPr lang="en-US" sz="1000" dirty="0"/>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tcPr>
                </a:tc>
                <a:tc>
                  <a:txBody>
                    <a:bodyPr/>
                    <a:lstStyle/>
                    <a:p>
                      <a:pPr algn="ctr" indent="0" marL="0">
                        <a:buNone/>
                      </a:pPr>
                      <a:r>
                        <a:rPr lang="en-US" sz="1000" dirty="0">
                          <a:solidFill>
                            <a:srgbClr val="666666"/>
                          </a:solidFill>
                        </a:rPr>
                        <a:t>0.065 ns</a:t>
                      </a:r>
                      <a:endParaRPr lang="en-US" sz="1000" dirty="0"/>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tcPr>
                </a:tc>
              </a:tr>
            </a:tbl>
          </a:graphicData>
        </a:graphic>
      </p:graphicFrame>
      <p:sp>
        <p:nvSpPr>
          <p:cNvPr id="6" name="Text 3"/>
          <p:cNvSpPr/>
          <p:nvPr/>
        </p:nvSpPr>
        <p:spPr>
          <a:xfrm>
            <a:off x="640080" y="2926080"/>
            <a:ext cx="7863840" cy="1645920"/>
          </a:xfrm>
          <a:prstGeom prst="rect">
            <a:avLst/>
          </a:prstGeom>
          <a:noFill/>
          <a:ln/>
        </p:spPr>
        <p:txBody>
          <a:bodyPr wrap="square" rtlCol="0" anchor="t"/>
          <a:lstStyle/>
          <a:p>
            <a:pPr indent="0" marL="0">
              <a:lnSpc>
                <a:spcPct val="110000"/>
              </a:lnSpc>
              <a:buNone/>
            </a:pPr>
            <a:r>
              <a:rPr lang="en-US" sz="1300" b="1" dirty="0">
                <a:solidFill>
                  <a:srgbClr val="B85042"/>
                </a:solidFill>
                <a:latin typeface="Calibri" pitchFamily="34" charset="0"/>
                <a:ea typeface="Calibri" pitchFamily="34" charset="-122"/>
                <a:cs typeface="Calibri" pitchFamily="34" charset="-120"/>
              </a:rPr>
              <a:t>平均デトレンドr = 0.458（21ペア中20が有意）</a:t>
            </a:r>
            <a:endParaRPr lang="en-US" sz="1200" dirty="0"/>
          </a:p>
          <a:p>
            <a:pPr indent="0" marL="0">
              <a:lnSpc>
                <a:spcPct val="110000"/>
              </a:lnSpc>
              <a:buNone/>
            </a:pPr>
            <a:endParaRPr lang="en-US" sz="1200" dirty="0"/>
          </a:p>
          <a:p>
            <a:pPr indent="0" marL="0">
              <a:lnSpc>
                <a:spcPct val="110000"/>
              </a:lnSpc>
              <a:buNone/>
            </a:pPr>
            <a:r>
              <a:rPr lang="en-US" sz="1200" dirty="0">
                <a:solidFill>
                  <a:srgbClr val="2D2D2D"/>
                </a:solidFill>
                <a:latin typeface="Calibri" pitchFamily="34" charset="0"/>
                <a:ea typeface="Calibri" pitchFamily="34" charset="-122"/>
                <a:cs typeface="Calibri" pitchFamily="34" charset="-120"/>
              </a:rPr>
              <a:t>重要: 8,000km以上離れた西欧×中国（r=0.719）が最強ペア。</a:t>
            </a:r>
            <a:endParaRPr lang="en-US" sz="1200" dirty="0"/>
          </a:p>
          <a:p>
            <a:pPr indent="0" marL="0">
              <a:lnSpc>
                <a:spcPct val="110000"/>
              </a:lnSpc>
              <a:buNone/>
            </a:pPr>
            <a:r>
              <a:rPr lang="en-US" sz="1200" dirty="0">
                <a:solidFill>
                  <a:srgbClr val="2D2D2D"/>
                </a:solidFill>
                <a:latin typeface="Calibri" pitchFamily="34" charset="0"/>
                <a:ea typeface="Calibri" pitchFamily="34" charset="-122"/>
                <a:cs typeface="Calibri" pitchFamily="34" charset="-120"/>
              </a:rPr>
              <a:t>近接ペア（東欧×スカンジナビア: r=0.249）より強い → 距離非依存。</a:t>
            </a:r>
            <a:endParaRPr lang="en-US" sz="1200" dirty="0"/>
          </a:p>
          <a:p>
            <a:pPr indent="0" marL="0">
              <a:lnSpc>
                <a:spcPct val="110000"/>
              </a:lnSpc>
              <a:buNone/>
            </a:pPr>
            <a:r>
              <a:rPr lang="en-US" sz="1200" dirty="0">
                <a:solidFill>
                  <a:srgbClr val="666666"/>
                </a:solidFill>
                <a:latin typeface="Calibri" pitchFamily="34" charset="0"/>
                <a:ea typeface="Calibri" pitchFamily="34" charset="-122"/>
                <a:cs typeface="Calibri" pitchFamily="34" charset="-120"/>
              </a:rPr>
              <a:t>日本は年代数最少のため唯一非有意（ブートストラップでも同様）。</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4E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3B6FA0"/>
          </a:solidFill>
          <a:ln/>
        </p:spPr>
      </p:sp>
      <p:sp>
        <p:nvSpPr>
          <p:cNvPr id="3" name="Text 1"/>
          <p:cNvSpPr/>
          <p:nvPr/>
        </p:nvSpPr>
        <p:spPr>
          <a:xfrm>
            <a:off x="457200" y="4800600"/>
            <a:ext cx="8229600" cy="274320"/>
          </a:xfrm>
          <a:prstGeom prst="rect">
            <a:avLst/>
          </a:prstGeom>
          <a:noFill/>
          <a:ln/>
        </p:spPr>
        <p:txBody>
          <a:bodyPr wrap="square" rtlCol="0" anchor="ctr"/>
          <a:lstStyle/>
          <a:p>
            <a:pPr indent="0" marL="0">
              <a:buNone/>
            </a:pPr>
            <a:r>
              <a:rPr lang="en-US" sz="800" dirty="0">
                <a:solidFill>
                  <a:srgbClr val="666666"/>
                </a:solidFill>
                <a:latin typeface="Calibri" pitchFamily="34" charset="0"/>
                <a:ea typeface="Calibri" pitchFamily="34" charset="-122"/>
                <a:cs typeface="Calibri" pitchFamily="34" charset="-120"/>
              </a:rPr>
              <a:t>ArchEco — 完新世ユーラシアの人口動態同期性</a:t>
            </a:r>
            <a:endParaRPr lang="en-US" sz="800" dirty="0"/>
          </a:p>
        </p:txBody>
      </p:sp>
      <p:sp>
        <p:nvSpPr>
          <p:cNvPr id="4" name="Text 2"/>
          <p:cNvSpPr/>
          <p:nvPr/>
        </p:nvSpPr>
        <p:spPr>
          <a:xfrm>
            <a:off x="457200" y="228600"/>
            <a:ext cx="8229600" cy="457200"/>
          </a:xfrm>
          <a:prstGeom prst="rect">
            <a:avLst/>
          </a:prstGeom>
          <a:noFill/>
          <a:ln/>
        </p:spPr>
        <p:txBody>
          <a:bodyPr wrap="square" lIns="0" tIns="0" rIns="0" bIns="0" rtlCol="0" anchor="ctr"/>
          <a:lstStyle/>
          <a:p>
            <a:pPr indent="0" marL="0">
              <a:buNone/>
            </a:pPr>
            <a:r>
              <a:rPr lang="en-US" sz="2200" b="1" dirty="0">
                <a:solidFill>
                  <a:srgbClr val="1E2737"/>
                </a:solidFill>
                <a:latin typeface="Georgia" pitchFamily="34" charset="0"/>
                <a:ea typeface="Georgia" pitchFamily="34" charset="-122"/>
                <a:cs typeface="Georgia" pitchFamily="34" charset="-120"/>
              </a:rPr>
              <a:t>頑健性 — 6つの独立検定を全て通過</a:t>
            </a:r>
            <a:endParaRPr lang="en-US" sz="2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274320" y="822960"/>
          <a:ext cx="8595360" cy="2560320"/>
        </p:xfrm>
        <a:graphic>
          <a:graphicData uri="http://schemas.openxmlformats.org/drawingml/2006/table">
            <a:tbl>
              <a:tblPr/>
              <a:tblGrid>
                <a:gridCol w="2286000"/>
                <a:gridCol w="1371600"/>
                <a:gridCol w="1097280"/>
                <a:gridCol w="3840480"/>
              </a:tblGrid>
              <a:tr h="365760">
                <a:tc>
                  <a:txBody>
                    <a:bodyPr/>
                    <a:lstStyle/>
                    <a:p>
                      <a:pPr indent="0" marL="0">
                        <a:buNone/>
                      </a:pPr>
                      <a:r>
                        <a:rPr lang="en-US" sz="1000" b="1" dirty="0">
                          <a:solidFill>
                            <a:srgbClr val="FFFFFF"/>
                          </a:solidFill>
                        </a:rPr>
                        <a:t>検定</a:t>
                      </a:r>
                      <a:endParaRPr lang="en-US" sz="1000" dirty="0"/>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1E2737"/>
                    </a:solidFill>
                  </a:tcPr>
                </a:tc>
                <a:tc>
                  <a:txBody>
                    <a:bodyPr/>
                    <a:lstStyle/>
                    <a:p>
                      <a:pPr algn="ctr" indent="0" marL="0">
                        <a:buNone/>
                      </a:pPr>
                      <a:r>
                        <a:rPr lang="en-US" sz="1000" b="1" dirty="0">
                          <a:solidFill>
                            <a:srgbClr val="FFFFFF"/>
                          </a:solidFill>
                        </a:rPr>
                        <a:t>平均r</a:t>
                      </a:r>
                      <a:endParaRPr lang="en-US" sz="1000" dirty="0"/>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1E2737"/>
                    </a:solidFill>
                  </a:tcPr>
                </a:tc>
                <a:tc>
                  <a:txBody>
                    <a:bodyPr/>
                    <a:lstStyle/>
                    <a:p>
                      <a:pPr algn="ctr" indent="0" marL="0">
                        <a:buNone/>
                      </a:pPr>
                      <a:r>
                        <a:rPr lang="en-US" sz="1000" b="1" dirty="0">
                          <a:solidFill>
                            <a:srgbClr val="FFFFFF"/>
                          </a:solidFill>
                        </a:rPr>
                        <a:t>有意ペア</a:t>
                      </a:r>
                      <a:endParaRPr lang="en-US" sz="1000" dirty="0"/>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1E2737"/>
                    </a:solidFill>
                  </a:tcPr>
                </a:tc>
                <a:tc>
                  <a:txBody>
                    <a:bodyPr/>
                    <a:lstStyle/>
                    <a:p>
                      <a:pPr indent="0" marL="0">
                        <a:buNone/>
                      </a:pPr>
                      <a:r>
                        <a:rPr lang="en-US" sz="1000" b="1" dirty="0">
                          <a:solidFill>
                            <a:srgbClr val="FFFFFF"/>
                          </a:solidFill>
                        </a:rPr>
                        <a:t>脅威への対処</a:t>
                      </a:r>
                      <a:endParaRPr lang="en-US" sz="1000" dirty="0"/>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1E2737"/>
                    </a:solidFill>
                  </a:tcPr>
                </a:tc>
              </a:tr>
              <a:tr h="365760">
                <a:tc>
                  <a:txBody>
                    <a:bodyPr/>
                    <a:lstStyle/>
                    <a:p>
                      <a:pPr indent="0" marL="0">
                        <a:buNone/>
                      </a:pPr>
                      <a:r>
                        <a:rPr lang="en-US" sz="1000" dirty="0">
                          <a:solidFill>
                            <a:srgbClr val="000000"/>
                          </a:solidFill>
                        </a:rPr>
                        <a:t>Bartlett補正</a:t>
                      </a:r>
                      <a:endParaRPr lang="en-US" sz="1000" dirty="0"/>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tcPr>
                </a:tc>
                <a:tc>
                  <a:txBody>
                    <a:bodyPr/>
                    <a:lstStyle/>
                    <a:p>
                      <a:pPr algn="ctr" indent="0" marL="0">
                        <a:buNone/>
                      </a:pPr>
                      <a:r>
                        <a:rPr lang="en-US" sz="1000" dirty="0">
                          <a:solidFill>
                            <a:srgbClr val="000000"/>
                          </a:solidFill>
                        </a:rPr>
                        <a:t>0.458</a:t>
                      </a:r>
                      <a:endParaRPr lang="en-US" sz="1000" dirty="0"/>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tcPr>
                </a:tc>
                <a:tc>
                  <a:txBody>
                    <a:bodyPr/>
                    <a:lstStyle/>
                    <a:p>
                      <a:pPr algn="ctr" indent="0" marL="0">
                        <a:buNone/>
                      </a:pPr>
                      <a:r>
                        <a:rPr lang="en-US" sz="1000" b="1" dirty="0">
                          <a:solidFill>
                            <a:srgbClr val="000000"/>
                          </a:solidFill>
                        </a:rPr>
                        <a:t>20/21</a:t>
                      </a:r>
                      <a:endParaRPr lang="en-US" sz="1000" dirty="0"/>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tcPr>
                </a:tc>
                <a:tc>
                  <a:txBody>
                    <a:bodyPr/>
                    <a:lstStyle/>
                    <a:p>
                      <a:pPr indent="0" marL="0">
                        <a:buNone/>
                      </a:pPr>
                      <a:r>
                        <a:rPr lang="en-US" sz="1000" dirty="0">
                          <a:solidFill>
                            <a:srgbClr val="000000"/>
                          </a:solidFill>
                        </a:rPr>
                        <a:t>時間的自己相関</a:t>
                      </a:r>
                      <a:endParaRPr lang="en-US" sz="1000" dirty="0"/>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tcPr>
                </a:tc>
              </a:tr>
              <a:tr h="365760">
                <a:tc>
                  <a:txBody>
                    <a:bodyPr/>
                    <a:lstStyle/>
                    <a:p>
                      <a:pPr indent="0" marL="0">
                        <a:buNone/>
                      </a:pPr>
                      <a:r>
                        <a:rPr lang="en-US" sz="1000" dirty="0">
                          <a:solidFill>
                            <a:srgbClr val="000000"/>
                          </a:solidFill>
                        </a:rPr>
                        <a:t>ブロックブートストラップ</a:t>
                      </a:r>
                      <a:endParaRPr lang="en-US" sz="1000" dirty="0"/>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tcPr>
                </a:tc>
                <a:tc>
                  <a:txBody>
                    <a:bodyPr/>
                    <a:lstStyle/>
                    <a:p>
                      <a:pPr algn="ctr" indent="0" marL="0">
                        <a:buNone/>
                      </a:pPr>
                      <a:r>
                        <a:rPr lang="en-US" sz="1000" dirty="0">
                          <a:solidFill>
                            <a:srgbClr val="000000"/>
                          </a:solidFill>
                        </a:rPr>
                        <a:t>--</a:t>
                      </a:r>
                      <a:endParaRPr lang="en-US" sz="1000" dirty="0"/>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tcPr>
                </a:tc>
                <a:tc>
                  <a:txBody>
                    <a:bodyPr/>
                    <a:lstStyle/>
                    <a:p>
                      <a:pPr algn="ctr" indent="0" marL="0">
                        <a:buNone/>
                      </a:pPr>
                      <a:r>
                        <a:rPr lang="en-US" sz="1000" dirty="0">
                          <a:solidFill>
                            <a:srgbClr val="000000"/>
                          </a:solidFill>
                        </a:rPr>
                        <a:t>16/21</a:t>
                      </a:r>
                      <a:endParaRPr lang="en-US" sz="1000" dirty="0"/>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tcPr>
                </a:tc>
                <a:tc>
                  <a:txBody>
                    <a:bodyPr/>
                    <a:lstStyle/>
                    <a:p>
                      <a:pPr indent="0" marL="0">
                        <a:buNone/>
                      </a:pPr>
                      <a:r>
                        <a:rPr lang="en-US" sz="1000" dirty="0">
                          <a:solidFill>
                            <a:srgbClr val="000000"/>
                          </a:solidFill>
                        </a:rPr>
                        <a:t>時系列構造の保持</a:t>
                      </a:r>
                      <a:endParaRPr lang="en-US" sz="1000" dirty="0"/>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tcPr>
                </a:tc>
              </a:tr>
              <a:tr h="365760">
                <a:tc>
                  <a:txBody>
                    <a:bodyPr/>
                    <a:lstStyle/>
                    <a:p>
                      <a:pPr indent="0" marL="0">
                        <a:buNone/>
                      </a:pPr>
                      <a:r>
                        <a:rPr lang="en-US" sz="1000" dirty="0">
                          <a:solidFill>
                            <a:srgbClr val="000000"/>
                          </a:solidFill>
                        </a:rPr>
                        <a:t>Loessデトレンド</a:t>
                      </a:r>
                      <a:endParaRPr lang="en-US" sz="1000" dirty="0"/>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tcPr>
                </a:tc>
                <a:tc>
                  <a:txBody>
                    <a:bodyPr/>
                    <a:lstStyle/>
                    <a:p>
                      <a:pPr algn="ctr" indent="0" marL="0">
                        <a:buNone/>
                      </a:pPr>
                      <a:r>
                        <a:rPr lang="en-US" sz="1000" dirty="0">
                          <a:solidFill>
                            <a:srgbClr val="000000"/>
                          </a:solidFill>
                        </a:rPr>
                        <a:t>0.338</a:t>
                      </a:r>
                      <a:endParaRPr lang="en-US" sz="1000" dirty="0"/>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tcPr>
                </a:tc>
                <a:tc>
                  <a:txBody>
                    <a:bodyPr/>
                    <a:lstStyle/>
                    <a:p>
                      <a:pPr algn="ctr" indent="0" marL="0">
                        <a:buNone/>
                      </a:pPr>
                      <a:r>
                        <a:rPr lang="en-US" sz="1000" dirty="0">
                          <a:solidFill>
                            <a:srgbClr val="000000"/>
                          </a:solidFill>
                        </a:rPr>
                        <a:t>19/21</a:t>
                      </a:r>
                      <a:endParaRPr lang="en-US" sz="1000" dirty="0"/>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tcPr>
                </a:tc>
                <a:tc>
                  <a:txBody>
                    <a:bodyPr/>
                    <a:lstStyle/>
                    <a:p>
                      <a:pPr indent="0" marL="0">
                        <a:buNone/>
                      </a:pPr>
                      <a:r>
                        <a:rPr lang="en-US" sz="1000" dirty="0">
                          <a:solidFill>
                            <a:srgbClr val="000000"/>
                          </a:solidFill>
                        </a:rPr>
                        <a:t>デトレンド手法依存性</a:t>
                      </a:r>
                      <a:endParaRPr lang="en-US" sz="1000" dirty="0"/>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tcPr>
                </a:tc>
              </a:tr>
              <a:tr h="365760">
                <a:tc>
                  <a:txBody>
                    <a:bodyPr/>
                    <a:lstStyle/>
                    <a:p>
                      <a:pPr indent="0" marL="0">
                        <a:buNone/>
                      </a:pPr>
                      <a:r>
                        <a:rPr lang="en-US" sz="1000" dirty="0">
                          <a:solidFill>
                            <a:srgbClr val="000000"/>
                          </a:solidFill>
                        </a:rPr>
                        <a:t>タフォノミー補正</a:t>
                      </a:r>
                      <a:endParaRPr lang="en-US" sz="1000" dirty="0"/>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tcPr>
                </a:tc>
                <a:tc>
                  <a:txBody>
                    <a:bodyPr/>
                    <a:lstStyle/>
                    <a:p>
                      <a:pPr algn="ctr" indent="0" marL="0">
                        <a:buNone/>
                      </a:pPr>
                      <a:r>
                        <a:rPr lang="en-US" sz="1000" b="1" dirty="0">
                          <a:solidFill>
                            <a:srgbClr val="2C5F2D"/>
                          </a:solidFill>
                        </a:rPr>
                        <a:t>0.419</a:t>
                      </a:r>
                      <a:endParaRPr lang="en-US" sz="1000" dirty="0"/>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tcPr>
                </a:tc>
                <a:tc>
                  <a:txBody>
                    <a:bodyPr/>
                    <a:lstStyle/>
                    <a:p>
                      <a:pPr algn="ctr" indent="0" marL="0">
                        <a:buNone/>
                      </a:pPr>
                      <a:r>
                        <a:rPr lang="en-US" sz="1000" dirty="0">
                          <a:solidFill>
                            <a:srgbClr val="000000"/>
                          </a:solidFill>
                        </a:rPr>
                        <a:t>18/21</a:t>
                      </a:r>
                      <a:endParaRPr lang="en-US" sz="1000" dirty="0"/>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tcPr>
                </a:tc>
                <a:tc>
                  <a:txBody>
                    <a:bodyPr/>
                    <a:lstStyle/>
                    <a:p>
                      <a:pPr indent="0" marL="0">
                        <a:buNone/>
                      </a:pPr>
                      <a:r>
                        <a:rPr lang="en-US" sz="1000" dirty="0">
                          <a:solidFill>
                            <a:srgbClr val="000000"/>
                          </a:solidFill>
                        </a:rPr>
                        <a:t>共有指数減衰バイアス</a:t>
                      </a:r>
                      <a:endParaRPr lang="en-US" sz="1000" dirty="0"/>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tcPr>
                </a:tc>
              </a:tr>
              <a:tr h="365760">
                <a:tc>
                  <a:txBody>
                    <a:bodyPr/>
                    <a:lstStyle/>
                    <a:p>
                      <a:pPr indent="0" marL="0">
                        <a:buNone/>
                      </a:pPr>
                      <a:r>
                        <a:rPr lang="en-US" sz="1000" dirty="0">
                          <a:solidFill>
                            <a:srgbClr val="000000"/>
                          </a:solidFill>
                        </a:rPr>
                        <a:t>較正アーティファクト検定</a:t>
                      </a:r>
                      <a:endParaRPr lang="en-US" sz="1000" dirty="0"/>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tcPr>
                </a:tc>
                <a:tc>
                  <a:txBody>
                    <a:bodyPr/>
                    <a:lstStyle/>
                    <a:p>
                      <a:pPr algn="ctr" indent="0" marL="0">
                        <a:buNone/>
                      </a:pPr>
                      <a:r>
                        <a:rPr lang="en-US" sz="1000" b="1" dirty="0">
                          <a:solidFill>
                            <a:srgbClr val="B85042"/>
                          </a:solidFill>
                        </a:rPr>
                        <a:t>0.48 vs 0.00</a:t>
                      </a:r>
                      <a:endParaRPr lang="en-US" sz="1000" dirty="0"/>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tcPr>
                </a:tc>
                <a:tc>
                  <a:txBody>
                    <a:bodyPr/>
                    <a:lstStyle/>
                    <a:p>
                      <a:pPr algn="ctr" indent="0" marL="0">
                        <a:buNone/>
                      </a:pPr>
                      <a:r>
                        <a:rPr lang="en-US" sz="1000" dirty="0">
                          <a:solidFill>
                            <a:srgbClr val="000000"/>
                          </a:solidFill>
                        </a:rPr>
                        <a:t>p&lt;0.001</a:t>
                      </a:r>
                      <a:endParaRPr lang="en-US" sz="1000" dirty="0"/>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tcPr>
                </a:tc>
                <a:tc>
                  <a:txBody>
                    <a:bodyPr/>
                    <a:lstStyle/>
                    <a:p>
                      <a:pPr indent="0" marL="0">
                        <a:buNone/>
                      </a:pPr>
                      <a:r>
                        <a:rPr lang="en-US" sz="1000" dirty="0">
                          <a:solidFill>
                            <a:srgbClr val="000000"/>
                          </a:solidFill>
                        </a:rPr>
                        <a:t>IntCal20曲線の偽同期</a:t>
                      </a:r>
                      <a:endParaRPr lang="en-US" sz="1000" dirty="0"/>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tcPr>
                </a:tc>
              </a:tr>
              <a:tr h="365760">
                <a:tc>
                  <a:txBody>
                    <a:bodyPr/>
                    <a:lstStyle/>
                    <a:p>
                      <a:pPr indent="0" marL="0">
                        <a:buNone/>
                      </a:pPr>
                      <a:r>
                        <a:rPr lang="en-US" sz="1000" dirty="0">
                          <a:solidFill>
                            <a:srgbClr val="000000"/>
                          </a:solidFill>
                        </a:rPr>
                        <a:t>等Nサブサンプリング</a:t>
                      </a:r>
                      <a:endParaRPr lang="en-US" sz="1000" dirty="0"/>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tcPr>
                </a:tc>
                <a:tc>
                  <a:txBody>
                    <a:bodyPr/>
                    <a:lstStyle/>
                    <a:p>
                      <a:pPr algn="ctr" indent="0" marL="0">
                        <a:buNone/>
                      </a:pPr>
                      <a:r>
                        <a:rPr lang="en-US" sz="1000" dirty="0">
                          <a:solidFill>
                            <a:srgbClr val="000000"/>
                          </a:solidFill>
                        </a:rPr>
                        <a:t>0.307</a:t>
                      </a:r>
                      <a:endParaRPr lang="en-US" sz="1000" dirty="0"/>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tcPr>
                </a:tc>
                <a:tc>
                  <a:txBody>
                    <a:bodyPr/>
                    <a:lstStyle/>
                    <a:p>
                      <a:pPr algn="ctr" indent="0" marL="0">
                        <a:buNone/>
                      </a:pPr>
                      <a:r>
                        <a:rPr lang="en-US" sz="1000" dirty="0">
                          <a:solidFill>
                            <a:srgbClr val="000000"/>
                          </a:solidFill>
                        </a:rPr>
                        <a:t>全正</a:t>
                      </a:r>
                      <a:endParaRPr lang="en-US" sz="1000" dirty="0"/>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tcPr>
                </a:tc>
                <a:tc>
                  <a:txBody>
                    <a:bodyPr/>
                    <a:lstStyle/>
                    <a:p>
                      <a:pPr indent="0" marL="0">
                        <a:buNone/>
                      </a:pPr>
                      <a:r>
                        <a:rPr lang="en-US" sz="1000" dirty="0">
                          <a:solidFill>
                            <a:srgbClr val="000000"/>
                          </a:solidFill>
                        </a:rPr>
                        <a:t>サンプルサイズ効果</a:t>
                      </a:r>
                      <a:endParaRPr lang="en-US" sz="1000" dirty="0"/>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tcPr>
                </a:tc>
              </a:tr>
            </a:tbl>
          </a:graphicData>
        </a:graphic>
      </p:graphicFrame>
      <p:sp>
        <p:nvSpPr>
          <p:cNvPr id="6" name="Text 3"/>
          <p:cNvSpPr/>
          <p:nvPr/>
        </p:nvSpPr>
        <p:spPr>
          <a:xfrm>
            <a:off x="640080" y="3566160"/>
            <a:ext cx="7863840" cy="1097280"/>
          </a:xfrm>
          <a:prstGeom prst="rect">
            <a:avLst/>
          </a:prstGeom>
          <a:noFill/>
          <a:ln/>
        </p:spPr>
        <p:txBody>
          <a:bodyPr wrap="square" rtlCol="0" anchor="t"/>
          <a:lstStyle/>
          <a:p>
            <a:pPr indent="0" marL="0">
              <a:lnSpc>
                <a:spcPct val="110000"/>
              </a:lnSpc>
              <a:buNone/>
            </a:pPr>
            <a:r>
              <a:rPr lang="en-US" sz="1200" b="1" dirty="0">
                <a:solidFill>
                  <a:srgbClr val="2C5F2D"/>
                </a:solidFill>
                <a:latin typeface="Calibri" pitchFamily="34" charset="0"/>
                <a:ea typeface="Calibri" pitchFamily="34" charset="-122"/>
                <a:cs typeface="Calibri" pitchFamily="34" charset="-120"/>
              </a:rPr>
              <a:t>結論: 同期性はいかなる単一のアーティファクトでも説明できない。</a:t>
            </a:r>
            <a:endParaRPr lang="en-US" sz="1200" dirty="0"/>
          </a:p>
          <a:p>
            <a:pPr indent="0" marL="0">
              <a:lnSpc>
                <a:spcPct val="110000"/>
              </a:lnSpc>
              <a:buNone/>
            </a:pPr>
            <a:r>
              <a:rPr lang="en-US" sz="1200" dirty="0">
                <a:solidFill>
                  <a:srgbClr val="2D2D2D"/>
                </a:solidFill>
                <a:latin typeface="Calibri" pitchFamily="34" charset="0"/>
                <a:ea typeface="Calibri" pitchFamily="34" charset="-122"/>
                <a:cs typeface="Calibri" pitchFamily="34" charset="-120"/>
              </a:rPr>
              <a:t>タフォノミー補正後もr=0.419（わずか-0.038の低下）。</a:t>
            </a:r>
            <a:endParaRPr lang="en-US" sz="1200" dirty="0"/>
          </a:p>
          <a:p>
            <a:pPr indent="0" marL="0">
              <a:lnSpc>
                <a:spcPct val="110000"/>
              </a:lnSpc>
              <a:buNone/>
            </a:pPr>
            <a:r>
              <a:rPr lang="en-US" sz="1200" dirty="0">
                <a:solidFill>
                  <a:srgbClr val="2D2D2D"/>
                </a:solidFill>
                <a:latin typeface="Calibri" pitchFamily="34" charset="0"/>
                <a:ea typeface="Calibri" pitchFamily="34" charset="-122"/>
                <a:cs typeface="Calibri" pitchFamily="34" charset="-120"/>
              </a:rPr>
              <a:t>等Nサブサンプリング（N=1,500/地域）でもr=0.307と有意に正。</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E2737"/>
        </a:solidFill>
      </p:bgPr>
    </p:bg>
    <p:spTree>
      <p:nvGrpSpPr>
        <p:cNvPr id="1" name=""/>
        <p:cNvGrpSpPr/>
        <p:nvPr/>
      </p:nvGrpSpPr>
      <p:grpSpPr>
        <a:xfrm>
          <a:off x="0" y="0"/>
          <a:ext cx="0" cy="0"/>
          <a:chOff x="0" y="0"/>
          <a:chExt cx="0" cy="0"/>
        </a:xfrm>
      </p:grpSpPr>
      <p:sp>
        <p:nvSpPr>
          <p:cNvPr id="2" name="Text 0"/>
          <p:cNvSpPr/>
          <p:nvPr/>
        </p:nvSpPr>
        <p:spPr>
          <a:xfrm>
            <a:off x="731520" y="274320"/>
            <a:ext cx="7680960" cy="365760"/>
          </a:xfrm>
          <a:prstGeom prst="rect">
            <a:avLst/>
          </a:prstGeom>
          <a:noFill/>
          <a:ln/>
        </p:spPr>
        <p:txBody>
          <a:bodyPr wrap="square" rtlCol="0" anchor="ctr"/>
          <a:lstStyle/>
          <a:p>
            <a:pPr indent="0" marL="0">
              <a:buNone/>
            </a:pPr>
            <a:r>
              <a:rPr lang="en-US" sz="1400" b="1" dirty="0">
                <a:solidFill>
                  <a:srgbClr val="97BC62"/>
                </a:solidFill>
                <a:latin typeface="Calibri" pitchFamily="34" charset="0"/>
                <a:ea typeface="Calibri" pitchFamily="34" charset="-122"/>
                <a:cs typeface="Calibri" pitchFamily="34" charset="-120"/>
              </a:rPr>
              <a:t>最重要発見: 気候だけでは説明できない</a:t>
            </a:r>
            <a:endParaRPr lang="en-US" sz="1400" dirty="0"/>
          </a:p>
        </p:txBody>
      </p:sp>
      <p:sp>
        <p:nvSpPr>
          <p:cNvPr id="3" name="Text 1"/>
          <p:cNvSpPr/>
          <p:nvPr/>
        </p:nvSpPr>
        <p:spPr>
          <a:xfrm>
            <a:off x="731520" y="822960"/>
            <a:ext cx="7680960" cy="2286000"/>
          </a:xfrm>
          <a:prstGeom prst="rect">
            <a:avLst/>
          </a:prstGeom>
          <a:noFill/>
          <a:ln/>
        </p:spPr>
        <p:txBody>
          <a:bodyPr wrap="square" rtlCol="0" anchor="ctr"/>
          <a:lstStyle/>
          <a:p>
            <a:pPr indent="0" marL="0">
              <a:lnSpc>
                <a:spcPct val="130000"/>
              </a:lnSpc>
              <a:buNone/>
            </a:pPr>
            <a:r>
              <a:rPr lang="en-US" sz="1600" dirty="0">
                <a:solidFill>
                  <a:srgbClr val="F7F4EF"/>
                </a:solidFill>
                <a:latin typeface="Calibri" pitchFamily="34" charset="0"/>
                <a:ea typeface="Calibri" pitchFamily="34" charset="-122"/>
                <a:cs typeface="Calibri" pitchFamily="34" charset="-120"/>
              </a:rPr>
              <a:t>気候プロキシ × SPD相関: 平均|r| = 0.086（7地域全て非有意）</a:t>
            </a:r>
            <a:endParaRPr lang="en-US" sz="1600" dirty="0"/>
          </a:p>
          <a:p>
            <a:pPr indent="0" marL="0">
              <a:lnSpc>
                <a:spcPct val="130000"/>
              </a:lnSpc>
              <a:buNone/>
            </a:pPr>
            <a:endParaRPr lang="en-US" sz="1600" dirty="0"/>
          </a:p>
          <a:p>
            <a:pPr indent="0" marL="0">
              <a:lnSpc>
                <a:spcPct val="130000"/>
              </a:lnSpc>
              <a:buNone/>
            </a:pPr>
            <a:r>
              <a:rPr lang="en-US" sz="1600" dirty="0">
                <a:solidFill>
                  <a:srgbClr val="F7F4EF"/>
                </a:solidFill>
                <a:latin typeface="Calibri" pitchFamily="34" charset="0"/>
                <a:ea typeface="Calibri" pitchFamily="34" charset="-122"/>
                <a:cs typeface="Calibri" pitchFamily="34" charset="-120"/>
              </a:rPr>
              <a:t>地域間SPD相関: 平均r = 0.458（20/21有意）</a:t>
            </a:r>
            <a:endParaRPr lang="en-US" sz="1600" dirty="0"/>
          </a:p>
          <a:p>
            <a:pPr indent="0" marL="0">
              <a:lnSpc>
                <a:spcPct val="130000"/>
              </a:lnSpc>
              <a:buNone/>
            </a:pPr>
            <a:endParaRPr lang="en-US" sz="1600" dirty="0"/>
          </a:p>
          <a:p>
            <a:pPr indent="0" marL="0">
              <a:lnSpc>
                <a:spcPct val="130000"/>
              </a:lnSpc>
              <a:buNone/>
            </a:pPr>
            <a:r>
              <a:rPr lang="en-US" sz="1600" b="1" dirty="0">
                <a:solidFill>
                  <a:srgbClr val="E8963E"/>
                </a:solidFill>
                <a:latin typeface="Calibri" pitchFamily="34" charset="0"/>
                <a:ea typeface="Calibri" pitchFamily="34" charset="-122"/>
                <a:cs typeface="Calibri" pitchFamily="34" charset="-120"/>
              </a:rPr>
              <a:t>気候-人口相関は地域間人口相関の5.3分の1。</a:t>
            </a:r>
            <a:endParaRPr lang="en-US" sz="1600" dirty="0"/>
          </a:p>
          <a:p>
            <a:pPr indent="0" marL="0">
              <a:lnSpc>
                <a:spcPct val="130000"/>
              </a:lnSpc>
              <a:buNone/>
            </a:pPr>
            <a:endParaRPr lang="en-US" sz="1600" dirty="0"/>
          </a:p>
          <a:p>
            <a:pPr indent="0" marL="0">
              <a:lnSpc>
                <a:spcPct val="130000"/>
              </a:lnSpc>
              <a:buNone/>
            </a:pPr>
            <a:r>
              <a:rPr lang="en-US" sz="1600" b="1" dirty="0">
                <a:solidFill>
                  <a:srgbClr val="FFFFFF"/>
                </a:solidFill>
                <a:latin typeface="Calibri" pitchFamily="34" charset="0"/>
                <a:ea typeface="Calibri" pitchFamily="34" charset="-122"/>
                <a:cs typeface="Calibri" pitchFamily="34" charset="-120"/>
              </a:rPr>
              <a:t>→ 人口は連動しているが、その原因は気候だけではない。</a:t>
            </a:r>
            <a:endParaRPr lang="en-US" sz="1600" dirty="0"/>
          </a:p>
        </p:txBody>
      </p:sp>
      <p:sp>
        <p:nvSpPr>
          <p:cNvPr id="4" name="Text 2"/>
          <p:cNvSpPr/>
          <p:nvPr/>
        </p:nvSpPr>
        <p:spPr>
          <a:xfrm>
            <a:off x="731520" y="3200400"/>
            <a:ext cx="7680960" cy="548640"/>
          </a:xfrm>
          <a:prstGeom prst="rect">
            <a:avLst/>
          </a:prstGeom>
          <a:noFill/>
          <a:ln/>
        </p:spPr>
        <p:txBody>
          <a:bodyPr wrap="square" rtlCol="0" anchor="ctr"/>
          <a:lstStyle/>
          <a:p>
            <a:pPr indent="0" marL="0">
              <a:buNone/>
            </a:pPr>
            <a:r>
              <a:rPr lang="en-US" sz="2200" b="1" dirty="0">
                <a:solidFill>
                  <a:srgbClr val="FFFFFF"/>
                </a:solidFill>
                <a:latin typeface="Georgia" pitchFamily="34" charset="0"/>
                <a:ea typeface="Georgia" pitchFamily="34" charset="-122"/>
                <a:cs typeface="Georgia" pitchFamily="34" charset="-120"/>
              </a:rPr>
              <a:t>では何が人口を連動させているのか？</a:t>
            </a:r>
            <a:endParaRPr lang="en-US" sz="2200" dirty="0"/>
          </a:p>
        </p:txBody>
      </p:sp>
      <p:sp>
        <p:nvSpPr>
          <p:cNvPr id="5" name="Text 3"/>
          <p:cNvSpPr/>
          <p:nvPr/>
        </p:nvSpPr>
        <p:spPr>
          <a:xfrm>
            <a:off x="731520" y="3749040"/>
            <a:ext cx="7680960" cy="1188720"/>
          </a:xfrm>
          <a:prstGeom prst="rect">
            <a:avLst/>
          </a:prstGeom>
          <a:noFill/>
          <a:ln/>
        </p:spPr>
        <p:txBody>
          <a:bodyPr wrap="square" rtlCol="0" anchor="ctr"/>
          <a:lstStyle/>
          <a:p>
            <a:pPr indent="0" marL="0">
              <a:lnSpc>
                <a:spcPct val="115000"/>
              </a:lnSpc>
              <a:buNone/>
            </a:pPr>
            <a:r>
              <a:rPr lang="en-US" sz="1100" b="1" dirty="0">
                <a:solidFill>
                  <a:srgbClr val="F7F4EF"/>
                </a:solidFill>
                <a:latin typeface="Calibri" pitchFamily="34" charset="0"/>
                <a:ea typeface="Calibri" pitchFamily="34" charset="-122"/>
                <a:cs typeface="Calibri" pitchFamily="34" charset="-120"/>
              </a:rPr>
              <a:t>候補メカニズム:</a:t>
            </a:r>
            <a:endParaRPr lang="en-US" sz="1100" dirty="0"/>
          </a:p>
          <a:p>
            <a:pPr indent="0" marL="0">
              <a:lnSpc>
                <a:spcPct val="115000"/>
              </a:lnSpc>
              <a:buNone/>
            </a:pPr>
            <a:r>
              <a:rPr lang="en-US" sz="1100" dirty="0">
                <a:solidFill>
                  <a:srgbClr val="F7F4EF"/>
                </a:solidFill>
                <a:latin typeface="Calibri" pitchFamily="34" charset="0"/>
                <a:ea typeface="Calibri" pitchFamily="34" charset="-122"/>
                <a:cs typeface="Calibri" pitchFamily="34" charset="-120"/>
              </a:rPr>
              <a:t>1. 農耕社会の類似内在的ダイナミクス（ブーム-バスト周期の収束）</a:t>
            </a:r>
            <a:endParaRPr lang="en-US" sz="1100" dirty="0"/>
          </a:p>
          <a:p>
            <a:pPr indent="0" marL="0">
              <a:lnSpc>
                <a:spcPct val="115000"/>
              </a:lnSpc>
              <a:buNone/>
            </a:pPr>
            <a:r>
              <a:rPr lang="en-US" sz="1100" dirty="0">
                <a:solidFill>
                  <a:srgbClr val="F7F4EF"/>
                </a:solidFill>
                <a:latin typeface="Calibri" pitchFamily="34" charset="0"/>
                <a:ea typeface="Calibri" pitchFamily="34" charset="-122"/>
                <a:cs typeface="Calibri" pitchFamily="34" charset="-120"/>
              </a:rPr>
              <a:t>2. パンデミック疾病ネットワーク（交易路経由の病原体伝播）</a:t>
            </a:r>
            <a:endParaRPr lang="en-US" sz="1100" dirty="0"/>
          </a:p>
          <a:p>
            <a:pPr indent="0" marL="0">
              <a:lnSpc>
                <a:spcPct val="115000"/>
              </a:lnSpc>
              <a:buNone/>
            </a:pPr>
            <a:r>
              <a:rPr lang="en-US" sz="1100" dirty="0">
                <a:solidFill>
                  <a:srgbClr val="F7F4EF"/>
                </a:solidFill>
                <a:latin typeface="Calibri" pitchFamily="34" charset="0"/>
                <a:ea typeface="Calibri" pitchFamily="34" charset="-122"/>
                <a:cs typeface="Calibri" pitchFamily="34" charset="-120"/>
              </a:rPr>
              <a:t>3. 太陽変動へ共有感度（Bond events ~1,500年周期）</a:t>
            </a:r>
            <a:endParaRPr lang="en-US" sz="1100" dirty="0"/>
          </a:p>
          <a:p>
            <a:pPr indent="0" marL="0">
              <a:lnSpc>
                <a:spcPct val="115000"/>
              </a:lnSpc>
              <a:buNone/>
            </a:pPr>
            <a:r>
              <a:rPr lang="en-US" sz="1100" dirty="0">
                <a:solidFill>
                  <a:srgbClr val="666666"/>
                </a:solidFill>
                <a:latin typeface="Calibri" pitchFamily="34" charset="0"/>
                <a:ea typeface="Calibri" pitchFamily="34" charset="-122"/>
                <a:cs typeface="Calibri" pitchFamily="34" charset="-120"/>
              </a:rPr>
              <a:t>4. 注: 合成気候プロキシの限界。実際のGISP2等との比較が今後の課題。</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4E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3B6FA0"/>
          </a:solidFill>
          <a:ln/>
        </p:spPr>
      </p:sp>
      <p:sp>
        <p:nvSpPr>
          <p:cNvPr id="3" name="Text 1"/>
          <p:cNvSpPr/>
          <p:nvPr/>
        </p:nvSpPr>
        <p:spPr>
          <a:xfrm>
            <a:off x="457200" y="4800600"/>
            <a:ext cx="8229600" cy="274320"/>
          </a:xfrm>
          <a:prstGeom prst="rect">
            <a:avLst/>
          </a:prstGeom>
          <a:noFill/>
          <a:ln/>
        </p:spPr>
        <p:txBody>
          <a:bodyPr wrap="square" rtlCol="0" anchor="ctr"/>
          <a:lstStyle/>
          <a:p>
            <a:pPr indent="0" marL="0">
              <a:buNone/>
            </a:pPr>
            <a:r>
              <a:rPr lang="en-US" sz="800" dirty="0">
                <a:solidFill>
                  <a:srgbClr val="666666"/>
                </a:solidFill>
                <a:latin typeface="Calibri" pitchFamily="34" charset="0"/>
                <a:ea typeface="Calibri" pitchFamily="34" charset="-122"/>
                <a:cs typeface="Calibri" pitchFamily="34" charset="-120"/>
              </a:rPr>
              <a:t>ArchEco — 完新世ユーラシアの人口動態同期性</a:t>
            </a:r>
            <a:endParaRPr lang="en-US" sz="800" dirty="0"/>
          </a:p>
        </p:txBody>
      </p:sp>
      <p:sp>
        <p:nvSpPr>
          <p:cNvPr id="4" name="Text 2"/>
          <p:cNvSpPr/>
          <p:nvPr/>
        </p:nvSpPr>
        <p:spPr>
          <a:xfrm>
            <a:off x="457200" y="228600"/>
            <a:ext cx="8229600" cy="457200"/>
          </a:xfrm>
          <a:prstGeom prst="rect">
            <a:avLst/>
          </a:prstGeom>
          <a:noFill/>
          <a:ln/>
        </p:spPr>
        <p:txBody>
          <a:bodyPr wrap="square" lIns="0" tIns="0" rIns="0" bIns="0" rtlCol="0" anchor="ctr"/>
          <a:lstStyle/>
          <a:p>
            <a:pPr indent="0" marL="0">
              <a:buNone/>
            </a:pPr>
            <a:r>
              <a:rPr lang="en-US" sz="2200" b="1" dirty="0">
                <a:solidFill>
                  <a:srgbClr val="1E2737"/>
                </a:solidFill>
                <a:latin typeface="Georgia" pitchFamily="34" charset="0"/>
                <a:ea typeface="Georgia" pitchFamily="34" charset="-122"/>
                <a:cs typeface="Georgia" pitchFamily="34" charset="-120"/>
              </a:rPr>
              <a:t>時間的変動 — いつ同期し、いつ分岐したか</a:t>
            </a:r>
            <a:endParaRPr lang="en-US" sz="2200" dirty="0"/>
          </a:p>
        </p:txBody>
      </p:sp>
      <p:sp>
        <p:nvSpPr>
          <p:cNvPr id="5" name="Text 3"/>
          <p:cNvSpPr/>
          <p:nvPr/>
        </p:nvSpPr>
        <p:spPr>
          <a:xfrm>
            <a:off x="640080" y="731520"/>
            <a:ext cx="7863840" cy="3840480"/>
          </a:xfrm>
          <a:prstGeom prst="rect">
            <a:avLst/>
          </a:prstGeom>
          <a:noFill/>
          <a:ln/>
        </p:spPr>
        <p:txBody>
          <a:bodyPr wrap="square" rtlCol="0" anchor="t"/>
          <a:lstStyle/>
          <a:p>
            <a:pPr indent="0" marL="0">
              <a:lnSpc>
                <a:spcPct val="105000"/>
              </a:lnSpc>
              <a:buNone/>
            </a:pPr>
            <a:r>
              <a:rPr lang="en-US" sz="1400" b="1" dirty="0">
                <a:solidFill>
                  <a:srgbClr val="B85042"/>
                </a:solidFill>
                <a:latin typeface="Calibri" pitchFamily="34" charset="0"/>
                <a:ea typeface="Calibri" pitchFamily="34" charset="-122"/>
                <a:cs typeface="Calibri" pitchFamily="34" charset="-120"/>
              </a:rPr>
              <a:t>同期性ピーク: 後期青銅器時代/前期鉄器時代（~2,600-2,950 cal BP）</a:t>
            </a:r>
            <a:endParaRPr lang="en-US" sz="1200" dirty="0"/>
          </a:p>
          <a:p>
            <a:pPr indent="0" marL="0">
              <a:lnSpc>
                <a:spcPct val="105000"/>
              </a:lnSpc>
              <a:buNone/>
            </a:pPr>
            <a:r>
              <a:rPr lang="en-US" sz="1200" dirty="0">
                <a:solidFill>
                  <a:srgbClr val="2D2D2D"/>
                </a:solidFill>
                <a:latin typeface="Calibri" pitchFamily="34" charset="0"/>
                <a:ea typeface="Calibri" pitchFamily="34" charset="-122"/>
                <a:cs typeface="Calibri" pitchFamily="34" charset="-120"/>
              </a:rPr>
              <a:t>平均ペアワイズr = 0.82-0.84 — 完新世で最強の連動</a:t>
            </a:r>
            <a:endParaRPr lang="en-US" sz="1200" dirty="0"/>
          </a:p>
          <a:p>
            <a:pPr indent="0" marL="0">
              <a:lnSpc>
                <a:spcPct val="105000"/>
              </a:lnSpc>
              <a:buNone/>
            </a:pPr>
            <a:r>
              <a:rPr lang="en-US" sz="1200" dirty="0">
                <a:solidFill>
                  <a:srgbClr val="2D2D2D"/>
                </a:solidFill>
                <a:latin typeface="Calibri" pitchFamily="34" charset="0"/>
                <a:ea typeface="Calibri" pitchFamily="34" charset="-122"/>
                <a:cs typeface="Calibri" pitchFamily="34" charset="-120"/>
              </a:rPr>
              <a:t>・東地中海の後期青銅器時代崩壊（~3,200-3,000 cal BP）</a:t>
            </a:r>
            <a:endParaRPr lang="en-US" sz="1200" dirty="0"/>
          </a:p>
          <a:p>
            <a:pPr indent="0" marL="0">
              <a:lnSpc>
                <a:spcPct val="105000"/>
              </a:lnSpc>
              <a:buNone/>
            </a:pPr>
            <a:r>
              <a:rPr lang="en-US" sz="1200" dirty="0">
                <a:solidFill>
                  <a:srgbClr val="2D2D2D"/>
                </a:solidFill>
                <a:latin typeface="Calibri" pitchFamily="34" charset="0"/>
                <a:ea typeface="Calibri" pitchFamily="34" charset="-122"/>
                <a:cs typeface="Calibri" pitchFamily="34" charset="-120"/>
              </a:rPr>
              <a:t>・中国: 西周の衰退（~2,850 cal BP）</a:t>
            </a:r>
            <a:endParaRPr lang="en-US" sz="1200" dirty="0"/>
          </a:p>
          <a:p>
            <a:pPr indent="0" marL="0">
              <a:lnSpc>
                <a:spcPct val="105000"/>
              </a:lnSpc>
              <a:buNone/>
            </a:pPr>
            <a:r>
              <a:rPr lang="en-US" sz="1200" dirty="0">
                <a:solidFill>
                  <a:srgbClr val="2D2D2D"/>
                </a:solidFill>
                <a:latin typeface="Calibri" pitchFamily="34" charset="0"/>
                <a:ea typeface="Calibri" pitchFamily="34" charset="-122"/>
                <a:cs typeface="Calibri" pitchFamily="34" charset="-120"/>
              </a:rPr>
              <a:t>・欧州: 骨壺墓地文化→ハルシュタット転換</a:t>
            </a:r>
            <a:endParaRPr lang="en-US" sz="1200" dirty="0"/>
          </a:p>
          <a:p>
            <a:pPr indent="0" marL="0">
              <a:lnSpc>
                <a:spcPct val="105000"/>
              </a:lnSpc>
              <a:buNone/>
            </a:pPr>
            <a:r>
              <a:rPr lang="en-US" sz="1200" b="1" dirty="0">
                <a:solidFill>
                  <a:srgbClr val="2C5F2D"/>
                </a:solidFill>
                <a:latin typeface="Calibri" pitchFamily="34" charset="0"/>
                <a:ea typeface="Calibri" pitchFamily="34" charset="-122"/>
                <a:cs typeface="Calibri" pitchFamily="34" charset="-120"/>
              </a:rPr>
              <a:t>→ これらの「個別事件」が実は汎ユーラシア的人口動態現象の一部だった。</a:t>
            </a:r>
            <a:endParaRPr lang="en-US" sz="1200" dirty="0"/>
          </a:p>
          <a:p>
            <a:pPr indent="0" marL="0">
              <a:lnSpc>
                <a:spcPct val="105000"/>
              </a:lnSpc>
              <a:buNone/>
            </a:pPr>
            <a:endParaRPr lang="en-US" sz="1200" dirty="0"/>
          </a:p>
          <a:p>
            <a:pPr indent="0" marL="0">
              <a:lnSpc>
                <a:spcPct val="105000"/>
              </a:lnSpc>
              <a:buNone/>
            </a:pPr>
            <a:r>
              <a:rPr lang="en-US" sz="1400" b="1" dirty="0">
                <a:solidFill>
                  <a:srgbClr val="3B6FA0"/>
                </a:solidFill>
                <a:latin typeface="Calibri" pitchFamily="34" charset="0"/>
                <a:ea typeface="Calibri" pitchFamily="34" charset="-122"/>
                <a:cs typeface="Calibri" pitchFamily="34" charset="-120"/>
              </a:rPr>
              <a:t>同期性最低: 新石器化期間（~7,250-7,600 cal BP）</a:t>
            </a:r>
            <a:endParaRPr lang="en-US" sz="1200" dirty="0"/>
          </a:p>
          <a:p>
            <a:pPr indent="0" marL="0">
              <a:lnSpc>
                <a:spcPct val="105000"/>
              </a:lnSpc>
              <a:buNone/>
            </a:pPr>
            <a:r>
              <a:rPr lang="en-US" sz="1200" dirty="0">
                <a:solidFill>
                  <a:srgbClr val="2D2D2D"/>
                </a:solidFill>
                <a:latin typeface="Calibri" pitchFamily="34" charset="0"/>
                <a:ea typeface="Calibri" pitchFamily="34" charset="-122"/>
                <a:cs typeface="Calibri" pitchFamily="34" charset="-120"/>
              </a:rPr>
              <a:t>平均r = 0.06-0.07 — 各地域がバラバラの軌跡</a:t>
            </a:r>
            <a:endParaRPr lang="en-US" sz="1200" dirty="0"/>
          </a:p>
          <a:p>
            <a:pPr indent="0" marL="0">
              <a:lnSpc>
                <a:spcPct val="105000"/>
              </a:lnSpc>
              <a:buNone/>
            </a:pPr>
            <a:r>
              <a:rPr lang="en-US" sz="1200" dirty="0">
                <a:solidFill>
                  <a:srgbClr val="2D2D2D"/>
                </a:solidFill>
                <a:latin typeface="Calibri" pitchFamily="34" charset="0"/>
                <a:ea typeface="Calibri" pitchFamily="34" charset="-122"/>
                <a:cs typeface="Calibri" pitchFamily="34" charset="-120"/>
              </a:rPr>
              <a:t>農耕の採用はローカルな文化プロセスであり、全球的強制ではなかった。</a:t>
            </a:r>
            <a:endParaRPr lang="en-US" sz="1200" dirty="0"/>
          </a:p>
          <a:p>
            <a:pPr indent="0" marL="0">
              <a:lnSpc>
                <a:spcPct val="105000"/>
              </a:lnSpc>
              <a:buNone/>
            </a:pPr>
            <a:endParaRPr lang="en-US" sz="1200" dirty="0"/>
          </a:p>
          <a:p>
            <a:pPr indent="0" marL="0">
              <a:lnSpc>
                <a:spcPct val="105000"/>
              </a:lnSpc>
              <a:buNone/>
            </a:pPr>
            <a:r>
              <a:rPr lang="en-US" sz="1200" dirty="0">
                <a:solidFill>
                  <a:srgbClr val="2D2D2D"/>
                </a:solidFill>
                <a:latin typeface="Calibri" pitchFamily="34" charset="0"/>
                <a:ea typeface="Calibri" pitchFamily="34" charset="-122"/>
                <a:cs typeface="Calibri" pitchFamily="34" charset="-120"/>
              </a:rPr>
              <a:t>初期完新世: ~9,500-9,700 cal BP、r = 0.77-0.79（後氷期拡大の同期性）</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4E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3B6FA0"/>
          </a:solidFill>
          <a:ln/>
        </p:spPr>
      </p:sp>
      <p:sp>
        <p:nvSpPr>
          <p:cNvPr id="3" name="Text 1"/>
          <p:cNvSpPr/>
          <p:nvPr/>
        </p:nvSpPr>
        <p:spPr>
          <a:xfrm>
            <a:off x="457200" y="4800600"/>
            <a:ext cx="8229600" cy="274320"/>
          </a:xfrm>
          <a:prstGeom prst="rect">
            <a:avLst/>
          </a:prstGeom>
          <a:noFill/>
          <a:ln/>
        </p:spPr>
        <p:txBody>
          <a:bodyPr wrap="square" rtlCol="0" anchor="ctr"/>
          <a:lstStyle/>
          <a:p>
            <a:pPr indent="0" marL="0">
              <a:buNone/>
            </a:pPr>
            <a:r>
              <a:rPr lang="en-US" sz="800" dirty="0">
                <a:solidFill>
                  <a:srgbClr val="666666"/>
                </a:solidFill>
                <a:latin typeface="Calibri" pitchFamily="34" charset="0"/>
                <a:ea typeface="Calibri" pitchFamily="34" charset="-122"/>
                <a:cs typeface="Calibri" pitchFamily="34" charset="-120"/>
              </a:rPr>
              <a:t>ArchEco — 完新世ユーラシアの人口動態同期性</a:t>
            </a:r>
            <a:endParaRPr lang="en-US" sz="800" dirty="0"/>
          </a:p>
        </p:txBody>
      </p:sp>
      <p:sp>
        <p:nvSpPr>
          <p:cNvPr id="4" name="Text 2"/>
          <p:cNvSpPr/>
          <p:nvPr/>
        </p:nvSpPr>
        <p:spPr>
          <a:xfrm>
            <a:off x="457200" y="228600"/>
            <a:ext cx="8229600" cy="457200"/>
          </a:xfrm>
          <a:prstGeom prst="rect">
            <a:avLst/>
          </a:prstGeom>
          <a:noFill/>
          <a:ln/>
        </p:spPr>
        <p:txBody>
          <a:bodyPr wrap="square" lIns="0" tIns="0" rIns="0" bIns="0" rtlCol="0" anchor="ctr"/>
          <a:lstStyle/>
          <a:p>
            <a:pPr indent="0" marL="0">
              <a:buNone/>
            </a:pPr>
            <a:r>
              <a:rPr lang="en-US" sz="2200" b="1" dirty="0">
                <a:solidFill>
                  <a:srgbClr val="1E2737"/>
                </a:solidFill>
                <a:latin typeface="Georgia" pitchFamily="34" charset="0"/>
                <a:ea typeface="Georgia" pitchFamily="34" charset="-122"/>
                <a:cs typeface="Georgia" pitchFamily="34" charset="-120"/>
              </a:rPr>
              <a:t>気候イベントへの地域別応答</a:t>
            </a:r>
            <a:endParaRPr lang="en-US" sz="2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274320" y="822960"/>
          <a:ext cx="8595360" cy="1828800"/>
        </p:xfrm>
        <a:graphic>
          <a:graphicData uri="http://schemas.openxmlformats.org/drawingml/2006/table">
            <a:tbl>
              <a:tblPr/>
              <a:tblGrid>
                <a:gridCol w="1371600"/>
                <a:gridCol w="1097280"/>
                <a:gridCol w="1097280"/>
                <a:gridCol w="1097280"/>
                <a:gridCol w="1371600"/>
                <a:gridCol w="1097280"/>
                <a:gridCol w="1463040"/>
              </a:tblGrid>
              <a:tr h="457200">
                <a:tc>
                  <a:txBody>
                    <a:bodyPr/>
                    <a:lstStyle/>
                    <a:p>
                      <a:pPr indent="0" marL="0">
                        <a:buNone/>
                      </a:pPr>
                      <a:r>
                        <a:rPr lang="en-US" sz="1000" b="1" dirty="0">
                          <a:solidFill>
                            <a:srgbClr val="FFFFFF"/>
                          </a:solidFill>
                        </a:rPr>
                        <a:t>イベント</a:t>
                      </a:r>
                      <a:endParaRPr lang="en-US" sz="1000" dirty="0"/>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1E2737"/>
                    </a:solidFill>
                  </a:tcPr>
                </a:tc>
                <a:tc>
                  <a:txBody>
                    <a:bodyPr/>
                    <a:lstStyle/>
                    <a:p>
                      <a:pPr algn="ctr" indent="0" marL="0">
                        <a:buNone/>
                      </a:pPr>
                      <a:r>
                        <a:rPr lang="en-US" sz="1000" b="1" dirty="0">
                          <a:solidFill>
                            <a:srgbClr val="FFFFFF"/>
                          </a:solidFill>
                        </a:rPr>
                        <a:t>英国</a:t>
                      </a:r>
                      <a:endParaRPr lang="en-US" sz="1000" dirty="0"/>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1E2737"/>
                    </a:solidFill>
                  </a:tcPr>
                </a:tc>
                <a:tc>
                  <a:txBody>
                    <a:bodyPr/>
                    <a:lstStyle/>
                    <a:p>
                      <a:pPr algn="ctr" indent="0" marL="0">
                        <a:buNone/>
                      </a:pPr>
                      <a:r>
                        <a:rPr lang="en-US" sz="1000" b="1" dirty="0">
                          <a:solidFill>
                            <a:srgbClr val="FFFFFF"/>
                          </a:solidFill>
                        </a:rPr>
                        <a:t>西欧</a:t>
                      </a:r>
                      <a:endParaRPr lang="en-US" sz="1000" dirty="0"/>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1E2737"/>
                    </a:solidFill>
                  </a:tcPr>
                </a:tc>
                <a:tc>
                  <a:txBody>
                    <a:bodyPr/>
                    <a:lstStyle/>
                    <a:p>
                      <a:pPr algn="ctr" indent="0" marL="0">
                        <a:buNone/>
                      </a:pPr>
                      <a:r>
                        <a:rPr lang="en-US" sz="1000" b="1" dirty="0">
                          <a:solidFill>
                            <a:srgbClr val="FFFFFF"/>
                          </a:solidFill>
                        </a:rPr>
                        <a:t>北欧</a:t>
                      </a:r>
                      <a:endParaRPr lang="en-US" sz="1000" dirty="0"/>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1E2737"/>
                    </a:solidFill>
                  </a:tcPr>
                </a:tc>
                <a:tc>
                  <a:txBody>
                    <a:bodyPr/>
                    <a:lstStyle/>
                    <a:p>
                      <a:pPr algn="ctr" indent="0" marL="0">
                        <a:buNone/>
                      </a:pPr>
                      <a:r>
                        <a:rPr lang="en-US" sz="1000" b="1" dirty="0">
                          <a:solidFill>
                            <a:srgbClr val="FFFFFF"/>
                          </a:solidFill>
                        </a:rPr>
                        <a:t>近東</a:t>
                      </a:r>
                      <a:endParaRPr lang="en-US" sz="1000" dirty="0"/>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1E2737"/>
                    </a:solidFill>
                  </a:tcPr>
                </a:tc>
                <a:tc>
                  <a:txBody>
                    <a:bodyPr/>
                    <a:lstStyle/>
                    <a:p>
                      <a:pPr algn="ctr" indent="0" marL="0">
                        <a:buNone/>
                      </a:pPr>
                      <a:r>
                        <a:rPr lang="en-US" sz="1000" b="1" dirty="0">
                          <a:solidFill>
                            <a:srgbClr val="FFFFFF"/>
                          </a:solidFill>
                        </a:rPr>
                        <a:t>中国</a:t>
                      </a:r>
                      <a:endParaRPr lang="en-US" sz="1000" dirty="0"/>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1E2737"/>
                    </a:solidFill>
                  </a:tcPr>
                </a:tc>
                <a:tc>
                  <a:txBody>
                    <a:bodyPr/>
                    <a:lstStyle/>
                    <a:p>
                      <a:pPr algn="ctr" indent="0" marL="0">
                        <a:buNone/>
                      </a:pPr>
                      <a:r>
                        <a:rPr lang="en-US" sz="1000" b="1" dirty="0">
                          <a:solidFill>
                            <a:srgbClr val="FFFFFF"/>
                          </a:solidFill>
                        </a:rPr>
                        <a:t>日本</a:t>
                      </a:r>
                      <a:endParaRPr lang="en-US" sz="1000" dirty="0"/>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1E2737"/>
                    </a:solidFill>
                  </a:tcPr>
                </a:tc>
              </a:tr>
              <a:tr h="457200">
                <a:tc>
                  <a:txBody>
                    <a:bodyPr/>
                    <a:lstStyle/>
                    <a:p>
                      <a:pPr indent="0" marL="0">
                        <a:buNone/>
                      </a:pPr>
                      <a:r>
                        <a:rPr lang="en-US" sz="1000" b="1" dirty="0">
                          <a:solidFill>
                            <a:srgbClr val="000000"/>
                          </a:solidFill>
                        </a:rPr>
                        <a:t>8.2ka</a:t>
                      </a:r>
                      <a:endParaRPr lang="en-US" sz="1000" dirty="0"/>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tcPr>
                </a:tc>
                <a:tc>
                  <a:txBody>
                    <a:bodyPr/>
                    <a:lstStyle/>
                    <a:p>
                      <a:pPr algn="ctr" indent="0" marL="0">
                        <a:buNone/>
                      </a:pPr>
                      <a:r>
                        <a:rPr lang="en-US" sz="1000" dirty="0">
                          <a:solidFill>
                            <a:srgbClr val="B85042"/>
                          </a:solidFill>
                        </a:rPr>
                        <a:t>-0.98</a:t>
                      </a:r>
                      <a:endParaRPr lang="en-US" sz="1000" dirty="0"/>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tcPr>
                </a:tc>
                <a:tc>
                  <a:txBody>
                    <a:bodyPr/>
                    <a:lstStyle/>
                    <a:p>
                      <a:pPr algn="ctr" indent="0" marL="0">
                        <a:buNone/>
                      </a:pPr>
                      <a:r>
                        <a:rPr lang="en-US" sz="1000" dirty="0">
                          <a:solidFill>
                            <a:srgbClr val="B85042"/>
                          </a:solidFill>
                        </a:rPr>
                        <a:t>-0.86</a:t>
                      </a:r>
                      <a:endParaRPr lang="en-US" sz="1000" dirty="0"/>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tcPr>
                </a:tc>
                <a:tc>
                  <a:txBody>
                    <a:bodyPr/>
                    <a:lstStyle/>
                    <a:p>
                      <a:pPr algn="ctr" indent="0" marL="0">
                        <a:buNone/>
                      </a:pPr>
                      <a:r>
                        <a:rPr lang="en-US" sz="1000" b="1" dirty="0">
                          <a:solidFill>
                            <a:srgbClr val="B85042"/>
                          </a:solidFill>
                        </a:rPr>
                        <a:t>-1.09</a:t>
                      </a:r>
                      <a:endParaRPr lang="en-US" sz="1000" dirty="0"/>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tcPr>
                </a:tc>
                <a:tc>
                  <a:txBody>
                    <a:bodyPr/>
                    <a:lstStyle/>
                    <a:p>
                      <a:pPr algn="ctr" indent="0" marL="0">
                        <a:buNone/>
                      </a:pPr>
                      <a:r>
                        <a:rPr lang="en-US" sz="1000" b="1" dirty="0">
                          <a:solidFill>
                            <a:srgbClr val="2C5F2D"/>
                          </a:solidFill>
                        </a:rPr>
                        <a:t>+1.54</a:t>
                      </a:r>
                      <a:endParaRPr lang="en-US" sz="1000" dirty="0"/>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tcPr>
                </a:tc>
                <a:tc>
                  <a:txBody>
                    <a:bodyPr/>
                    <a:lstStyle/>
                    <a:p>
                      <a:pPr algn="ctr" indent="0" marL="0">
                        <a:buNone/>
                      </a:pPr>
                      <a:r>
                        <a:rPr lang="en-US" sz="1000" dirty="0">
                          <a:solidFill>
                            <a:srgbClr val="B85042"/>
                          </a:solidFill>
                        </a:rPr>
                        <a:t>-1.06</a:t>
                      </a:r>
                      <a:endParaRPr lang="en-US" sz="1000" dirty="0"/>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tcPr>
                </a:tc>
                <a:tc>
                  <a:txBody>
                    <a:bodyPr/>
                    <a:lstStyle/>
                    <a:p>
                      <a:pPr algn="ctr" indent="0" marL="0">
                        <a:buNone/>
                      </a:pPr>
                      <a:r>
                        <a:rPr lang="en-US" sz="1000" dirty="0">
                          <a:solidFill>
                            <a:srgbClr val="000000"/>
                          </a:solidFill>
                        </a:rPr>
                        <a:t>-0.47</a:t>
                      </a:r>
                      <a:endParaRPr lang="en-US" sz="1000" dirty="0"/>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tcPr>
                </a:tc>
              </a:tr>
              <a:tr h="457200">
                <a:tc>
                  <a:txBody>
                    <a:bodyPr/>
                    <a:lstStyle/>
                    <a:p>
                      <a:pPr indent="0" marL="0">
                        <a:buNone/>
                      </a:pPr>
                      <a:r>
                        <a:rPr lang="en-US" sz="1000" b="1" dirty="0">
                          <a:solidFill>
                            <a:srgbClr val="000000"/>
                          </a:solidFill>
                        </a:rPr>
                        <a:t>4.2ka</a:t>
                      </a:r>
                      <a:endParaRPr lang="en-US" sz="1000" dirty="0"/>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tcPr>
                </a:tc>
                <a:tc>
                  <a:txBody>
                    <a:bodyPr/>
                    <a:lstStyle/>
                    <a:p>
                      <a:pPr algn="ctr" indent="0" marL="0">
                        <a:buNone/>
                      </a:pPr>
                      <a:r>
                        <a:rPr lang="en-US" sz="1000" dirty="0">
                          <a:solidFill>
                            <a:srgbClr val="000000"/>
                          </a:solidFill>
                        </a:rPr>
                        <a:t>+0.81</a:t>
                      </a:r>
                      <a:endParaRPr lang="en-US" sz="1000" dirty="0"/>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tcPr>
                </a:tc>
                <a:tc>
                  <a:txBody>
                    <a:bodyPr/>
                    <a:lstStyle/>
                    <a:p>
                      <a:pPr algn="ctr" indent="0" marL="0">
                        <a:buNone/>
                      </a:pPr>
                      <a:r>
                        <a:rPr lang="en-US" sz="1000" dirty="0">
                          <a:solidFill>
                            <a:srgbClr val="2C5F2D"/>
                          </a:solidFill>
                        </a:rPr>
                        <a:t>+1.10</a:t>
                      </a:r>
                      <a:endParaRPr lang="en-US" sz="1000" dirty="0"/>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tcPr>
                </a:tc>
                <a:tc>
                  <a:txBody>
                    <a:bodyPr/>
                    <a:lstStyle/>
                    <a:p>
                      <a:pPr algn="ctr" indent="0" marL="0">
                        <a:buNone/>
                      </a:pPr>
                      <a:r>
                        <a:rPr lang="en-US" sz="1000" dirty="0">
                          <a:solidFill>
                            <a:srgbClr val="000000"/>
                          </a:solidFill>
                        </a:rPr>
                        <a:t>-0.14</a:t>
                      </a:r>
                      <a:endParaRPr lang="en-US" sz="1000" dirty="0"/>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tcPr>
                </a:tc>
                <a:tc>
                  <a:txBody>
                    <a:bodyPr/>
                    <a:lstStyle/>
                    <a:p>
                      <a:pPr algn="ctr" indent="0" marL="0">
                        <a:buNone/>
                      </a:pPr>
                      <a:r>
                        <a:rPr lang="en-US" sz="1000" dirty="0">
                          <a:solidFill>
                            <a:srgbClr val="000000"/>
                          </a:solidFill>
                        </a:rPr>
                        <a:t>-0.44</a:t>
                      </a:r>
                      <a:endParaRPr lang="en-US" sz="1000" dirty="0"/>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tcPr>
                </a:tc>
                <a:tc>
                  <a:txBody>
                    <a:bodyPr/>
                    <a:lstStyle/>
                    <a:p>
                      <a:pPr algn="ctr" indent="0" marL="0">
                        <a:buNone/>
                      </a:pPr>
                      <a:r>
                        <a:rPr lang="en-US" sz="1000" dirty="0">
                          <a:solidFill>
                            <a:srgbClr val="000000"/>
                          </a:solidFill>
                        </a:rPr>
                        <a:t>+0.89</a:t>
                      </a:r>
                      <a:endParaRPr lang="en-US" sz="1000" dirty="0"/>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tcPr>
                </a:tc>
                <a:tc>
                  <a:txBody>
                    <a:bodyPr/>
                    <a:lstStyle/>
                    <a:p>
                      <a:pPr algn="ctr" indent="0" marL="0">
                        <a:buNone/>
                      </a:pPr>
                      <a:r>
                        <a:rPr lang="en-US" sz="1000" b="1" dirty="0">
                          <a:solidFill>
                            <a:srgbClr val="2C5F2D"/>
                          </a:solidFill>
                        </a:rPr>
                        <a:t>+1.62</a:t>
                      </a:r>
                      <a:endParaRPr lang="en-US" sz="1000" dirty="0"/>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tcPr>
                </a:tc>
              </a:tr>
              <a:tr h="457200">
                <a:tc>
                  <a:txBody>
                    <a:bodyPr/>
                    <a:lstStyle/>
                    <a:p>
                      <a:pPr indent="0" marL="0">
                        <a:buNone/>
                      </a:pPr>
                      <a:r>
                        <a:rPr lang="en-US" sz="1000" b="1" dirty="0">
                          <a:solidFill>
                            <a:srgbClr val="000000"/>
                          </a:solidFill>
                        </a:rPr>
                        <a:t>3.2ka LBA</a:t>
                      </a:r>
                      <a:endParaRPr lang="en-US" sz="1000" dirty="0"/>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tcPr>
                </a:tc>
                <a:tc>
                  <a:txBody>
                    <a:bodyPr/>
                    <a:lstStyle/>
                    <a:p>
                      <a:pPr algn="ctr" indent="0" marL="0">
                        <a:buNone/>
                      </a:pPr>
                      <a:r>
                        <a:rPr lang="en-US" sz="1000" dirty="0">
                          <a:solidFill>
                            <a:srgbClr val="2C5F2D"/>
                          </a:solidFill>
                        </a:rPr>
                        <a:t>+1.10</a:t>
                      </a:r>
                      <a:endParaRPr lang="en-US" sz="1000" dirty="0"/>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tcPr>
                </a:tc>
                <a:tc>
                  <a:txBody>
                    <a:bodyPr/>
                    <a:lstStyle/>
                    <a:p>
                      <a:pPr algn="ctr" indent="0" marL="0">
                        <a:buNone/>
                      </a:pPr>
                      <a:r>
                        <a:rPr lang="en-US" sz="1000" dirty="0">
                          <a:solidFill>
                            <a:srgbClr val="2C5F2D"/>
                          </a:solidFill>
                        </a:rPr>
                        <a:t>+1.06</a:t>
                      </a:r>
                      <a:endParaRPr lang="en-US" sz="1000" dirty="0"/>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tcPr>
                </a:tc>
                <a:tc>
                  <a:txBody>
                    <a:bodyPr/>
                    <a:lstStyle/>
                    <a:p>
                      <a:pPr algn="ctr" indent="0" marL="0">
                        <a:buNone/>
                      </a:pPr>
                      <a:r>
                        <a:rPr lang="en-US" sz="1000" dirty="0">
                          <a:solidFill>
                            <a:srgbClr val="000000"/>
                          </a:solidFill>
                        </a:rPr>
                        <a:t>+0.67</a:t>
                      </a:r>
                      <a:endParaRPr lang="en-US" sz="1000" dirty="0"/>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tcPr>
                </a:tc>
                <a:tc>
                  <a:txBody>
                    <a:bodyPr/>
                    <a:lstStyle/>
                    <a:p>
                      <a:pPr algn="ctr" indent="0" marL="0">
                        <a:buNone/>
                      </a:pPr>
                      <a:r>
                        <a:rPr lang="en-US" sz="1000" dirty="0">
                          <a:solidFill>
                            <a:srgbClr val="B85042"/>
                          </a:solidFill>
                        </a:rPr>
                        <a:t>-0.90</a:t>
                      </a:r>
                      <a:endParaRPr lang="en-US" sz="1000" dirty="0"/>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tcPr>
                </a:tc>
                <a:tc>
                  <a:txBody>
                    <a:bodyPr/>
                    <a:lstStyle/>
                    <a:p>
                      <a:pPr algn="ctr" indent="0" marL="0">
                        <a:buNone/>
                      </a:pPr>
                      <a:r>
                        <a:rPr lang="en-US" sz="1000" b="1" dirty="0">
                          <a:solidFill>
                            <a:srgbClr val="2C5F2D"/>
                          </a:solidFill>
                        </a:rPr>
                        <a:t>+1.42</a:t>
                      </a:r>
                      <a:endParaRPr lang="en-US" sz="1000" dirty="0"/>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tcPr>
                </a:tc>
                <a:tc>
                  <a:txBody>
                    <a:bodyPr/>
                    <a:lstStyle/>
                    <a:p>
                      <a:pPr algn="ctr" indent="0" marL="0">
                        <a:buNone/>
                      </a:pPr>
                      <a:r>
                        <a:rPr lang="en-US" sz="1000" dirty="0">
                          <a:solidFill>
                            <a:srgbClr val="000000"/>
                          </a:solidFill>
                        </a:rPr>
                        <a:t>+0.66</a:t>
                      </a:r>
                      <a:endParaRPr lang="en-US" sz="1000" dirty="0"/>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tcPr>
                </a:tc>
              </a:tr>
            </a:tbl>
          </a:graphicData>
        </a:graphic>
      </p:graphicFrame>
      <p:sp>
        <p:nvSpPr>
          <p:cNvPr id="6" name="Text 3"/>
          <p:cNvSpPr/>
          <p:nvPr/>
        </p:nvSpPr>
        <p:spPr>
          <a:xfrm>
            <a:off x="640080" y="2834640"/>
            <a:ext cx="7863840" cy="1828800"/>
          </a:xfrm>
          <a:prstGeom prst="rect">
            <a:avLst/>
          </a:prstGeom>
          <a:noFill/>
          <a:ln/>
        </p:spPr>
        <p:txBody>
          <a:bodyPr wrap="square" rtlCol="0" anchor="t"/>
          <a:lstStyle/>
          <a:p>
            <a:pPr indent="0" marL="0">
              <a:lnSpc>
                <a:spcPct val="105000"/>
              </a:lnSpc>
              <a:buNone/>
            </a:pPr>
            <a:r>
              <a:rPr lang="en-US" sz="1200" dirty="0">
                <a:solidFill>
                  <a:srgbClr val="666666"/>
                </a:solidFill>
                <a:latin typeface="Calibri" pitchFamily="34" charset="0"/>
                <a:ea typeface="Calibri" pitchFamily="34" charset="-122"/>
                <a:cs typeface="Calibri" pitchFamily="34" charset="-120"/>
              </a:rPr>
              <a:t>Zスコア: 正（青）= 平均以上の人口、負（赤）= 平均以下の人口</a:t>
            </a:r>
            <a:endParaRPr lang="en-US" sz="1200" dirty="0"/>
          </a:p>
          <a:p>
            <a:pPr indent="0" marL="0">
              <a:lnSpc>
                <a:spcPct val="105000"/>
              </a:lnSpc>
              <a:buNone/>
            </a:pPr>
            <a:endParaRPr lang="en-US" sz="1200" dirty="0"/>
          </a:p>
          <a:p>
            <a:pPr indent="0" marL="0">
              <a:lnSpc>
                <a:spcPct val="105000"/>
              </a:lnSpc>
              <a:buNone/>
            </a:pPr>
            <a:r>
              <a:rPr lang="en-US" sz="1200" dirty="0">
                <a:solidFill>
                  <a:srgbClr val="2D2D2D"/>
                </a:solidFill>
                <a:latin typeface="Calibri" pitchFamily="34" charset="0"/>
                <a:ea typeface="Calibri" pitchFamily="34" charset="-122"/>
                <a:cs typeface="Calibri" pitchFamily="34" charset="-120"/>
              </a:rPr>
              <a:t>8.2kaイベント: 欧州・中国は人口減少、しかし近東は人口増加（+1.54）。</a:t>
            </a:r>
            <a:endParaRPr lang="en-US" sz="1200" dirty="0"/>
          </a:p>
          <a:p>
            <a:pPr indent="0" marL="0">
              <a:lnSpc>
                <a:spcPct val="105000"/>
              </a:lnSpc>
              <a:buNone/>
            </a:pPr>
            <a:r>
              <a:rPr lang="en-US" sz="1200" b="1" dirty="0">
                <a:solidFill>
                  <a:srgbClr val="2D2D2D"/>
                </a:solidFill>
                <a:latin typeface="Calibri" pitchFamily="34" charset="0"/>
                <a:ea typeface="Calibri" pitchFamily="34" charset="-122"/>
                <a:cs typeface="Calibri" pitchFamily="34" charset="-120"/>
              </a:rPr>
              <a:t>→ 近東は気候レフュジアまたは灌漑農業が緩衝。</a:t>
            </a:r>
            <a:endParaRPr lang="en-US" sz="1200" dirty="0"/>
          </a:p>
          <a:p>
            <a:pPr indent="0" marL="0">
              <a:lnSpc>
                <a:spcPct val="105000"/>
              </a:lnSpc>
              <a:buNone/>
            </a:pPr>
            <a:endParaRPr lang="en-US" sz="1200" dirty="0"/>
          </a:p>
          <a:p>
            <a:pPr indent="0" marL="0">
              <a:lnSpc>
                <a:spcPct val="105000"/>
              </a:lnSpc>
              <a:buNone/>
            </a:pPr>
            <a:r>
              <a:rPr lang="en-US" sz="1200" dirty="0">
                <a:solidFill>
                  <a:srgbClr val="2D2D2D"/>
                </a:solidFill>
                <a:latin typeface="Calibri" pitchFamily="34" charset="0"/>
                <a:ea typeface="Calibri" pitchFamily="34" charset="-122"/>
                <a:cs typeface="Calibri" pitchFamily="34" charset="-120"/>
              </a:rPr>
              <a:t>4.2kaイベント: 多くの地域で平均以上の人口。「崩壊」の物語は全球的に不成立。</a:t>
            </a:r>
            <a:endParaRPr lang="en-US" sz="1200" dirty="0"/>
          </a:p>
          <a:p>
            <a:pPr indent="0" marL="0">
              <a:lnSpc>
                <a:spcPct val="105000"/>
              </a:lnSpc>
              <a:buNone/>
            </a:pPr>
            <a:endParaRPr lang="en-US" sz="1200" dirty="0"/>
          </a:p>
          <a:p>
            <a:pPr indent="0" marL="0">
              <a:lnSpc>
                <a:spcPct val="105000"/>
              </a:lnSpc>
              <a:buNone/>
            </a:pPr>
            <a:r>
              <a:rPr lang="en-US" sz="1200" b="1" dirty="0">
                <a:solidFill>
                  <a:srgbClr val="2C5F2D"/>
                </a:solidFill>
                <a:latin typeface="Calibri" pitchFamily="34" charset="0"/>
                <a:ea typeface="Calibri" pitchFamily="34" charset="-122"/>
                <a:cs typeface="Calibri" pitchFamily="34" charset="-120"/>
              </a:rPr>
              <a:t>結論: 全球的同期性は「同一の応答」ではなく「共有の擾乱への多様な応答」。</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4E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3B6FA0"/>
          </a:solidFill>
          <a:ln/>
        </p:spPr>
      </p:sp>
      <p:sp>
        <p:nvSpPr>
          <p:cNvPr id="3" name="Text 1"/>
          <p:cNvSpPr/>
          <p:nvPr/>
        </p:nvSpPr>
        <p:spPr>
          <a:xfrm>
            <a:off x="457200" y="4800600"/>
            <a:ext cx="8229600" cy="274320"/>
          </a:xfrm>
          <a:prstGeom prst="rect">
            <a:avLst/>
          </a:prstGeom>
          <a:noFill/>
          <a:ln/>
        </p:spPr>
        <p:txBody>
          <a:bodyPr wrap="square" rtlCol="0" anchor="ctr"/>
          <a:lstStyle/>
          <a:p>
            <a:pPr indent="0" marL="0">
              <a:buNone/>
            </a:pPr>
            <a:r>
              <a:rPr lang="en-US" sz="800" dirty="0">
                <a:solidFill>
                  <a:srgbClr val="666666"/>
                </a:solidFill>
                <a:latin typeface="Calibri" pitchFamily="34" charset="0"/>
                <a:ea typeface="Calibri" pitchFamily="34" charset="-122"/>
                <a:cs typeface="Calibri" pitchFamily="34" charset="-120"/>
              </a:rPr>
              <a:t>ArchEco — 完新世ユーラシアの人口動態同期性</a:t>
            </a:r>
            <a:endParaRPr lang="en-US" sz="800" dirty="0"/>
          </a:p>
        </p:txBody>
      </p:sp>
      <p:sp>
        <p:nvSpPr>
          <p:cNvPr id="4" name="Text 2"/>
          <p:cNvSpPr/>
          <p:nvPr/>
        </p:nvSpPr>
        <p:spPr>
          <a:xfrm>
            <a:off x="457200" y="228600"/>
            <a:ext cx="8229600" cy="457200"/>
          </a:xfrm>
          <a:prstGeom prst="rect">
            <a:avLst/>
          </a:prstGeom>
          <a:noFill/>
          <a:ln/>
        </p:spPr>
        <p:txBody>
          <a:bodyPr wrap="square" lIns="0" tIns="0" rIns="0" bIns="0" rtlCol="0" anchor="ctr"/>
          <a:lstStyle/>
          <a:p>
            <a:pPr indent="0" marL="0">
              <a:buNone/>
            </a:pPr>
            <a:r>
              <a:rPr lang="en-US" sz="2200" b="1" dirty="0">
                <a:solidFill>
                  <a:srgbClr val="1E2737"/>
                </a:solidFill>
                <a:latin typeface="Georgia" pitchFamily="34" charset="0"/>
                <a:ea typeface="Georgia" pitchFamily="34" charset="-122"/>
                <a:cs typeface="Georgia" pitchFamily="34" charset="-120"/>
              </a:rPr>
              <a:t>限界と今後の課題</a:t>
            </a:r>
            <a:endParaRPr lang="en-US" sz="2200" dirty="0"/>
          </a:p>
        </p:txBody>
      </p:sp>
      <p:sp>
        <p:nvSpPr>
          <p:cNvPr id="5" name="Text 3"/>
          <p:cNvSpPr/>
          <p:nvPr/>
        </p:nvSpPr>
        <p:spPr>
          <a:xfrm>
            <a:off x="640080" y="731520"/>
            <a:ext cx="7863840" cy="3840480"/>
          </a:xfrm>
          <a:prstGeom prst="rect">
            <a:avLst/>
          </a:prstGeom>
          <a:noFill/>
          <a:ln/>
        </p:spPr>
        <p:txBody>
          <a:bodyPr wrap="square" rtlCol="0" anchor="t"/>
          <a:lstStyle/>
          <a:p>
            <a:pPr indent="0" marL="0">
              <a:lnSpc>
                <a:spcPct val="105000"/>
              </a:lnSpc>
              <a:buNone/>
            </a:pPr>
            <a:r>
              <a:rPr lang="en-US" sz="1150" b="1" dirty="0">
                <a:solidFill>
                  <a:srgbClr val="2D2D2D"/>
                </a:solidFill>
                <a:latin typeface="Calibri" pitchFamily="34" charset="0"/>
                <a:ea typeface="Calibri" pitchFamily="34" charset="-122"/>
                <a:cs typeface="Calibri" pitchFamily="34" charset="-120"/>
              </a:rPr>
              <a:t>1. 較正曲線アーティファクト</a:t>
            </a:r>
            <a:endParaRPr lang="en-US" sz="1150" dirty="0"/>
          </a:p>
          <a:p>
            <a:pPr indent="0" marL="0">
              <a:lnSpc>
                <a:spcPct val="105000"/>
              </a:lnSpc>
              <a:buNone/>
            </a:pPr>
            <a:r>
              <a:rPr lang="en-US" sz="1150" dirty="0">
                <a:solidFill>
                  <a:srgbClr val="2D2D2D"/>
                </a:solidFill>
                <a:latin typeface="Calibri" pitchFamily="34" charset="0"/>
                <a:ea typeface="Calibri" pitchFamily="34" charset="-122"/>
                <a:cs typeface="Calibri" pitchFamily="34" charset="-120"/>
              </a:rPr>
              <a:t>現在の検定はランダム置換。より強い検定（地域別パラメトリックモデル）が必要。</a:t>
            </a:r>
            <a:endParaRPr lang="en-US" sz="1150" dirty="0"/>
          </a:p>
          <a:p>
            <a:pPr indent="0" marL="0">
              <a:lnSpc>
                <a:spcPct val="105000"/>
              </a:lnSpc>
              <a:buNone/>
            </a:pPr>
            <a:r>
              <a:rPr lang="en-US" sz="1150" dirty="0">
                <a:solidFill>
                  <a:srgbClr val="2D2D2D"/>
                </a:solidFill>
                <a:latin typeface="Calibri" pitchFamily="34" charset="0"/>
                <a:ea typeface="Calibri" pitchFamily="34" charset="-122"/>
                <a:cs typeface="Calibri" pitchFamily="34" charset="-120"/>
              </a:rPr>
              <a:t>スペクトル分析で較正曲線の周波数に同期性が集中するか検証すべき。</a:t>
            </a:r>
            <a:endParaRPr lang="en-US" sz="1150" dirty="0"/>
          </a:p>
          <a:p>
            <a:pPr indent="0" marL="0">
              <a:lnSpc>
                <a:spcPct val="105000"/>
              </a:lnSpc>
              <a:buNone/>
            </a:pPr>
            <a:endParaRPr lang="en-US" sz="1150" dirty="0"/>
          </a:p>
          <a:p>
            <a:pPr indent="0" marL="0">
              <a:lnSpc>
                <a:spcPct val="105000"/>
              </a:lnSpc>
              <a:buNone/>
            </a:pPr>
            <a:r>
              <a:rPr lang="en-US" sz="1150" b="1" dirty="0">
                <a:solidFill>
                  <a:srgbClr val="2D2D2D"/>
                </a:solidFill>
                <a:latin typeface="Calibri" pitchFamily="34" charset="0"/>
                <a:ea typeface="Calibri" pitchFamily="34" charset="-122"/>
                <a:cs typeface="Calibri" pitchFamily="34" charset="-120"/>
              </a:rPr>
              <a:t>2. 気候プロキシ</a:t>
            </a:r>
            <a:endParaRPr lang="en-US" sz="1150" dirty="0"/>
          </a:p>
          <a:p>
            <a:pPr indent="0" marL="0">
              <a:lnSpc>
                <a:spcPct val="105000"/>
              </a:lnSpc>
              <a:buNone/>
            </a:pPr>
            <a:r>
              <a:rPr lang="en-US" sz="1150" dirty="0">
                <a:solidFill>
                  <a:srgbClr val="2D2D2D"/>
                </a:solidFill>
                <a:latin typeface="Calibri" pitchFamily="34" charset="0"/>
                <a:ea typeface="Calibri" pitchFamily="34" charset="-122"/>
                <a:cs typeface="Calibri" pitchFamily="34" charset="-120"/>
              </a:rPr>
              <a:t>合成プロキシの限界。実際のGISP2 δ¹⁸O、洞窟スペレオセム、</a:t>
            </a:r>
            <a:endParaRPr lang="en-US" sz="1150" dirty="0"/>
          </a:p>
          <a:p>
            <a:pPr indent="0" marL="0">
              <a:lnSpc>
                <a:spcPct val="105000"/>
              </a:lnSpc>
              <a:buNone/>
            </a:pPr>
            <a:r>
              <a:rPr lang="en-US" sz="1150" dirty="0">
                <a:solidFill>
                  <a:srgbClr val="2D2D2D"/>
                </a:solidFill>
                <a:latin typeface="Calibri" pitchFamily="34" charset="0"/>
                <a:ea typeface="Calibri" pitchFamily="34" charset="-122"/>
                <a:cs typeface="Calibri" pitchFamily="34" charset="-120"/>
              </a:rPr>
              <a:t>地域別気候記録との比較が必要。</a:t>
            </a:r>
            <a:endParaRPr lang="en-US" sz="1150" dirty="0"/>
          </a:p>
          <a:p>
            <a:pPr indent="0" marL="0">
              <a:lnSpc>
                <a:spcPct val="105000"/>
              </a:lnSpc>
              <a:buNone/>
            </a:pPr>
            <a:endParaRPr lang="en-US" sz="1150" dirty="0"/>
          </a:p>
          <a:p>
            <a:pPr indent="0" marL="0">
              <a:lnSpc>
                <a:spcPct val="105000"/>
              </a:lnSpc>
              <a:buNone/>
            </a:pPr>
            <a:r>
              <a:rPr lang="en-US" sz="1150" b="1" dirty="0">
                <a:solidFill>
                  <a:srgbClr val="2D2D2D"/>
                </a:solidFill>
                <a:latin typeface="Calibri" pitchFamily="34" charset="0"/>
                <a:ea typeface="Calibri" pitchFamily="34" charset="-122"/>
                <a:cs typeface="Calibri" pitchFamily="34" charset="-120"/>
              </a:rPr>
              <a:t>3. サンプルサイズ依存性</a:t>
            </a:r>
            <a:endParaRPr lang="en-US" sz="1150" dirty="0"/>
          </a:p>
          <a:p>
            <a:pPr indent="0" marL="0">
              <a:lnSpc>
                <a:spcPct val="105000"/>
              </a:lnSpc>
              <a:buNone/>
            </a:pPr>
            <a:r>
              <a:rPr lang="en-US" sz="1150" dirty="0">
                <a:solidFill>
                  <a:srgbClr val="2D2D2D"/>
                </a:solidFill>
                <a:latin typeface="Calibri" pitchFamily="34" charset="0"/>
                <a:ea typeface="Calibri" pitchFamily="34" charset="-122"/>
                <a:cs typeface="Calibri" pitchFamily="34" charset="-120"/>
              </a:rPr>
              <a:t>英国29,794件 vs 日本1,433件。等Nサブサンプリングでr=0.529→0.307（42%低下）。</a:t>
            </a:r>
            <a:endParaRPr lang="en-US" sz="1150" dirty="0"/>
          </a:p>
          <a:p>
            <a:pPr indent="0" marL="0">
              <a:lnSpc>
                <a:spcPct val="105000"/>
              </a:lnSpc>
              <a:buNone/>
            </a:pPr>
            <a:r>
              <a:rPr lang="en-US" sz="1150" dirty="0">
                <a:solidFill>
                  <a:srgbClr val="2D2D2D"/>
                </a:solidFill>
                <a:latin typeface="Calibri" pitchFamily="34" charset="0"/>
                <a:ea typeface="Calibri" pitchFamily="34" charset="-122"/>
                <a:cs typeface="Calibri" pitchFamily="34" charset="-120"/>
              </a:rPr>
              <a:t>絶対値はサンプルサイズに依存。今後の研究は両方の推定値を報告すべき。</a:t>
            </a:r>
            <a:endParaRPr lang="en-US" sz="1150" dirty="0"/>
          </a:p>
          <a:p>
            <a:pPr indent="0" marL="0">
              <a:lnSpc>
                <a:spcPct val="105000"/>
              </a:lnSpc>
              <a:buNone/>
            </a:pPr>
            <a:endParaRPr lang="en-US" sz="1150" dirty="0"/>
          </a:p>
          <a:p>
            <a:pPr indent="0" marL="0">
              <a:lnSpc>
                <a:spcPct val="105000"/>
              </a:lnSpc>
              <a:buNone/>
            </a:pPr>
            <a:r>
              <a:rPr lang="en-US" sz="1150" b="1" dirty="0">
                <a:solidFill>
                  <a:srgbClr val="2D2D2D"/>
                </a:solidFill>
                <a:latin typeface="Calibri" pitchFamily="34" charset="0"/>
                <a:ea typeface="Calibri" pitchFamily="34" charset="-122"/>
                <a:cs typeface="Calibri" pitchFamily="34" charset="-120"/>
              </a:rPr>
              <a:t>4. 北半球のみ</a:t>
            </a:r>
            <a:endParaRPr lang="en-US" sz="1150" dirty="0"/>
          </a:p>
          <a:p>
            <a:pPr indent="0" marL="0">
              <a:lnSpc>
                <a:spcPct val="105000"/>
              </a:lnSpc>
              <a:buNone/>
            </a:pPr>
            <a:r>
              <a:rPr lang="en-US" sz="1150" dirty="0">
                <a:solidFill>
                  <a:srgbClr val="2D2D2D"/>
                </a:solidFill>
                <a:latin typeface="Calibri" pitchFamily="34" charset="0"/>
                <a:ea typeface="Calibri" pitchFamily="34" charset="-122"/>
                <a:cs typeface="Calibri" pitchFamily="34" charset="-120"/>
              </a:rPr>
              <a:t>南半球（サハラ以南アフリカ、南米、オーストラリア）への拡張で</a:t>
            </a:r>
            <a:endParaRPr lang="en-US" sz="1150" dirty="0"/>
          </a:p>
          <a:p>
            <a:pPr indent="0" marL="0">
              <a:lnSpc>
                <a:spcPct val="105000"/>
              </a:lnSpc>
              <a:buNone/>
            </a:pPr>
            <a:r>
              <a:rPr lang="en-US" sz="1150" dirty="0">
                <a:solidFill>
                  <a:srgbClr val="2D2D2D"/>
                </a:solidFill>
                <a:latin typeface="Calibri" pitchFamily="34" charset="0"/>
                <a:ea typeface="Calibri" pitchFamily="34" charset="-122"/>
                <a:cs typeface="Calibri" pitchFamily="34" charset="-120"/>
              </a:rPr>
              <a:t>SHCal較正曲線を使用→較正アーティファクトの決定的検証が可能。</a:t>
            </a:r>
            <a:endParaRPr lang="en-US" sz="11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E2737"/>
        </a:solidFill>
      </p:bgPr>
    </p:bg>
    <p:spTree>
      <p:nvGrpSpPr>
        <p:cNvPr id="1" name=""/>
        <p:cNvGrpSpPr/>
        <p:nvPr/>
      </p:nvGrpSpPr>
      <p:grpSpPr>
        <a:xfrm>
          <a:off x="0" y="0"/>
          <a:ext cx="0" cy="0"/>
          <a:chOff x="0" y="0"/>
          <a:chExt cx="0" cy="0"/>
        </a:xfrm>
      </p:grpSpPr>
      <p:sp>
        <p:nvSpPr>
          <p:cNvPr id="2" name="Text 0"/>
          <p:cNvSpPr/>
          <p:nvPr/>
        </p:nvSpPr>
        <p:spPr>
          <a:xfrm>
            <a:off x="731520" y="182880"/>
            <a:ext cx="7680960" cy="365760"/>
          </a:xfrm>
          <a:prstGeom prst="rect">
            <a:avLst/>
          </a:prstGeom>
          <a:noFill/>
          <a:ln/>
        </p:spPr>
        <p:txBody>
          <a:bodyPr wrap="square" rtlCol="0" anchor="ctr"/>
          <a:lstStyle/>
          <a:p>
            <a:pPr indent="0" marL="0">
              <a:buNone/>
            </a:pPr>
            <a:r>
              <a:rPr lang="en-US" sz="1400" b="1" dirty="0">
                <a:solidFill>
                  <a:srgbClr val="97BC62"/>
                </a:solidFill>
                <a:latin typeface="Calibri" pitchFamily="34" charset="0"/>
                <a:ea typeface="Calibri" pitchFamily="34" charset="-122"/>
                <a:cs typeface="Calibri" pitchFamily="34" charset="-120"/>
              </a:rPr>
              <a:t>結論</a:t>
            </a:r>
            <a:endParaRPr lang="en-US" sz="1400" dirty="0"/>
          </a:p>
        </p:txBody>
      </p:sp>
      <p:sp>
        <p:nvSpPr>
          <p:cNvPr id="3" name="Text 1"/>
          <p:cNvSpPr/>
          <p:nvPr/>
        </p:nvSpPr>
        <p:spPr>
          <a:xfrm>
            <a:off x="731520" y="640080"/>
            <a:ext cx="7680960" cy="4114800"/>
          </a:xfrm>
          <a:prstGeom prst="rect">
            <a:avLst/>
          </a:prstGeom>
          <a:noFill/>
          <a:ln/>
        </p:spPr>
        <p:txBody>
          <a:bodyPr wrap="square" rtlCol="0" anchor="t"/>
          <a:lstStyle/>
          <a:p>
            <a:pPr indent="0" marL="0">
              <a:lnSpc>
                <a:spcPct val="105000"/>
              </a:lnSpc>
              <a:buNone/>
            </a:pPr>
            <a:r>
              <a:rPr lang="en-US" sz="1250" b="1" dirty="0">
                <a:solidFill>
                  <a:srgbClr val="97BC62"/>
                </a:solidFill>
                <a:latin typeface="Calibri" pitchFamily="34" charset="0"/>
                <a:ea typeface="Calibri" pitchFamily="34" charset="-122"/>
                <a:cs typeface="Calibri" pitchFamily="34" charset="-120"/>
              </a:rPr>
              <a:t>1. </a:t>
            </a:r>
            <a:pPr indent="0" marL="0">
              <a:lnSpc>
                <a:spcPct val="105000"/>
              </a:lnSpc>
              <a:buNone/>
            </a:pPr>
            <a:r>
              <a:rPr lang="en-US" sz="1250" dirty="0">
                <a:solidFill>
                  <a:srgbClr val="F7F4EF"/>
                </a:solidFill>
                <a:latin typeface="Calibri" pitchFamily="34" charset="0"/>
                <a:ea typeface="Calibri" pitchFamily="34" charset="-122"/>
                <a:cs typeface="Calibri" pitchFamily="34" charset="-120"/>
              </a:rPr>
              <a:t>完新世ユーラシアの人口動態は連動している（平均r=0.458、20/21有意）。</a:t>
            </a:r>
            <a:endParaRPr lang="en-US" sz="1250" dirty="0"/>
          </a:p>
          <a:p>
            <a:pPr indent="0" marL="0">
              <a:lnSpc>
                <a:spcPct val="105000"/>
              </a:lnSpc>
              <a:buNone/>
            </a:pPr>
            <a:r>
              <a:rPr lang="en-US" sz="1250" dirty="0">
                <a:solidFill>
                  <a:srgbClr val="F7F4EF"/>
                </a:solidFill>
                <a:latin typeface="Calibri" pitchFamily="34" charset="0"/>
                <a:ea typeface="Calibri" pitchFamily="34" charset="-122"/>
                <a:cs typeface="Calibri" pitchFamily="34" charset="-120"/>
              </a:rPr>
              <a:t>6つの独立検定を通過。タフォノミー補正後もr=0.419。</a:t>
            </a:r>
            <a:endParaRPr lang="en-US" sz="1250" dirty="0"/>
          </a:p>
          <a:p>
            <a:pPr indent="0" marL="0">
              <a:lnSpc>
                <a:spcPct val="105000"/>
              </a:lnSpc>
              <a:buNone/>
            </a:pPr>
            <a:endParaRPr lang="en-US" sz="1250" dirty="0"/>
          </a:p>
          <a:p>
            <a:pPr indent="0" marL="0">
              <a:lnSpc>
                <a:spcPct val="105000"/>
              </a:lnSpc>
              <a:buNone/>
            </a:pPr>
            <a:r>
              <a:rPr lang="en-US" sz="1250" b="1" dirty="0">
                <a:solidFill>
                  <a:srgbClr val="97BC62"/>
                </a:solidFill>
                <a:latin typeface="Calibri" pitchFamily="34" charset="0"/>
                <a:ea typeface="Calibri" pitchFamily="34" charset="-122"/>
                <a:cs typeface="Calibri" pitchFamily="34" charset="-120"/>
              </a:rPr>
              <a:t>2. </a:t>
            </a:r>
            <a:pPr indent="0" marL="0">
              <a:lnSpc>
                <a:spcPct val="105000"/>
              </a:lnSpc>
              <a:buNone/>
            </a:pPr>
            <a:r>
              <a:rPr lang="en-US" sz="1250" dirty="0">
                <a:solidFill>
                  <a:srgbClr val="F7F4EF"/>
                </a:solidFill>
                <a:latin typeface="Calibri" pitchFamily="34" charset="0"/>
                <a:ea typeface="Calibri" pitchFamily="34" charset="-122"/>
                <a:cs typeface="Calibri" pitchFamily="34" charset="-120"/>
              </a:rPr>
              <a:t>同期性は距離非依存（Mantel p=0.194）。</a:t>
            </a:r>
            <a:endParaRPr lang="en-US" sz="1250" dirty="0"/>
          </a:p>
          <a:p>
            <a:pPr indent="0" marL="0">
              <a:lnSpc>
                <a:spcPct val="105000"/>
              </a:lnSpc>
              <a:buNone/>
            </a:pPr>
            <a:r>
              <a:rPr lang="en-US" sz="1250" dirty="0">
                <a:solidFill>
                  <a:srgbClr val="F7F4EF"/>
                </a:solidFill>
                <a:latin typeface="Calibri" pitchFamily="34" charset="0"/>
                <a:ea typeface="Calibri" pitchFamily="34" charset="-122"/>
                <a:cs typeface="Calibri" pitchFamily="34" charset="-120"/>
              </a:rPr>
              <a:t>8,000km離れた西欧×中国（r=0.719）が最強ペア。</a:t>
            </a:r>
            <a:endParaRPr lang="en-US" sz="1250" dirty="0"/>
          </a:p>
          <a:p>
            <a:pPr indent="0" marL="0">
              <a:lnSpc>
                <a:spcPct val="105000"/>
              </a:lnSpc>
              <a:buNone/>
            </a:pPr>
            <a:endParaRPr lang="en-US" sz="1250" dirty="0"/>
          </a:p>
          <a:p>
            <a:pPr indent="0" marL="0">
              <a:lnSpc>
                <a:spcPct val="105000"/>
              </a:lnSpc>
              <a:buNone/>
            </a:pPr>
            <a:r>
              <a:rPr lang="en-US" sz="1250" b="1" dirty="0">
                <a:solidFill>
                  <a:srgbClr val="97BC62"/>
                </a:solidFill>
                <a:latin typeface="Calibri" pitchFamily="34" charset="0"/>
                <a:ea typeface="Calibri" pitchFamily="34" charset="-122"/>
                <a:cs typeface="Calibri" pitchFamily="34" charset="-120"/>
              </a:rPr>
              <a:t>3. </a:t>
            </a:r>
            <a:pPr indent="0" marL="0">
              <a:lnSpc>
                <a:spcPct val="105000"/>
              </a:lnSpc>
              <a:buNone/>
            </a:pPr>
            <a:r>
              <a:rPr lang="en-US" sz="1250" dirty="0">
                <a:solidFill>
                  <a:srgbClr val="F7F4EF"/>
                </a:solidFill>
                <a:latin typeface="Calibri" pitchFamily="34" charset="0"/>
                <a:ea typeface="Calibri" pitchFamily="34" charset="-122"/>
                <a:cs typeface="Calibri" pitchFamily="34" charset="-120"/>
              </a:rPr>
              <a:t>気候強制だけでは不十分: 気候-人口相関（|r|=0.086）は</a:t>
            </a:r>
            <a:endParaRPr lang="en-US" sz="1250" dirty="0"/>
          </a:p>
          <a:p>
            <a:pPr indent="0" marL="0">
              <a:lnSpc>
                <a:spcPct val="105000"/>
              </a:lnSpc>
              <a:buNone/>
            </a:pPr>
            <a:r>
              <a:rPr lang="en-US" sz="1250" dirty="0">
                <a:solidFill>
                  <a:srgbClr val="F7F4EF"/>
                </a:solidFill>
                <a:latin typeface="Calibri" pitchFamily="34" charset="0"/>
                <a:ea typeface="Calibri" pitchFamily="34" charset="-122"/>
                <a:cs typeface="Calibri" pitchFamily="34" charset="-120"/>
              </a:rPr>
              <a:t>地域間人口相関（r=0.458）の5.3分の1。メカニズムは未解明。</a:t>
            </a:r>
            <a:endParaRPr lang="en-US" sz="1250" dirty="0"/>
          </a:p>
          <a:p>
            <a:pPr indent="0" marL="0">
              <a:lnSpc>
                <a:spcPct val="105000"/>
              </a:lnSpc>
              <a:buNone/>
            </a:pPr>
            <a:endParaRPr lang="en-US" sz="1250" dirty="0"/>
          </a:p>
          <a:p>
            <a:pPr indent="0" marL="0">
              <a:lnSpc>
                <a:spcPct val="105000"/>
              </a:lnSpc>
              <a:buNone/>
            </a:pPr>
            <a:r>
              <a:rPr lang="en-US" sz="1250" b="1" dirty="0">
                <a:solidFill>
                  <a:srgbClr val="97BC62"/>
                </a:solidFill>
                <a:latin typeface="Calibri" pitchFamily="34" charset="0"/>
                <a:ea typeface="Calibri" pitchFamily="34" charset="-122"/>
                <a:cs typeface="Calibri" pitchFamily="34" charset="-120"/>
              </a:rPr>
              <a:t>4. </a:t>
            </a:r>
            <a:pPr indent="0" marL="0">
              <a:lnSpc>
                <a:spcPct val="105000"/>
              </a:lnSpc>
              <a:buNone/>
            </a:pPr>
            <a:r>
              <a:rPr lang="en-US" sz="1250" dirty="0">
                <a:solidFill>
                  <a:srgbClr val="F7F4EF"/>
                </a:solidFill>
                <a:latin typeface="Calibri" pitchFamily="34" charset="0"/>
                <a:ea typeface="Calibri" pitchFamily="34" charset="-122"/>
                <a:cs typeface="Calibri" pitchFamily="34" charset="-120"/>
              </a:rPr>
              <a:t>後期青銅器時代（~2,600-2,950 cal BP）に完新世最強の同期性。</a:t>
            </a:r>
            <a:endParaRPr lang="en-US" sz="1250" dirty="0"/>
          </a:p>
          <a:p>
            <a:pPr indent="0" marL="0">
              <a:lnSpc>
                <a:spcPct val="105000"/>
              </a:lnSpc>
              <a:buNone/>
            </a:pPr>
            <a:r>
              <a:rPr lang="en-US" sz="1250" dirty="0">
                <a:solidFill>
                  <a:srgbClr val="F7F4EF"/>
                </a:solidFill>
                <a:latin typeface="Calibri" pitchFamily="34" charset="0"/>
                <a:ea typeface="Calibri" pitchFamily="34" charset="-122"/>
                <a:cs typeface="Calibri" pitchFamily="34" charset="-120"/>
              </a:rPr>
              <a:t>各地の「崩壊」は汎ユーラシア的人口動態現象の一部。</a:t>
            </a:r>
            <a:endParaRPr lang="en-US" sz="1250" dirty="0"/>
          </a:p>
          <a:p>
            <a:pPr indent="0" marL="0">
              <a:lnSpc>
                <a:spcPct val="105000"/>
              </a:lnSpc>
              <a:buNone/>
            </a:pPr>
            <a:endParaRPr lang="en-US" sz="1250" dirty="0"/>
          </a:p>
          <a:p>
            <a:pPr indent="0" marL="0">
              <a:lnSpc>
                <a:spcPct val="105000"/>
              </a:lnSpc>
              <a:buNone/>
            </a:pPr>
            <a:r>
              <a:rPr lang="en-US" sz="1250" b="1" dirty="0">
                <a:solidFill>
                  <a:srgbClr val="97BC62"/>
                </a:solidFill>
                <a:latin typeface="Calibri" pitchFamily="34" charset="0"/>
                <a:ea typeface="Calibri" pitchFamily="34" charset="-122"/>
                <a:cs typeface="Calibri" pitchFamily="34" charset="-120"/>
              </a:rPr>
              <a:t>5. </a:t>
            </a:r>
            <a:pPr indent="0" marL="0">
              <a:lnSpc>
                <a:spcPct val="105000"/>
              </a:lnSpc>
              <a:buNone/>
            </a:pPr>
            <a:r>
              <a:rPr lang="en-US" sz="1250" dirty="0">
                <a:solidFill>
                  <a:srgbClr val="F7F4EF"/>
                </a:solidFill>
                <a:latin typeface="Calibri" pitchFamily="34" charset="0"/>
                <a:ea typeface="Calibri" pitchFamily="34" charset="-122"/>
                <a:cs typeface="Calibri" pitchFamily="34" charset="-120"/>
              </a:rPr>
              <a:t>「文明の崩壊」は局所的な失敗ではなく、連動するネットワークの</a:t>
            </a:r>
            <a:endParaRPr lang="en-US" sz="1250" dirty="0"/>
          </a:p>
          <a:p>
            <a:pPr indent="0" marL="0">
              <a:lnSpc>
                <a:spcPct val="105000"/>
              </a:lnSpc>
              <a:buNone/>
            </a:pPr>
            <a:r>
              <a:rPr lang="en-US" sz="1250" dirty="0">
                <a:solidFill>
                  <a:srgbClr val="F7F4EF"/>
                </a:solidFill>
                <a:latin typeface="Calibri" pitchFamily="34" charset="0"/>
                <a:ea typeface="Calibri" pitchFamily="34" charset="-122"/>
                <a:cs typeface="Calibri" pitchFamily="34" charset="-120"/>
              </a:rPr>
              <a:t>システムレベルの性質として研究すべき。</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3B6FA0"/>
        </a:solidFill>
      </p:bgPr>
    </p:bg>
    <p:spTree>
      <p:nvGrpSpPr>
        <p:cNvPr id="1" name=""/>
        <p:cNvGrpSpPr/>
        <p:nvPr/>
      </p:nvGrpSpPr>
      <p:grpSpPr>
        <a:xfrm>
          <a:off x="0" y="0"/>
          <a:ext cx="0" cy="0"/>
          <a:chOff x="0" y="0"/>
          <a:chExt cx="0" cy="0"/>
        </a:xfrm>
      </p:grpSpPr>
      <p:sp>
        <p:nvSpPr>
          <p:cNvPr id="2" name="Text 0"/>
          <p:cNvSpPr/>
          <p:nvPr/>
        </p:nvSpPr>
        <p:spPr>
          <a:xfrm>
            <a:off x="731520" y="1645920"/>
            <a:ext cx="7680960" cy="1097280"/>
          </a:xfrm>
          <a:prstGeom prst="rect">
            <a:avLst/>
          </a:prstGeom>
          <a:noFill/>
          <a:ln/>
        </p:spPr>
        <p:txBody>
          <a:bodyPr wrap="square" rtlCol="0" anchor="ctr"/>
          <a:lstStyle/>
          <a:p>
            <a:pPr algn="ctr" indent="0" marL="0">
              <a:buNone/>
            </a:pPr>
            <a:r>
              <a:rPr lang="en-US" sz="3200" b="1" dirty="0">
                <a:solidFill>
                  <a:srgbClr val="FFFFFF"/>
                </a:solidFill>
                <a:latin typeface="Georgia" pitchFamily="34" charset="0"/>
                <a:ea typeface="Georgia" pitchFamily="34" charset="-122"/>
                <a:cs typeface="Georgia" pitchFamily="34" charset="-120"/>
              </a:rPr>
              <a:t>ご清聴ありがとうございました</a:t>
            </a:r>
            <a:endParaRPr lang="en-US" sz="3200" dirty="0"/>
          </a:p>
        </p:txBody>
      </p:sp>
      <p:sp>
        <p:nvSpPr>
          <p:cNvPr id="3" name="Text 1"/>
          <p:cNvSpPr/>
          <p:nvPr/>
        </p:nvSpPr>
        <p:spPr>
          <a:xfrm>
            <a:off x="731520" y="3200400"/>
            <a:ext cx="7680960" cy="914400"/>
          </a:xfrm>
          <a:prstGeom prst="rect">
            <a:avLst/>
          </a:prstGeom>
          <a:noFill/>
          <a:ln/>
        </p:spPr>
        <p:txBody>
          <a:bodyPr wrap="square" rtlCol="0" anchor="ctr"/>
          <a:lstStyle/>
          <a:p>
            <a:pPr algn="ctr" indent="0" marL="0">
              <a:lnSpc>
                <a:spcPct val="130000"/>
              </a:lnSpc>
              <a:buNone/>
            </a:pPr>
            <a:r>
              <a:rPr lang="en-US" sz="1300" dirty="0">
                <a:solidFill>
                  <a:srgbClr val="F7F4EF"/>
                </a:solidFill>
                <a:latin typeface="Calibri" pitchFamily="34" charset="0"/>
                <a:ea typeface="Calibri" pitchFamily="34" charset="-122"/>
                <a:cs typeface="Calibri" pitchFamily="34" charset="-120"/>
              </a:rPr>
              <a:t>データ: p3k14c (Bird et al. 2022, 154,466件) | 再現スクリプト: R (rcarbon)</a:t>
            </a:r>
            <a:endParaRPr lang="en-US" sz="1300" dirty="0"/>
          </a:p>
          <a:p>
            <a:pPr algn="ctr" indent="0" marL="0">
              <a:lnSpc>
                <a:spcPct val="130000"/>
              </a:lnSpc>
              <a:buNone/>
            </a:pPr>
            <a:r>
              <a:rPr lang="en-US" sz="1300" dirty="0">
                <a:solidFill>
                  <a:srgbClr val="F7F4EF"/>
                </a:solidFill>
                <a:latin typeface="Calibri" pitchFamily="34" charset="0"/>
                <a:ea typeface="Calibri" pitchFamily="34" charset="-122"/>
                <a:cs typeface="Calibri" pitchFamily="34" charset="-120"/>
              </a:rPr>
              <a:t>ArchEco 歴史生態学×考古学 研究室</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2026-03-29T07:57:25Z</dcterms:created>
  <dcterms:modified xsi:type="dcterms:W3CDTF">2026-03-29T07:57:25Z</dcterms:modified>
</cp:coreProperties>
</file>