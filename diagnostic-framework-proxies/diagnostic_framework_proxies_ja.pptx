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37"/>
        </a:solidFill>
      </p:bgPr>
    </p:bg>
    <p:spTree>
      <p:nvGrpSpPr>
        <p:cNvPr id="1" name=""/>
        <p:cNvGrpSpPr/>
        <p:nvPr/>
      </p:nvGrpSpPr>
      <p:grpSpPr>
        <a:xfrm>
          <a:off x="0" y="0"/>
          <a:ext cx="0" cy="0"/>
          <a:chOff x="0" y="0"/>
          <a:chExt cx="0" cy="0"/>
        </a:xfrm>
      </p:grpSpPr>
      <p:sp>
        <p:nvSpPr>
          <p:cNvPr id="2" name="Shape 0"/>
          <p:cNvSpPr/>
          <p:nvPr/>
        </p:nvSpPr>
        <p:spPr>
          <a:xfrm>
            <a:off x="0" y="3840480"/>
            <a:ext cx="9144000" cy="1303020"/>
          </a:xfrm>
          <a:prstGeom prst="rect">
            <a:avLst/>
          </a:prstGeom>
          <a:solidFill>
            <a:srgbClr val="6B4C9A"/>
          </a:solidFill>
          <a:ln/>
        </p:spPr>
      </p:sp>
      <p:sp>
        <p:nvSpPr>
          <p:cNvPr id="3" name="Text 1"/>
          <p:cNvSpPr/>
          <p:nvPr/>
        </p:nvSpPr>
        <p:spPr>
          <a:xfrm>
            <a:off x="731520" y="548640"/>
            <a:ext cx="7680960" cy="1371600"/>
          </a:xfrm>
          <a:prstGeom prst="rect">
            <a:avLst/>
          </a:prstGeom>
          <a:noFill/>
          <a:ln/>
        </p:spPr>
        <p:txBody>
          <a:bodyPr wrap="square" rtlCol="0" anchor="ctr"/>
          <a:lstStyle/>
          <a:p>
            <a:pPr indent="0" marL="0">
              <a:lnSpc>
                <a:spcPct val="130000"/>
              </a:lnSpc>
              <a:buNone/>
            </a:pPr>
            <a:r>
              <a:rPr lang="en-US" sz="3200" b="1" dirty="0">
                <a:solidFill>
                  <a:srgbClr val="FFFFFF"/>
                </a:solidFill>
                <a:latin typeface="Georgia" pitchFamily="34" charset="0"/>
                <a:ea typeface="Georgia" pitchFamily="34" charset="-122"/>
                <a:cs typeface="Georgia" pitchFamily="34" charset="-120"/>
              </a:rPr>
              <a:t>古生態プロキシの</a:t>
            </a:r>
            <a:endParaRPr lang="en-US" sz="3200" dirty="0"/>
          </a:p>
          <a:p>
            <a:pPr indent="0" marL="0">
              <a:lnSpc>
                <a:spcPct val="130000"/>
              </a:lnSpc>
              <a:buNone/>
            </a:pPr>
            <a:r>
              <a:rPr lang="en-US" sz="3200" b="1" dirty="0">
                <a:solidFill>
                  <a:srgbClr val="FFFFFF"/>
                </a:solidFill>
                <a:latin typeface="Georgia" pitchFamily="34" charset="0"/>
                <a:ea typeface="Georgia" pitchFamily="34" charset="-122"/>
                <a:cs typeface="Georgia" pitchFamily="34" charset="-120"/>
              </a:rPr>
              <a:t>3つの診断原則</a:t>
            </a:r>
            <a:endParaRPr lang="en-US" sz="3200" dirty="0"/>
          </a:p>
        </p:txBody>
      </p:sp>
      <p:sp>
        <p:nvSpPr>
          <p:cNvPr id="4" name="Text 2"/>
          <p:cNvSpPr/>
          <p:nvPr/>
        </p:nvSpPr>
        <p:spPr>
          <a:xfrm>
            <a:off x="731520" y="2011680"/>
            <a:ext cx="7680960" cy="457200"/>
          </a:xfrm>
          <a:prstGeom prst="rect">
            <a:avLst/>
          </a:prstGeom>
          <a:noFill/>
          <a:ln/>
        </p:spPr>
        <p:txBody>
          <a:bodyPr wrap="square" rtlCol="0" anchor="ctr"/>
          <a:lstStyle/>
          <a:p>
            <a:pPr indent="0" marL="0">
              <a:buNone/>
            </a:pPr>
            <a:r>
              <a:rPr lang="en-US" sz="1500" dirty="0">
                <a:solidFill>
                  <a:srgbClr val="97BC62"/>
                </a:solidFill>
                <a:latin typeface="Calibri" pitchFamily="34" charset="0"/>
                <a:ea typeface="Calibri" pitchFamily="34" charset="-122"/>
                <a:cs typeface="Calibri" pitchFamily="34" charset="-120"/>
              </a:rPr>
              <a:t>11本の論文・1,500+サイト・5大陸から導かれた統合フレームワーク</a:t>
            </a:r>
            <a:endParaRPr lang="en-US" sz="1500" dirty="0"/>
          </a:p>
        </p:txBody>
      </p:sp>
      <p:sp>
        <p:nvSpPr>
          <p:cNvPr id="5" name="Text 3"/>
          <p:cNvSpPr/>
          <p:nvPr/>
        </p:nvSpPr>
        <p:spPr>
          <a:xfrm>
            <a:off x="731520" y="4114800"/>
            <a:ext cx="73152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ArchEco 歴史生態学×考古学 研究室 | 2026年3月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B4C9A"/>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 古生態プロキシの診断フレームワーク</a:t>
            </a:r>
            <a:endParaRPr lang="en-US" sz="800" dirty="0"/>
          </a:p>
        </p:txBody>
      </p:sp>
      <p:sp>
        <p:nvSpPr>
          <p:cNvPr id="4" name="Text 2"/>
          <p:cNvSpPr/>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1E2737"/>
                </a:solidFill>
                <a:latin typeface="Georgia" pitchFamily="34" charset="0"/>
                <a:ea typeface="Georgia" pitchFamily="34" charset="-122"/>
                <a:cs typeface="Georgia" pitchFamily="34" charset="-120"/>
              </a:rPr>
              <a:t>問題: プロキシは何を測っているのか？</a:t>
            </a:r>
            <a:endParaRPr lang="en-US" sz="2400" dirty="0"/>
          </a:p>
        </p:txBody>
      </p:sp>
      <p:sp>
        <p:nvSpPr>
          <p:cNvPr id="5" name="Text 3"/>
          <p:cNvSpPr/>
          <p:nvPr/>
        </p:nvSpPr>
        <p:spPr>
          <a:xfrm>
            <a:off x="640080" y="777240"/>
            <a:ext cx="7863840" cy="3657600"/>
          </a:xfrm>
          <a:prstGeom prst="rect">
            <a:avLst/>
          </a:prstGeom>
          <a:noFill/>
          <a:ln/>
        </p:spPr>
        <p:txBody>
          <a:bodyPr wrap="square" rtlCol="0" anchor="t"/>
          <a:lstStyle/>
          <a:p>
            <a:pPr indent="0" marL="0">
              <a:lnSpc>
                <a:spcPct val="105000"/>
              </a:lnSpc>
              <a:buNone/>
            </a:pPr>
            <a:r>
              <a:rPr lang="en-US" sz="1300" dirty="0">
                <a:solidFill>
                  <a:srgbClr val="2D2D2D"/>
                </a:solidFill>
                <a:latin typeface="Calibri" pitchFamily="34" charset="0"/>
                <a:ea typeface="Calibri" pitchFamily="34" charset="-122"/>
                <a:cs typeface="Calibri" pitchFamily="34" charset="-120"/>
              </a:rPr>
              <a:t>同じ331サイトに異なる花粉指標を適用すると:</a:t>
            </a:r>
            <a:endParaRPr lang="en-US" sz="1200" dirty="0"/>
          </a:p>
          <a:p>
            <a:pPr indent="0" marL="0">
              <a:lnSpc>
                <a:spcPct val="105000"/>
              </a:lnSpc>
              <a:buNone/>
            </a:pPr>
            <a:endParaRPr lang="en-US" sz="1200" dirty="0"/>
          </a:p>
          <a:p>
            <a:pPr indent="0" marL="0">
              <a:lnSpc>
                <a:spcPct val="105000"/>
              </a:lnSpc>
              <a:buNone/>
            </a:pPr>
            <a:r>
              <a:rPr lang="en-US" sz="1600" b="1" dirty="0">
                <a:solidFill>
                  <a:srgbClr val="2C5F2D"/>
                </a:solidFill>
                <a:latin typeface="Calibri" pitchFamily="34" charset="0"/>
                <a:ea typeface="Calibri" pitchFamily="34" charset="-122"/>
                <a:cs typeface="Calibri" pitchFamily="34" charset="-120"/>
              </a:rPr>
              <a:t>ヨーロッパ牧畜指標 → 87%検出</a:t>
            </a:r>
            <a:endParaRPr lang="en-US" sz="1200" dirty="0"/>
          </a:p>
          <a:p>
            <a:pPr indent="0" marL="0">
              <a:lnSpc>
                <a:spcPct val="105000"/>
              </a:lnSpc>
              <a:buNone/>
            </a:pPr>
            <a:r>
              <a:rPr lang="en-US" sz="1600" b="1" dirty="0">
                <a:solidFill>
                  <a:srgbClr val="B85042"/>
                </a:solidFill>
                <a:latin typeface="Calibri" pitchFamily="34" charset="0"/>
                <a:ea typeface="Calibri" pitchFamily="34" charset="-122"/>
                <a:cs typeface="Calibri" pitchFamily="34" charset="-120"/>
              </a:rPr>
              <a:t>北米先住民指標 → 0%検出</a:t>
            </a:r>
            <a:endParaRPr lang="en-US" sz="1200" dirty="0"/>
          </a:p>
          <a:p>
            <a:pPr indent="0" marL="0">
              <a:lnSpc>
                <a:spcPct val="105000"/>
              </a:lnSpc>
              <a:buNone/>
            </a:pPr>
            <a:r>
              <a:rPr lang="en-US" sz="1600" b="1" dirty="0">
                <a:solidFill>
                  <a:srgbClr val="2D2D2D"/>
                </a:solidFill>
                <a:latin typeface="Calibri" pitchFamily="34" charset="0"/>
                <a:ea typeface="Calibri" pitchFamily="34" charset="-122"/>
                <a:cs typeface="Calibri" pitchFamily="34" charset="-120"/>
              </a:rPr>
              <a:t>樹木指標 → 94%検出</a:t>
            </a:r>
            <a:endParaRPr lang="en-US" sz="1200" dirty="0"/>
          </a:p>
          <a:p>
            <a:pPr indent="0" marL="0">
              <a:lnSpc>
                <a:spcPct val="105000"/>
              </a:lnSpc>
              <a:buNone/>
            </a:pPr>
            <a:endParaRPr lang="en-US" sz="1200" dirty="0"/>
          </a:p>
          <a:p>
            <a:pPr indent="0" marL="0">
              <a:lnSpc>
                <a:spcPct val="105000"/>
              </a:lnSpc>
              <a:buNone/>
            </a:pPr>
            <a:r>
              <a:rPr lang="en-US" sz="1300" dirty="0">
                <a:solidFill>
                  <a:srgbClr val="2D2D2D"/>
                </a:solidFill>
                <a:latin typeface="Calibri" pitchFamily="34" charset="0"/>
                <a:ea typeface="Calibri" pitchFamily="34" charset="-122"/>
                <a:cs typeface="Calibri" pitchFamily="34" charset="-120"/>
              </a:rPr>
              <a:t>結論が「指標の選択」によって0%から94%まで変わる。</a:t>
            </a:r>
            <a:endParaRPr lang="en-US" sz="1200" dirty="0"/>
          </a:p>
          <a:p>
            <a:pPr indent="0" marL="0">
              <a:lnSpc>
                <a:spcPct val="105000"/>
              </a:lnSpc>
              <a:buNone/>
            </a:pPr>
            <a:endParaRPr lang="en-US" sz="1200" dirty="0"/>
          </a:p>
          <a:p>
            <a:pPr indent="0" marL="0">
              <a:lnSpc>
                <a:spcPct val="105000"/>
              </a:lnSpc>
              <a:buNone/>
            </a:pPr>
            <a:r>
              <a:rPr lang="en-US" sz="1500" b="1" dirty="0">
                <a:solidFill>
                  <a:srgbClr val="B85042"/>
                </a:solidFill>
                <a:latin typeface="Calibri" pitchFamily="34" charset="0"/>
                <a:ea typeface="Calibri" pitchFamily="34" charset="-122"/>
                <a:cs typeface="Calibri" pitchFamily="34" charset="-120"/>
              </a:rPr>
              <a:t>これは生態学的発見ではなく、測定器の性質。</a:t>
            </a:r>
            <a:endParaRPr lang="en-US" sz="1200" dirty="0"/>
          </a:p>
          <a:p>
            <a:pPr indent="0" marL="0">
              <a:lnSpc>
                <a:spcPct val="105000"/>
              </a:lnSpc>
              <a:buNone/>
            </a:pPr>
            <a:endParaRPr lang="en-US" sz="1200" dirty="0"/>
          </a:p>
          <a:p>
            <a:pPr indent="0" marL="0">
              <a:lnSpc>
                <a:spcPct val="105000"/>
              </a:lnSpc>
              <a:buNone/>
            </a:pPr>
            <a:r>
              <a:rPr lang="en-US" sz="1300" b="1" dirty="0">
                <a:solidFill>
                  <a:srgbClr val="2C5F2D"/>
                </a:solidFill>
                <a:latin typeface="Calibri" pitchFamily="34" charset="0"/>
                <a:ea typeface="Calibri" pitchFamily="34" charset="-122"/>
                <a:cs typeface="Calibri" pitchFamily="34" charset="-120"/>
              </a:rPr>
              <a:t>古生態学にはプロキシの「何が見え、何が見えないか」を</a:t>
            </a:r>
            <a:endParaRPr lang="en-US" sz="1200" dirty="0"/>
          </a:p>
          <a:p>
            <a:pPr indent="0" marL="0">
              <a:lnSpc>
                <a:spcPct val="105000"/>
              </a:lnSpc>
              <a:buNone/>
            </a:pPr>
            <a:r>
              <a:rPr lang="en-US" sz="1300" b="1" dirty="0">
                <a:solidFill>
                  <a:srgbClr val="2C5F2D"/>
                </a:solidFill>
                <a:latin typeface="Calibri" pitchFamily="34" charset="0"/>
                <a:ea typeface="Calibri" pitchFamily="34" charset="-122"/>
                <a:cs typeface="Calibri" pitchFamily="34" charset="-120"/>
              </a:rPr>
              <a:t>明示する診断フレームワークが必要。</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B4C9A"/>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 古生態プロキシの診断フレームワーク</a:t>
            </a:r>
            <a:endParaRPr lang="en-US" sz="800" dirty="0"/>
          </a:p>
        </p:txBody>
      </p:sp>
      <p:sp>
        <p:nvSpPr>
          <p:cNvPr id="4" name="Text 2"/>
          <p:cNvSpPr/>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1E2737"/>
                </a:solidFill>
                <a:latin typeface="Georgia" pitchFamily="34" charset="0"/>
                <a:ea typeface="Georgia" pitchFamily="34" charset="-122"/>
                <a:cs typeface="Georgia" pitchFamily="34" charset="-120"/>
              </a:rPr>
              <a:t>用語解説</a:t>
            </a:r>
            <a:endParaRPr lang="en-US" sz="2400" dirty="0"/>
          </a:p>
        </p:txBody>
      </p:sp>
      <p:sp>
        <p:nvSpPr>
          <p:cNvPr id="5" name="Text 3"/>
          <p:cNvSpPr/>
          <p:nvPr/>
        </p:nvSpPr>
        <p:spPr>
          <a:xfrm>
            <a:off x="640080" y="731520"/>
            <a:ext cx="7863840" cy="3840480"/>
          </a:xfrm>
          <a:prstGeom prst="rect">
            <a:avLst/>
          </a:prstGeom>
          <a:noFill/>
          <a:ln/>
        </p:spPr>
        <p:txBody>
          <a:bodyPr wrap="square" rtlCol="0" anchor="t"/>
          <a:lstStyle/>
          <a:p>
            <a:pPr indent="0" marL="0">
              <a:lnSpc>
                <a:spcPct val="102000"/>
              </a:lnSpc>
              <a:buNone/>
            </a:pPr>
            <a:r>
              <a:rPr lang="en-US" sz="1100" b="1" dirty="0">
                <a:solidFill>
                  <a:srgbClr val="2D2D2D"/>
                </a:solidFill>
                <a:latin typeface="Calibri" pitchFamily="34" charset="0"/>
                <a:ea typeface="Calibri" pitchFamily="34" charset="-122"/>
                <a:cs typeface="Calibri" pitchFamily="34" charset="-120"/>
              </a:rPr>
              <a:t>プロキシ（proxy）</a:t>
            </a:r>
            <a:endParaRPr lang="en-US" sz="1100" dirty="0"/>
          </a:p>
          <a:p>
            <a:pPr indent="0" marL="0">
              <a:lnSpc>
                <a:spcPct val="102000"/>
              </a:lnSpc>
              <a:buNone/>
            </a:pPr>
            <a:r>
              <a:rPr lang="en-US" sz="1100" dirty="0">
                <a:solidFill>
                  <a:srgbClr val="2D2D2D"/>
                </a:solidFill>
                <a:latin typeface="Calibri" pitchFamily="34" charset="0"/>
                <a:ea typeface="Calibri" pitchFamily="34" charset="-122"/>
                <a:cs typeface="Calibri" pitchFamily="34" charset="-120"/>
              </a:rPr>
              <a:t>直接測定できない過去の環境・人間活動の代理指標。花粉=植生、charcoal=火、SPD=人口。</a:t>
            </a:r>
            <a:endParaRPr lang="en-US" sz="1100" dirty="0"/>
          </a:p>
          <a:p>
            <a:pPr indent="0" marL="0">
              <a:lnSpc>
                <a:spcPct val="102000"/>
              </a:lnSpc>
              <a:buNone/>
            </a:pPr>
            <a:endParaRPr lang="en-US" sz="1100" dirty="0"/>
          </a:p>
          <a:p>
            <a:pPr indent="0" marL="0">
              <a:lnSpc>
                <a:spcPct val="102000"/>
              </a:lnSpc>
              <a:buNone/>
            </a:pPr>
            <a:r>
              <a:rPr lang="en-US" sz="1100" b="1" dirty="0">
                <a:solidFill>
                  <a:srgbClr val="2D2D2D"/>
                </a:solidFill>
                <a:latin typeface="Calibri" pitchFamily="34" charset="0"/>
                <a:ea typeface="Calibri" pitchFamily="34" charset="-122"/>
                <a:cs typeface="Calibri" pitchFamily="34" charset="-120"/>
              </a:rPr>
              <a:t>検出関数 D(I,T,s)</a:t>
            </a:r>
            <a:endParaRPr lang="en-US" sz="1100" dirty="0"/>
          </a:p>
          <a:p>
            <a:pPr indent="0" marL="0">
              <a:lnSpc>
                <a:spcPct val="102000"/>
              </a:lnSpc>
              <a:buNone/>
            </a:pPr>
            <a:r>
              <a:rPr lang="en-US" sz="1100" dirty="0">
                <a:solidFill>
                  <a:srgbClr val="2D2D2D"/>
                </a:solidFill>
                <a:latin typeface="Calibri" pitchFamily="34" charset="0"/>
                <a:ea typeface="Calibri" pitchFamily="34" charset="-122"/>
                <a:cs typeface="Calibri" pitchFamily="34" charset="-120"/>
              </a:rPr>
              <a:t>指標系Iが変容Tを信号強度sで検出する確率。概念的枠組み。</a:t>
            </a:r>
            <a:endParaRPr lang="en-US" sz="1100" dirty="0"/>
          </a:p>
          <a:p>
            <a:pPr indent="0" marL="0">
              <a:lnSpc>
                <a:spcPct val="102000"/>
              </a:lnSpc>
              <a:buNone/>
            </a:pPr>
            <a:endParaRPr lang="en-US" sz="1100" dirty="0"/>
          </a:p>
          <a:p>
            <a:pPr indent="0" marL="0">
              <a:lnSpc>
                <a:spcPct val="102000"/>
              </a:lnSpc>
              <a:buNone/>
            </a:pPr>
            <a:r>
              <a:rPr lang="en-US" sz="1100" b="1" dirty="0">
                <a:solidFill>
                  <a:srgbClr val="2D2D2D"/>
                </a:solidFill>
                <a:latin typeface="Calibri" pitchFamily="34" charset="0"/>
                <a:ea typeface="Calibri" pitchFamily="34" charset="-122"/>
                <a:cs typeface="Calibri" pitchFamily="34" charset="-120"/>
              </a:rPr>
              <a:t>exceedance（超過）</a:t>
            </a:r>
            <a:endParaRPr lang="en-US" sz="1100" dirty="0"/>
          </a:p>
          <a:p>
            <a:pPr indent="0" marL="0">
              <a:lnSpc>
                <a:spcPct val="102000"/>
              </a:lnSpc>
              <a:buNone/>
            </a:pPr>
            <a:r>
              <a:rPr lang="en-US" sz="1100" dirty="0">
                <a:solidFill>
                  <a:srgbClr val="2D2D2D"/>
                </a:solidFill>
                <a:latin typeface="Calibri" pitchFamily="34" charset="0"/>
                <a:ea typeface="Calibri" pitchFamily="34" charset="-122"/>
                <a:cs typeface="Calibri" pitchFamily="34" charset="-120"/>
              </a:rPr>
              <a:t>花粉や他のプロキシが、自然変動の範囲（ベースライン平均+2SD）を超えること。</a:t>
            </a:r>
            <a:endParaRPr lang="en-US" sz="1100" dirty="0"/>
          </a:p>
          <a:p>
            <a:pPr indent="0" marL="0">
              <a:lnSpc>
                <a:spcPct val="102000"/>
              </a:lnSpc>
              <a:buNone/>
            </a:pPr>
            <a:endParaRPr lang="en-US" sz="1100" dirty="0"/>
          </a:p>
          <a:p>
            <a:pPr indent="0" marL="0">
              <a:lnSpc>
                <a:spcPct val="102000"/>
              </a:lnSpc>
              <a:buNone/>
            </a:pPr>
            <a:r>
              <a:rPr lang="en-US" sz="1100" b="1" dirty="0">
                <a:solidFill>
                  <a:srgbClr val="2D2D2D"/>
                </a:solidFill>
                <a:latin typeface="Calibri" pitchFamily="34" charset="0"/>
                <a:ea typeface="Calibri" pitchFamily="34" charset="-122"/>
                <a:cs typeface="Calibri" pitchFamily="34" charset="-120"/>
              </a:rPr>
              <a:t>指標依存性ギャップ（Indicator Dependency Gap）</a:t>
            </a:r>
            <a:endParaRPr lang="en-US" sz="1100" dirty="0"/>
          </a:p>
          <a:p>
            <a:pPr indent="0" marL="0">
              <a:lnSpc>
                <a:spcPct val="102000"/>
              </a:lnSpc>
              <a:buNone/>
            </a:pPr>
            <a:r>
              <a:rPr lang="en-US" sz="1100" dirty="0">
                <a:solidFill>
                  <a:srgbClr val="2D2D2D"/>
                </a:solidFill>
                <a:latin typeface="Calibri" pitchFamily="34" charset="0"/>
                <a:ea typeface="Calibri" pitchFamily="34" charset="-122"/>
                <a:cs typeface="Calibri" pitchFamily="34" charset="-120"/>
              </a:rPr>
              <a:t>同じサイトで異なる指標を使ったときの検出率の差。大きいほど結論が指標に依存。</a:t>
            </a:r>
            <a:endParaRPr lang="en-US" sz="1100" dirty="0"/>
          </a:p>
          <a:p>
            <a:pPr indent="0" marL="0">
              <a:lnSpc>
                <a:spcPct val="102000"/>
              </a:lnSpc>
              <a:buNone/>
            </a:pPr>
            <a:endParaRPr lang="en-US" sz="1100" dirty="0"/>
          </a:p>
          <a:p>
            <a:pPr indent="0" marL="0">
              <a:lnSpc>
                <a:spcPct val="102000"/>
              </a:lnSpc>
              <a:buNone/>
            </a:pPr>
            <a:r>
              <a:rPr lang="en-US" sz="1100" b="1" dirty="0">
                <a:solidFill>
                  <a:srgbClr val="2D2D2D"/>
                </a:solidFill>
                <a:latin typeface="Calibri" pitchFamily="34" charset="0"/>
                <a:ea typeface="Calibri" pitchFamily="34" charset="-122"/>
                <a:cs typeface="Calibri" pitchFamily="34" charset="-120"/>
              </a:rPr>
              <a:t>デトレンド（一次差分法）</a:t>
            </a:r>
            <a:endParaRPr lang="en-US" sz="1100" dirty="0"/>
          </a:p>
          <a:p>
            <a:pPr indent="0" marL="0">
              <a:lnSpc>
                <a:spcPct val="102000"/>
              </a:lnSpc>
              <a:buNone/>
            </a:pPr>
            <a:r>
              <a:rPr lang="en-US" sz="1100" dirty="0">
                <a:solidFill>
                  <a:srgbClr val="2D2D2D"/>
                </a:solidFill>
                <a:latin typeface="Calibri" pitchFamily="34" charset="0"/>
                <a:ea typeface="Calibri" pitchFamily="34" charset="-122"/>
                <a:cs typeface="Calibri" pitchFamily="34" charset="-120"/>
              </a:rPr>
              <a:t>長期トレンドを除去して真の共変動を検出する手法。偽の相関を排除。</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37"/>
        </a:solidFill>
      </p:bgPr>
    </p:bg>
    <p:spTree>
      <p:nvGrpSpPr>
        <p:cNvPr id="1" name=""/>
        <p:cNvGrpSpPr/>
        <p:nvPr/>
      </p:nvGrpSpPr>
      <p:grpSpPr>
        <a:xfrm>
          <a:off x="0" y="0"/>
          <a:ext cx="0" cy="0"/>
          <a:chOff x="0" y="0"/>
          <a:chExt cx="0" cy="0"/>
        </a:xfrm>
      </p:grpSpPr>
      <p:sp>
        <p:nvSpPr>
          <p:cNvPr id="2" name="Shape 0"/>
          <p:cNvSpPr/>
          <p:nvPr/>
        </p:nvSpPr>
        <p:spPr>
          <a:xfrm>
            <a:off x="274320" y="137160"/>
            <a:ext cx="73152" cy="4846320"/>
          </a:xfrm>
          <a:prstGeom prst="rect">
            <a:avLst/>
          </a:prstGeom>
          <a:solidFill>
            <a:srgbClr val="97BC62"/>
          </a:solidFill>
          <a:ln/>
        </p:spPr>
      </p:sp>
      <p:sp>
        <p:nvSpPr>
          <p:cNvPr id="3" name="Text 1"/>
          <p:cNvSpPr/>
          <p:nvPr/>
        </p:nvSpPr>
        <p:spPr>
          <a:xfrm>
            <a:off x="548640" y="182880"/>
            <a:ext cx="8229600" cy="457200"/>
          </a:xfrm>
          <a:prstGeom prst="rect">
            <a:avLst/>
          </a:prstGeom>
          <a:noFill/>
          <a:ln/>
        </p:spPr>
        <p:txBody>
          <a:bodyPr wrap="square" rtlCol="0" anchor="ctr"/>
          <a:lstStyle/>
          <a:p>
            <a:pPr indent="0" marL="0">
              <a:buNone/>
            </a:pPr>
            <a:r>
              <a:rPr lang="en-US" sz="2000" b="1" dirty="0">
                <a:solidFill>
                  <a:srgbClr val="97BC62"/>
                </a:solidFill>
                <a:latin typeface="Georgia" pitchFamily="34" charset="0"/>
                <a:ea typeface="Georgia" pitchFamily="34" charset="-122"/>
                <a:cs typeface="Georgia" pitchFamily="34" charset="-120"/>
              </a:rPr>
              <a:t>原則1: 同定可能性（Identifiability）</a:t>
            </a:r>
            <a:endParaRPr lang="en-US" sz="2000" dirty="0"/>
          </a:p>
        </p:txBody>
      </p:sp>
      <p:sp>
        <p:nvSpPr>
          <p:cNvPr id="4" name="Text 2"/>
          <p:cNvSpPr/>
          <p:nvPr/>
        </p:nvSpPr>
        <p:spPr>
          <a:xfrm>
            <a:off x="731520" y="731520"/>
            <a:ext cx="7863840" cy="4114800"/>
          </a:xfrm>
          <a:prstGeom prst="rect">
            <a:avLst/>
          </a:prstGeom>
          <a:noFill/>
          <a:ln/>
        </p:spPr>
        <p:txBody>
          <a:bodyPr wrap="square" rtlCol="0" anchor="ctr"/>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プロキシは、その測定ドメインと変容のドメインが重なる場合にのみ検出できる。</a:t>
            </a:r>
            <a:endParaRPr lang="en-US" sz="1250" dirty="0"/>
          </a:p>
          <a:p>
            <a:pPr indent="0" marL="0">
              <a:lnSpc>
                <a:spcPct val="110000"/>
              </a:lnSpc>
              <a:buNone/>
            </a:pPr>
            <a:r>
              <a:rPr lang="en-US" sz="1250" dirty="0">
                <a:solidFill>
                  <a:srgbClr val="F7F4EF"/>
                </a:solidFill>
                <a:latin typeface="Calibri" pitchFamily="34" charset="0"/>
                <a:ea typeface="Calibri" pitchFamily="34" charset="-122"/>
                <a:cs typeface="Calibri" pitchFamily="34" charset="-120"/>
              </a:rPr>
              <a:t>重ならない場合、信号をどれだけ強くしても検出確率はゼロ（∂D/∂s ≈ 0）。</a:t>
            </a:r>
            <a:endParaRPr lang="en-US" sz="1250" dirty="0"/>
          </a:p>
          <a:p>
            <a:pPr indent="0" marL="0">
              <a:lnSpc>
                <a:spcPct val="110000"/>
              </a:lnSpc>
              <a:buNone/>
            </a:pPr>
            <a:endParaRPr lang="en-US" sz="1250" dirty="0"/>
          </a:p>
          <a:p>
            <a:pPr indent="0" marL="0">
              <a:lnSpc>
                <a:spcPct val="110000"/>
              </a:lnSpc>
              <a:buNone/>
            </a:pPr>
            <a:r>
              <a:rPr lang="en-US" sz="1250" b="1" dirty="0">
                <a:solidFill>
                  <a:srgbClr val="E8963E"/>
                </a:solidFill>
                <a:latin typeface="Calibri" pitchFamily="34" charset="0"/>
                <a:ea typeface="Calibri" pitchFamily="34" charset="-122"/>
                <a:cs typeface="Calibri" pitchFamily="34" charset="-120"/>
              </a:rPr>
              <a:t>例: </a:t>
            </a:r>
            <a:pPr indent="0" marL="0">
              <a:lnSpc>
                <a:spcPct val="110000"/>
              </a:lnSpc>
              <a:buNone/>
            </a:pPr>
            <a:r>
              <a:rPr lang="en-US" sz="1250" dirty="0">
                <a:solidFill>
                  <a:srgbClr val="F7F4EF"/>
                </a:solidFill>
                <a:latin typeface="Calibri" pitchFamily="34" charset="0"/>
                <a:ea typeface="Calibri" pitchFamily="34" charset="-122"/>
                <a:cs typeface="Calibri" pitchFamily="34" charset="-120"/>
              </a:rPr>
              <a:t>ヨーロッパの牧畜指標（Plantago, Rumex, Cerealia）は</a:t>
            </a:r>
            <a:endParaRPr lang="en-US" sz="1250" dirty="0"/>
          </a:p>
          <a:p>
            <a:pPr indent="0" marL="0">
              <a:lnSpc>
                <a:spcPct val="110000"/>
              </a:lnSpc>
              <a:buNone/>
            </a:pPr>
            <a:r>
              <a:rPr lang="en-US" sz="1250" dirty="0">
                <a:solidFill>
                  <a:srgbClr val="F7F4EF"/>
                </a:solidFill>
                <a:latin typeface="Calibri" pitchFamily="34" charset="0"/>
                <a:ea typeface="Calibri" pitchFamily="34" charset="-122"/>
                <a:cs typeface="Calibri" pitchFamily="34" charset="-120"/>
              </a:rPr>
              <a:t>北米先住民のEAC農耕（Amaranthaceae）を検出できない。</a:t>
            </a:r>
            <a:endParaRPr lang="en-US" sz="1250" dirty="0"/>
          </a:p>
          <a:p>
            <a:pPr indent="0" marL="0">
              <a:lnSpc>
                <a:spcPct val="110000"/>
              </a:lnSpc>
              <a:buNone/>
            </a:pPr>
            <a:r>
              <a:rPr lang="en-US" sz="1250" b="1" dirty="0">
                <a:solidFill>
                  <a:srgbClr val="E8963E"/>
                </a:solidFill>
                <a:latin typeface="Calibri" pitchFamily="34" charset="0"/>
                <a:ea typeface="Calibri" pitchFamily="34" charset="-122"/>
                <a:cs typeface="Calibri" pitchFamily="34" charset="-120"/>
              </a:rPr>
              <a:t>いくらEAC農耕が拡大しても、検出率は0%のまま。</a:t>
            </a:r>
            <a:endParaRPr lang="en-US" sz="1250" dirty="0"/>
          </a:p>
          <a:p>
            <a:pPr indent="0" marL="0">
              <a:lnSpc>
                <a:spcPct val="110000"/>
              </a:lnSpc>
              <a:buNone/>
            </a:pPr>
            <a:endParaRPr lang="en-US" sz="1250" dirty="0"/>
          </a:p>
          <a:p>
            <a:pPr indent="0" marL="0">
              <a:lnSpc>
                <a:spcPct val="110000"/>
              </a:lnSpc>
              <a:buNone/>
            </a:pPr>
            <a:r>
              <a:rPr lang="en-US" sz="1250" b="1" dirty="0">
                <a:solidFill>
                  <a:srgbClr val="F7F4EF"/>
                </a:solidFill>
                <a:latin typeface="Calibri" pitchFamily="34" charset="0"/>
                <a:ea typeface="Calibri" pitchFamily="34" charset="-122"/>
                <a:cs typeface="Calibri" pitchFamily="34" charset="-120"/>
              </a:rPr>
              <a:t>5大陸で検証（776サイト）:</a:t>
            </a:r>
            <a:endParaRPr lang="en-US" sz="1250" dirty="0"/>
          </a:p>
          <a:p>
            <a:pPr indent="0" marL="0">
              <a:lnSpc>
                <a:spcPct val="110000"/>
              </a:lnSpc>
              <a:buNone/>
            </a:pPr>
            <a:r>
              <a:rPr lang="en-US" sz="1250" dirty="0">
                <a:solidFill>
                  <a:srgbClr val="F7F4EF"/>
                </a:solidFill>
                <a:latin typeface="Calibri" pitchFamily="34" charset="0"/>
                <a:ea typeface="Calibri" pitchFamily="34" charset="-122"/>
                <a:cs typeface="Calibri" pitchFamily="34" charset="-120"/>
              </a:rPr>
              <a:t>指標依存性ギャップ &gt; 60pp（非ヨーロッパ全大陸）</a:t>
            </a:r>
            <a:endParaRPr lang="en-US" sz="1250" dirty="0"/>
          </a:p>
          <a:p>
            <a:pPr indent="0" marL="0">
              <a:lnSpc>
                <a:spcPct val="110000"/>
              </a:lnSpc>
              <a:buNone/>
            </a:pPr>
            <a:r>
              <a:rPr lang="en-US" sz="1250" b="1" dirty="0">
                <a:solidFill>
                  <a:srgbClr val="97BC62"/>
                </a:solidFill>
                <a:latin typeface="Calibri" pitchFamily="34" charset="0"/>
                <a:ea typeface="Calibri" pitchFamily="34" charset="-122"/>
                <a:cs typeface="Calibri" pitchFamily="34" charset="-120"/>
              </a:rPr>
              <a:t>→ 同定不可能性は特殊例ではなく全球的構造。</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37"/>
        </a:solidFill>
      </p:bgPr>
    </p:bg>
    <p:spTree>
      <p:nvGrpSpPr>
        <p:cNvPr id="1" name=""/>
        <p:cNvGrpSpPr/>
        <p:nvPr/>
      </p:nvGrpSpPr>
      <p:grpSpPr>
        <a:xfrm>
          <a:off x="0" y="0"/>
          <a:ext cx="0" cy="0"/>
          <a:chOff x="0" y="0"/>
          <a:chExt cx="0" cy="0"/>
        </a:xfrm>
      </p:grpSpPr>
      <p:sp>
        <p:nvSpPr>
          <p:cNvPr id="2" name="Shape 0"/>
          <p:cNvSpPr/>
          <p:nvPr/>
        </p:nvSpPr>
        <p:spPr>
          <a:xfrm>
            <a:off x="274320" y="137160"/>
            <a:ext cx="73152" cy="4846320"/>
          </a:xfrm>
          <a:prstGeom prst="rect">
            <a:avLst/>
          </a:prstGeom>
          <a:solidFill>
            <a:srgbClr val="E8963E"/>
          </a:solidFill>
          <a:ln/>
        </p:spPr>
      </p:sp>
      <p:sp>
        <p:nvSpPr>
          <p:cNvPr id="3" name="Text 1"/>
          <p:cNvSpPr/>
          <p:nvPr/>
        </p:nvSpPr>
        <p:spPr>
          <a:xfrm>
            <a:off x="548640" y="182880"/>
            <a:ext cx="8229600" cy="457200"/>
          </a:xfrm>
          <a:prstGeom prst="rect">
            <a:avLst/>
          </a:prstGeom>
          <a:noFill/>
          <a:ln/>
        </p:spPr>
        <p:txBody>
          <a:bodyPr wrap="square" rtlCol="0" anchor="ctr"/>
          <a:lstStyle/>
          <a:p>
            <a:pPr indent="0" marL="0">
              <a:buNone/>
            </a:pPr>
            <a:r>
              <a:rPr lang="en-US" sz="2000" b="1" dirty="0">
                <a:solidFill>
                  <a:srgbClr val="E8963E"/>
                </a:solidFill>
                <a:latin typeface="Georgia" pitchFamily="34" charset="0"/>
                <a:ea typeface="Georgia" pitchFamily="34" charset="-122"/>
                <a:cs typeface="Georgia" pitchFamily="34" charset="-120"/>
              </a:rPr>
              <a:t>原則2: 超過（Exceedance）</a:t>
            </a:r>
            <a:endParaRPr lang="en-US" sz="2000" dirty="0"/>
          </a:p>
        </p:txBody>
      </p:sp>
      <p:sp>
        <p:nvSpPr>
          <p:cNvPr id="4" name="Text 2"/>
          <p:cNvSpPr/>
          <p:nvPr/>
        </p:nvSpPr>
        <p:spPr>
          <a:xfrm>
            <a:off x="731520" y="731520"/>
            <a:ext cx="7863840" cy="4114800"/>
          </a:xfrm>
          <a:prstGeom prst="rect">
            <a:avLst/>
          </a:prstGeom>
          <a:noFill/>
          <a:ln/>
        </p:spPr>
        <p:txBody>
          <a:bodyPr wrap="square" rtlCol="0" anchor="ctr"/>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在来種の「存在」は自明。人為的影響の証拠は「超過」のみ。</a:t>
            </a:r>
            <a:endParaRPr lang="en-US" sz="1250" dirty="0"/>
          </a:p>
          <a:p>
            <a:pPr indent="0" marL="0">
              <a:lnSpc>
                <a:spcPct val="110000"/>
              </a:lnSpc>
              <a:buNone/>
            </a:pPr>
            <a:endParaRPr lang="en-US" sz="1250" dirty="0"/>
          </a:p>
          <a:p>
            <a:pPr indent="0" marL="0">
              <a:lnSpc>
                <a:spcPct val="110000"/>
              </a:lnSpc>
              <a:buNone/>
            </a:pPr>
            <a:r>
              <a:rPr lang="en-US" sz="1250" dirty="0">
                <a:solidFill>
                  <a:srgbClr val="F7F4EF"/>
                </a:solidFill>
                <a:latin typeface="Calibri" pitchFamily="34" charset="0"/>
                <a:ea typeface="Calibri" pitchFamily="34" charset="-122"/>
                <a:cs typeface="Calibri" pitchFamily="34" charset="-120"/>
              </a:rPr>
              <a:t>Plantago, Rumex等は完新世を通じてヨーロッパに在来種として存在。</a:t>
            </a:r>
            <a:endParaRPr lang="en-US" sz="1250" dirty="0"/>
          </a:p>
          <a:p>
            <a:pPr indent="0" marL="0">
              <a:lnSpc>
                <a:spcPct val="110000"/>
              </a:lnSpc>
              <a:buNone/>
            </a:pPr>
            <a:r>
              <a:rPr lang="en-US" sz="1250" dirty="0">
                <a:solidFill>
                  <a:srgbClr val="F7F4EF"/>
                </a:solidFill>
                <a:latin typeface="Calibri" pitchFamily="34" charset="0"/>
                <a:ea typeface="Calibri" pitchFamily="34" charset="-122"/>
                <a:cs typeface="Calibri" pitchFamily="34" charset="-120"/>
              </a:rPr>
              <a:t>その「初出現」は在来性を反映し、人間活動を示さない。</a:t>
            </a:r>
            <a:endParaRPr lang="en-US" sz="1250" dirty="0"/>
          </a:p>
          <a:p>
            <a:pPr indent="0" marL="0">
              <a:lnSpc>
                <a:spcPct val="110000"/>
              </a:lnSpc>
              <a:buNone/>
            </a:pPr>
            <a:endParaRPr lang="en-US" sz="1250" dirty="0"/>
          </a:p>
          <a:p>
            <a:pPr indent="0" marL="0">
              <a:lnSpc>
                <a:spcPct val="110000"/>
              </a:lnSpc>
              <a:buNone/>
            </a:pPr>
            <a:r>
              <a:rPr lang="en-US" sz="1300" b="1" dirty="0">
                <a:solidFill>
                  <a:srgbClr val="E8963E"/>
                </a:solidFill>
                <a:latin typeface="Calibri" pitchFamily="34" charset="0"/>
                <a:ea typeface="Calibri" pitchFamily="34" charset="-122"/>
                <a:cs typeface="Calibri" pitchFamily="34" charset="-120"/>
              </a:rPr>
              <a:t>超過 = ベースライン平均 + 2SD を超える異常な増加</a:t>
            </a:r>
            <a:endParaRPr lang="en-US" sz="1250" dirty="0"/>
          </a:p>
          <a:p>
            <a:pPr indent="0" marL="0">
              <a:lnSpc>
                <a:spcPct val="110000"/>
              </a:lnSpc>
              <a:buNone/>
            </a:pPr>
            <a:endParaRPr lang="en-US" sz="1250" dirty="0"/>
          </a:p>
          <a:p>
            <a:pPr indent="0" marL="0">
              <a:lnSpc>
                <a:spcPct val="110000"/>
              </a:lnSpc>
              <a:buNone/>
            </a:pPr>
            <a:r>
              <a:rPr lang="en-US" sz="1250" dirty="0">
                <a:solidFill>
                  <a:srgbClr val="F7F4EF"/>
                </a:solidFill>
                <a:latin typeface="Calibri" pitchFamily="34" charset="0"/>
                <a:ea typeface="Calibri" pitchFamily="34" charset="-122"/>
                <a:cs typeface="Calibri" pitchFamily="34" charset="-120"/>
              </a:rPr>
              <a:t>検証: 37の自然期コントロールサイトで偽陽性 0%</a:t>
            </a:r>
            <a:endParaRPr lang="en-US" sz="1250" dirty="0"/>
          </a:p>
          <a:p>
            <a:pPr indent="0" marL="0">
              <a:lnSpc>
                <a:spcPct val="110000"/>
              </a:lnSpc>
              <a:buNone/>
            </a:pPr>
            <a:r>
              <a:rPr lang="en-US" sz="1250" dirty="0">
                <a:solidFill>
                  <a:srgbClr val="F7F4EF"/>
                </a:solidFill>
                <a:latin typeface="Calibri" pitchFamily="34" charset="0"/>
                <a:ea typeface="Calibri" pitchFamily="34" charset="-122"/>
                <a:cs typeface="Calibri" pitchFamily="34" charset="-120"/>
              </a:rPr>
              <a:t>農耕期サイトの87%で超過検出</a:t>
            </a:r>
            <a:endParaRPr lang="en-US" sz="1250" dirty="0"/>
          </a:p>
          <a:p>
            <a:pPr indent="0" marL="0">
              <a:lnSpc>
                <a:spcPct val="110000"/>
              </a:lnSpc>
              <a:buNone/>
            </a:pPr>
            <a:endParaRPr lang="en-US" sz="1250" dirty="0"/>
          </a:p>
          <a:p>
            <a:pPr indent="0" marL="0">
              <a:lnSpc>
                <a:spcPct val="110000"/>
              </a:lnSpc>
              <a:buNone/>
            </a:pPr>
            <a:r>
              <a:rPr lang="en-US" sz="1300" b="1" dirty="0">
                <a:solidFill>
                  <a:srgbClr val="FFFFFF"/>
                </a:solidFill>
                <a:latin typeface="Calibri" pitchFamily="34" charset="0"/>
                <a:ea typeface="Calibri" pitchFamily="34" charset="-122"/>
                <a:cs typeface="Calibri" pitchFamily="34" charset="-120"/>
              </a:rPr>
              <a:t>→ 「存在するか？」ではなく「異常に多いか？」と問え。</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37"/>
        </a:solidFill>
      </p:bgPr>
    </p:bg>
    <p:spTree>
      <p:nvGrpSpPr>
        <p:cNvPr id="1" name=""/>
        <p:cNvGrpSpPr/>
        <p:nvPr/>
      </p:nvGrpSpPr>
      <p:grpSpPr>
        <a:xfrm>
          <a:off x="0" y="0"/>
          <a:ext cx="0" cy="0"/>
          <a:chOff x="0" y="0"/>
          <a:chExt cx="0" cy="0"/>
        </a:xfrm>
      </p:grpSpPr>
      <p:sp>
        <p:nvSpPr>
          <p:cNvPr id="2" name="Shape 0"/>
          <p:cNvSpPr/>
          <p:nvPr/>
        </p:nvSpPr>
        <p:spPr>
          <a:xfrm>
            <a:off x="274320" y="137160"/>
            <a:ext cx="73152" cy="4846320"/>
          </a:xfrm>
          <a:prstGeom prst="rect">
            <a:avLst/>
          </a:prstGeom>
          <a:solidFill>
            <a:srgbClr val="3B6FA0"/>
          </a:solidFill>
          <a:ln/>
        </p:spPr>
      </p:sp>
      <p:sp>
        <p:nvSpPr>
          <p:cNvPr id="3" name="Text 1"/>
          <p:cNvSpPr/>
          <p:nvPr/>
        </p:nvSpPr>
        <p:spPr>
          <a:xfrm>
            <a:off x="548640" y="182880"/>
            <a:ext cx="8229600" cy="457200"/>
          </a:xfrm>
          <a:prstGeom prst="rect">
            <a:avLst/>
          </a:prstGeom>
          <a:noFill/>
          <a:ln/>
        </p:spPr>
        <p:txBody>
          <a:bodyPr wrap="square" rtlCol="0" anchor="ctr"/>
          <a:lstStyle/>
          <a:p>
            <a:pPr indent="0" marL="0">
              <a:buNone/>
            </a:pPr>
            <a:r>
              <a:rPr lang="en-US" sz="2000" b="1" dirty="0">
                <a:solidFill>
                  <a:srgbClr val="3B6FA0"/>
                </a:solidFill>
                <a:latin typeface="Georgia" pitchFamily="34" charset="0"/>
                <a:ea typeface="Georgia" pitchFamily="34" charset="-122"/>
                <a:cs typeface="Georgia" pitchFamily="34" charset="-120"/>
              </a:rPr>
              <a:t>原則3: 補完性（Complementarity）</a:t>
            </a:r>
            <a:endParaRPr lang="en-US" sz="2000" dirty="0"/>
          </a:p>
        </p:txBody>
      </p:sp>
      <p:sp>
        <p:nvSpPr>
          <p:cNvPr id="4" name="Text 2"/>
          <p:cNvSpPr/>
          <p:nvPr/>
        </p:nvSpPr>
        <p:spPr>
          <a:xfrm>
            <a:off x="731520" y="731520"/>
            <a:ext cx="7863840" cy="4114800"/>
          </a:xfrm>
          <a:prstGeom prst="rect">
            <a:avLst/>
          </a:prstGeom>
          <a:noFill/>
          <a:ln/>
        </p:spPr>
        <p:txBody>
          <a:bodyPr wrap="square" rtlCol="0" anchor="ctr"/>
          <a:lstStyle/>
          <a:p>
            <a:pPr indent="0" marL="0">
              <a:lnSpc>
                <a:spcPct val="108000"/>
              </a:lnSpc>
              <a:buNone/>
            </a:pPr>
            <a:r>
              <a:rPr lang="en-US" sz="1400" b="1" dirty="0">
                <a:solidFill>
                  <a:srgbClr val="FFFFFF"/>
                </a:solidFill>
                <a:latin typeface="Calibri" pitchFamily="34" charset="0"/>
                <a:ea typeface="Calibri" pitchFamily="34" charset="-122"/>
                <a:cs typeface="Calibri" pitchFamily="34" charset="-120"/>
              </a:rPr>
              <a:t>異なるプロキシは異なるドメインを検出する。</a:t>
            </a:r>
            <a:endParaRPr lang="en-US" sz="1250" dirty="0"/>
          </a:p>
          <a:p>
            <a:pPr indent="0" marL="0">
              <a:lnSpc>
                <a:spcPct val="108000"/>
              </a:lnSpc>
              <a:buNone/>
            </a:pPr>
            <a:r>
              <a:rPr lang="en-US" sz="1400" b="1" dirty="0">
                <a:solidFill>
                  <a:srgbClr val="FFFFFF"/>
                </a:solidFill>
                <a:latin typeface="Calibri" pitchFamily="34" charset="0"/>
                <a:ea typeface="Calibri" pitchFamily="34" charset="-122"/>
                <a:cs typeface="Calibri" pitchFamily="34" charset="-120"/>
              </a:rPr>
              <a:t>複数プロキシの和集合は常に単一プロキシを超える。</a:t>
            </a:r>
            <a:endParaRPr lang="en-US" sz="1250" dirty="0"/>
          </a:p>
          <a:p>
            <a:pPr indent="0" marL="0">
              <a:lnSpc>
                <a:spcPct val="108000"/>
              </a:lnSpc>
              <a:buNone/>
            </a:pPr>
            <a:endParaRPr lang="en-US" sz="1250" dirty="0"/>
          </a:p>
          <a:p>
            <a:pPr indent="0" marL="0">
              <a:lnSpc>
                <a:spcPct val="108000"/>
              </a:lnSpc>
              <a:buNone/>
            </a:pPr>
            <a:r>
              <a:rPr lang="en-US" sz="1250" b="1" dirty="0">
                <a:solidFill>
                  <a:srgbClr val="F7F4EF"/>
                </a:solidFill>
                <a:latin typeface="Calibri" pitchFamily="34" charset="0"/>
                <a:ea typeface="Calibri" pitchFamily="34" charset="-122"/>
                <a:cs typeface="Calibri" pitchFamily="34" charset="-120"/>
              </a:rPr>
              <a:t>111同一コアサイトでの花粉×Charcoal:</a:t>
            </a:r>
            <a:endParaRPr lang="en-US" sz="1250" dirty="0"/>
          </a:p>
          <a:p>
            <a:pPr indent="0" marL="0">
              <a:lnSpc>
                <a:spcPct val="108000"/>
              </a:lnSpc>
              <a:buNone/>
            </a:pPr>
            <a:r>
              <a:rPr lang="en-US" sz="1250" dirty="0">
                <a:solidFill>
                  <a:srgbClr val="F7F4EF"/>
                </a:solidFill>
                <a:latin typeface="Calibri" pitchFamily="34" charset="0"/>
                <a:ea typeface="Calibri" pitchFamily="34" charset="-122"/>
                <a:cs typeface="Calibri" pitchFamily="34" charset="-120"/>
              </a:rPr>
              <a:t>・21%: 両方で超過（火+森林破壊）</a:t>
            </a:r>
            <a:endParaRPr lang="en-US" sz="1250" dirty="0"/>
          </a:p>
          <a:p>
            <a:pPr indent="0" marL="0">
              <a:lnSpc>
                <a:spcPct val="108000"/>
              </a:lnSpc>
              <a:buNone/>
            </a:pPr>
            <a:r>
              <a:rPr lang="en-US" sz="1250" b="1" dirty="0">
                <a:solidFill>
                  <a:srgbClr val="3B6FA0"/>
                </a:solidFill>
                <a:latin typeface="Calibri" pitchFamily="34" charset="0"/>
                <a:ea typeface="Calibri" pitchFamily="34" charset="-122"/>
                <a:cs typeface="Calibri" pitchFamily="34" charset="-120"/>
              </a:rPr>
              <a:t>・20%: Charcoalのみ超過（花粉で不可視の火管理）</a:t>
            </a:r>
            <a:endParaRPr lang="en-US" sz="1250" dirty="0"/>
          </a:p>
          <a:p>
            <a:pPr indent="0" marL="0">
              <a:lnSpc>
                <a:spcPct val="108000"/>
              </a:lnSpc>
              <a:buNone/>
            </a:pPr>
            <a:r>
              <a:rPr lang="en-US" sz="1250" dirty="0">
                <a:solidFill>
                  <a:srgbClr val="F7F4EF"/>
                </a:solidFill>
                <a:latin typeface="Calibri" pitchFamily="34" charset="0"/>
                <a:ea typeface="Calibri" pitchFamily="34" charset="-122"/>
                <a:cs typeface="Calibri" pitchFamily="34" charset="-120"/>
              </a:rPr>
              <a:t>・14%: 花粉のみ超過（火を伴わない植生変化）</a:t>
            </a:r>
            <a:endParaRPr lang="en-US" sz="1250" dirty="0"/>
          </a:p>
          <a:p>
            <a:pPr indent="0" marL="0">
              <a:lnSpc>
                <a:spcPct val="108000"/>
              </a:lnSpc>
              <a:buNone/>
            </a:pPr>
            <a:r>
              <a:rPr lang="en-US" sz="1250" dirty="0">
                <a:solidFill>
                  <a:srgbClr val="666666"/>
                </a:solidFill>
                <a:latin typeface="Calibri" pitchFamily="34" charset="0"/>
                <a:ea typeface="Calibri" pitchFamily="34" charset="-122"/>
                <a:cs typeface="Calibri" pitchFamily="34" charset="-120"/>
              </a:rPr>
              <a:t>・46%: どちらでも超過なし</a:t>
            </a:r>
            <a:endParaRPr lang="en-US" sz="1250" dirty="0"/>
          </a:p>
          <a:p>
            <a:pPr indent="0" marL="0">
              <a:lnSpc>
                <a:spcPct val="108000"/>
              </a:lnSpc>
              <a:buNone/>
            </a:pPr>
            <a:endParaRPr lang="en-US" sz="1250" dirty="0"/>
          </a:p>
          <a:p>
            <a:pPr indent="0" marL="0">
              <a:lnSpc>
                <a:spcPct val="108000"/>
              </a:lnSpc>
              <a:buNone/>
            </a:pPr>
            <a:r>
              <a:rPr lang="en-US" sz="1250" b="1" dirty="0">
                <a:solidFill>
                  <a:srgbClr val="FFFFFF"/>
                </a:solidFill>
                <a:latin typeface="Calibri" pitchFamily="34" charset="0"/>
                <a:ea typeface="Calibri" pitchFamily="34" charset="-122"/>
                <a:cs typeface="Calibri" pitchFamily="34" charset="-120"/>
              </a:rPr>
              <a:t>33%の不一致 = 各プロキシ固有の検出ドメインの証拠</a:t>
            </a:r>
            <a:endParaRPr lang="en-US" sz="1250" dirty="0"/>
          </a:p>
          <a:p>
            <a:pPr indent="0" marL="0">
              <a:lnSpc>
                <a:spcPct val="108000"/>
              </a:lnSpc>
              <a:buNone/>
            </a:pPr>
            <a:r>
              <a:rPr lang="en-US" sz="1250" b="1" dirty="0">
                <a:solidFill>
                  <a:srgbClr val="3B6FA0"/>
                </a:solidFill>
                <a:latin typeface="Calibri" pitchFamily="34" charset="0"/>
                <a:ea typeface="Calibri" pitchFamily="34" charset="-122"/>
                <a:cs typeface="Calibri" pitchFamily="34" charset="-120"/>
              </a:rPr>
              <a:t>→ 単一プロキシの研究は、そのプロキシが見える世界しか語れない。</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B4C9A"/>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 古生態プロキシの診断フレームワーク</a:t>
            </a:r>
            <a:endParaRPr lang="en-US" sz="800" dirty="0"/>
          </a:p>
        </p:txBody>
      </p:sp>
      <p:sp>
        <p:nvSpPr>
          <p:cNvPr id="4" name="Text 2"/>
          <p:cNvSpPr/>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1E2737"/>
                </a:solidFill>
                <a:latin typeface="Georgia" pitchFamily="34" charset="0"/>
                <a:ea typeface="Georgia" pitchFamily="34" charset="-122"/>
                <a:cs typeface="Georgia" pitchFamily="34" charset="-120"/>
              </a:rPr>
              <a:t>3つの診断ツール</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2560320"/>
        </p:xfrm>
        <a:graphic>
          <a:graphicData uri="http://schemas.openxmlformats.org/drawingml/2006/table">
            <a:tbl>
              <a:tblPr/>
              <a:tblGrid>
                <a:gridCol w="2011680"/>
                <a:gridCol w="2926080"/>
                <a:gridCol w="3657600"/>
              </a:tblGrid>
              <a:tr h="640080">
                <a:tc>
                  <a:txBody>
                    <a:bodyPr/>
                    <a:lstStyle/>
                    <a:p>
                      <a:pPr indent="0" marL="0">
                        <a:buNone/>
                      </a:pPr>
                      <a:r>
                        <a:rPr lang="en-US" sz="1100" b="1" dirty="0">
                          <a:solidFill>
                            <a:srgbClr val="FFFFFF"/>
                          </a:solidFill>
                        </a:rPr>
                        <a:t>ツール</a:t>
                      </a:r>
                      <a:endParaRPr lang="en-US" sz="11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6B4C9A"/>
                    </a:solidFill>
                  </a:tcPr>
                </a:tc>
                <a:tc>
                  <a:txBody>
                    <a:bodyPr/>
                    <a:lstStyle/>
                    <a:p>
                      <a:pPr indent="0" marL="0">
                        <a:buNone/>
                      </a:pPr>
                      <a:r>
                        <a:rPr lang="en-US" sz="1100" b="1" dirty="0">
                          <a:solidFill>
                            <a:srgbClr val="FFFFFF"/>
                          </a:solidFill>
                        </a:rPr>
                        <a:t>機能</a:t>
                      </a:r>
                      <a:endParaRPr lang="en-US" sz="11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6B4C9A"/>
                    </a:solidFill>
                  </a:tcPr>
                </a:tc>
                <a:tc>
                  <a:txBody>
                    <a:bodyPr/>
                    <a:lstStyle/>
                    <a:p>
                      <a:pPr indent="0" marL="0">
                        <a:buNone/>
                      </a:pPr>
                      <a:r>
                        <a:rPr lang="en-US" sz="1100" b="1" dirty="0">
                          <a:solidFill>
                            <a:srgbClr val="FFFFFF"/>
                          </a:solidFill>
                        </a:rPr>
                        <a:t>適用例</a:t>
                      </a:r>
                      <a:endParaRPr lang="en-US" sz="11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6B4C9A"/>
                    </a:solidFill>
                  </a:tcPr>
                </a:tc>
              </a:tr>
              <a:tr h="640080">
                <a:tc>
                  <a:txBody>
                    <a:bodyPr/>
                    <a:lstStyle/>
                    <a:p>
                      <a:pPr indent="0" marL="0">
                        <a:buNone/>
                      </a:pPr>
                      <a:r>
                        <a:rPr lang="en-US" sz="1100" b="1" dirty="0">
                          <a:solidFill>
                            <a:srgbClr val="000000"/>
                          </a:solidFill>
                        </a:rPr>
                        <a:t>デトレンド</a:t>
                      </a:r>
                      <a:endParaRPr lang="en-US" sz="1100" dirty="0"/>
                    </a:p>
                    <a:p>
                      <a:pPr indent="0" marL="0">
                        <a:buNone/>
                      </a:pPr>
                      <a:r>
                        <a:rPr lang="en-US" sz="1100" b="1" dirty="0">
                          <a:solidFill>
                            <a:srgbClr val="000000"/>
                          </a:solidFill>
                        </a:rPr>
                        <a:t>（一次差分法）</a:t>
                      </a:r>
                      <a:endParaRPr lang="en-US" sz="11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rPr>
                        <a:t>信号とノイズの分離。</a:t>
                      </a:r>
                      <a:endParaRPr lang="en-US" sz="1100" dirty="0"/>
                    </a:p>
                    <a:p>
                      <a:pPr indent="0" marL="0">
                        <a:buNone/>
                      </a:pPr>
                      <a:r>
                        <a:rPr lang="en-US" sz="1100" dirty="0">
                          <a:solidFill>
                            <a:srgbClr val="000000"/>
                          </a:solidFill>
                        </a:rPr>
                        <a:t>偽の相関を除去。</a:t>
                      </a:r>
                      <a:endParaRPr lang="en-US" sz="11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rPr>
                        <a:t>SPD×花粉: デトレンドで消失（偽）</a:t>
                      </a:r>
                      <a:endParaRPr lang="en-US" sz="1000" dirty="0"/>
                    </a:p>
                    <a:p>
                      <a:pPr indent="0" marL="0">
                        <a:buNone/>
                      </a:pPr>
                      <a:r>
                        <a:rPr lang="en-US" sz="1000" dirty="0">
                          <a:solidFill>
                            <a:srgbClr val="000000"/>
                          </a:solidFill>
                        </a:rPr>
                        <a:t>SPD×SPD: 生存（真）</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640080">
                <a:tc>
                  <a:txBody>
                    <a:bodyPr/>
                    <a:lstStyle/>
                    <a:p>
                      <a:pPr indent="0" marL="0">
                        <a:buNone/>
                      </a:pPr>
                      <a:r>
                        <a:rPr lang="en-US" sz="1100" b="1" dirty="0">
                          <a:solidFill>
                            <a:srgbClr val="000000"/>
                          </a:solidFill>
                        </a:rPr>
                        <a:t>スペクトル分解</a:t>
                      </a:r>
                      <a:endParaRPr lang="en-US" sz="1100" dirty="0"/>
                    </a:p>
                    <a:p>
                      <a:pPr indent="0" marL="0">
                        <a:buNone/>
                      </a:pPr>
                      <a:r>
                        <a:rPr lang="en-US" sz="1100" b="1" dirty="0">
                          <a:solidFill>
                            <a:srgbClr val="000000"/>
                          </a:solidFill>
                        </a:rPr>
                        <a:t>（周波数分析）</a:t>
                      </a:r>
                      <a:endParaRPr lang="en-US" sz="11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rPr>
                        <a:t>メカニズムの特定。</a:t>
                      </a:r>
                      <a:endParaRPr lang="en-US" sz="1100" dirty="0"/>
                    </a:p>
                    <a:p>
                      <a:pPr indent="0" marL="0">
                        <a:buNone/>
                      </a:pPr>
                      <a:r>
                        <a:rPr lang="en-US" sz="1100" dirty="0">
                          <a:solidFill>
                            <a:srgbClr val="000000"/>
                          </a:solidFill>
                        </a:rPr>
                        <a:t>どの時間スケールに信号があるか。</a:t>
                      </a:r>
                      <a:endParaRPr lang="en-US" sz="11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rPr>
                        <a:t>人口同期性: 気候帯域(500-1500年)</a:t>
                      </a:r>
                      <a:endParaRPr lang="en-US" sz="1000" dirty="0"/>
                    </a:p>
                    <a:p>
                      <a:pPr indent="0" marL="0">
                        <a:buNone/>
                      </a:pPr>
                      <a:r>
                        <a:rPr lang="en-US" sz="1000" dirty="0">
                          <a:solidFill>
                            <a:srgbClr val="000000"/>
                          </a:solidFill>
                        </a:rPr>
                        <a:t>でゼロ → 気候は原因でない</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640080">
                <a:tc>
                  <a:txBody>
                    <a:bodyPr/>
                    <a:lstStyle/>
                    <a:p>
                      <a:pPr indent="0" marL="0">
                        <a:buNone/>
                      </a:pPr>
                      <a:r>
                        <a:rPr lang="en-US" sz="1100" b="1" dirty="0">
                          <a:solidFill>
                            <a:srgbClr val="000000"/>
                          </a:solidFill>
                        </a:rPr>
                        <a:t>指標依存性ギャップ</a:t>
                      </a:r>
                      <a:endParaRPr lang="en-US" sz="1100" dirty="0"/>
                    </a:p>
                    <a:p>
                      <a:pPr indent="0" marL="0">
                        <a:buNone/>
                      </a:pPr>
                      <a:r>
                        <a:rPr lang="en-US" sz="1100" b="1" dirty="0">
                          <a:solidFill>
                            <a:srgbClr val="000000"/>
                          </a:solidFill>
                        </a:rPr>
                        <a:t>（IDG）</a:t>
                      </a:r>
                      <a:endParaRPr lang="en-US" sz="11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rPr>
                        <a:t>測定品質の定量化。</a:t>
                      </a:r>
                      <a:endParaRPr lang="en-US" sz="1100" dirty="0"/>
                    </a:p>
                    <a:p>
                      <a:pPr indent="0" marL="0">
                        <a:buNone/>
                      </a:pPr>
                      <a:r>
                        <a:rPr lang="en-US" sz="1100" dirty="0">
                          <a:solidFill>
                            <a:srgbClr val="000000"/>
                          </a:solidFill>
                        </a:rPr>
                        <a:t>結論が指標にどれだけ依存するか。</a:t>
                      </a:r>
                      <a:endParaRPr lang="en-US" sz="11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rPr>
                        <a:t>欧州6pp vs 北米94pp</a:t>
                      </a:r>
                      <a:endParaRPr lang="en-US" sz="1000" dirty="0"/>
                    </a:p>
                    <a:p>
                      <a:pPr indent="0" marL="0">
                        <a:buNone/>
                      </a:pPr>
                      <a:r>
                        <a:rPr lang="en-US" sz="1000" dirty="0">
                          <a:solidFill>
                            <a:srgbClr val="000000"/>
                          </a:solidFill>
                        </a:rPr>
                        <a:t>→ 北米では指標が結論を支配</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
        <p:nvSpPr>
          <p:cNvPr id="6" name="Text 3"/>
          <p:cNvSpPr/>
          <p:nvPr/>
        </p:nvSpPr>
        <p:spPr>
          <a:xfrm>
            <a:off x="640080" y="3657600"/>
            <a:ext cx="7863840" cy="548640"/>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3原則が「何が見えるか」を定義し、3ツールが「見えているものが本物か」を検証する。</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B4C9A"/>
          </a:solidFill>
          <a:ln/>
        </p:spPr>
      </p:sp>
      <p:sp>
        <p:nvSpPr>
          <p:cNvPr id="3" name="Text 1"/>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666666"/>
                </a:solidFill>
                <a:latin typeface="Calibri" pitchFamily="34" charset="0"/>
                <a:ea typeface="Calibri" pitchFamily="34" charset="-122"/>
                <a:cs typeface="Calibri" pitchFamily="34" charset="-120"/>
              </a:rPr>
              <a:t>ArchEco — 古生態プロキシの診断フレームワーク</a:t>
            </a:r>
            <a:endParaRPr lang="en-US" sz="800" dirty="0"/>
          </a:p>
        </p:txBody>
      </p:sp>
      <p:sp>
        <p:nvSpPr>
          <p:cNvPr id="4" name="Text 2"/>
          <p:cNvSpPr/>
          <p:nvPr/>
        </p:nvSpPr>
        <p:spPr>
          <a:xfrm>
            <a:off x="457200" y="228600"/>
            <a:ext cx="8229600" cy="457200"/>
          </a:xfrm>
          <a:prstGeom prst="rect">
            <a:avLst/>
          </a:prstGeom>
          <a:noFill/>
          <a:ln/>
        </p:spPr>
        <p:txBody>
          <a:bodyPr wrap="square" lIns="0" tIns="0" rIns="0" bIns="0" rtlCol="0" anchor="ctr"/>
          <a:lstStyle/>
          <a:p>
            <a:pPr indent="0" marL="0">
              <a:buNone/>
            </a:pPr>
            <a:r>
              <a:rPr lang="en-US" sz="2200" b="1" dirty="0">
                <a:solidFill>
                  <a:srgbClr val="1E2737"/>
                </a:solidFill>
                <a:latin typeface="Georgia" pitchFamily="34" charset="0"/>
                <a:ea typeface="Georgia" pitchFamily="34" charset="-122"/>
                <a:cs typeface="Georgia" pitchFamily="34" charset="-120"/>
              </a:rPr>
              <a:t>実践プロトコル（6ステップ）</a:t>
            </a:r>
            <a:endParaRPr lang="en-US" sz="2200" dirty="0"/>
          </a:p>
        </p:txBody>
      </p:sp>
      <p:sp>
        <p:nvSpPr>
          <p:cNvPr id="5" name="Text 3"/>
          <p:cNvSpPr/>
          <p:nvPr/>
        </p:nvSpPr>
        <p:spPr>
          <a:xfrm>
            <a:off x="640080" y="731520"/>
            <a:ext cx="7863840" cy="3840480"/>
          </a:xfrm>
          <a:prstGeom prst="rect">
            <a:avLst/>
          </a:prstGeom>
          <a:noFill/>
          <a:ln/>
        </p:spPr>
        <p:txBody>
          <a:bodyPr wrap="square" rtlCol="0" anchor="t"/>
          <a:lstStyle/>
          <a:p>
            <a:pPr indent="0" marL="0">
              <a:lnSpc>
                <a:spcPct val="100000"/>
              </a:lnSpc>
              <a:buNone/>
            </a:pPr>
            <a:r>
              <a:rPr lang="en-US" sz="1150" b="1" dirty="0">
                <a:solidFill>
                  <a:srgbClr val="6B4C9A"/>
                </a:solidFill>
                <a:latin typeface="Calibri" pitchFamily="34" charset="0"/>
                <a:ea typeface="Calibri" pitchFamily="34" charset="-122"/>
                <a:cs typeface="Calibri" pitchFamily="34" charset="-120"/>
              </a:rPr>
              <a:t>1. 検出関数を明示する</a:t>
            </a:r>
            <a:endParaRPr lang="en-US" sz="1150" dirty="0"/>
          </a:p>
          <a:p>
            <a:pPr indent="0" marL="0">
              <a:lnSpc>
                <a:spcPct val="100000"/>
              </a:lnSpc>
              <a:buNone/>
            </a:pPr>
            <a:r>
              <a:rPr lang="en-US" sz="1150" dirty="0">
                <a:solidFill>
                  <a:srgbClr val="2D2D2D"/>
                </a:solidFill>
                <a:latin typeface="Calibri" pitchFamily="34" charset="0"/>
                <a:ea typeface="Calibri" pitchFamily="34" charset="-122"/>
                <a:cs typeface="Calibri" pitchFamily="34" charset="-120"/>
              </a:rPr>
              <a:t>   使用する指標系がどのドメインを監視し、どのドメインを見ないかを記述。</a:t>
            </a:r>
            <a:endParaRPr lang="en-US" sz="1150" dirty="0"/>
          </a:p>
          <a:p>
            <a:pPr indent="0" marL="0">
              <a:lnSpc>
                <a:spcPct val="100000"/>
              </a:lnSpc>
              <a:buNone/>
            </a:pPr>
            <a:endParaRPr lang="en-US" sz="1150" dirty="0"/>
          </a:p>
          <a:p>
            <a:pPr indent="0" marL="0">
              <a:lnSpc>
                <a:spcPct val="100000"/>
              </a:lnSpc>
              <a:buNone/>
            </a:pPr>
            <a:r>
              <a:rPr lang="en-US" sz="1150" b="1" dirty="0">
                <a:solidFill>
                  <a:srgbClr val="6B4C9A"/>
                </a:solidFill>
                <a:latin typeface="Calibri" pitchFamily="34" charset="0"/>
                <a:ea typeface="Calibri" pitchFamily="34" charset="-122"/>
                <a:cs typeface="Calibri" pitchFamily="34" charset="-120"/>
              </a:rPr>
              <a:t>2. 存在ではなく超過を検出基準にする</a:t>
            </a:r>
            <a:endParaRPr lang="en-US" sz="1150" dirty="0"/>
          </a:p>
          <a:p>
            <a:pPr indent="0" marL="0">
              <a:lnSpc>
                <a:spcPct val="100000"/>
              </a:lnSpc>
              <a:buNone/>
            </a:pPr>
            <a:r>
              <a:rPr lang="en-US" sz="1150" dirty="0">
                <a:solidFill>
                  <a:srgbClr val="2D2D2D"/>
                </a:solidFill>
                <a:latin typeface="Calibri" pitchFamily="34" charset="0"/>
                <a:ea typeface="Calibri" pitchFamily="34" charset="-122"/>
                <a:cs typeface="Calibri" pitchFamily="34" charset="-120"/>
              </a:rPr>
              <a:t>   在来種の存在は証拠にならない。ベースライン+2SDの超過のみを報告。</a:t>
            </a:r>
            <a:endParaRPr lang="en-US" sz="1150" dirty="0"/>
          </a:p>
          <a:p>
            <a:pPr indent="0" marL="0">
              <a:lnSpc>
                <a:spcPct val="100000"/>
              </a:lnSpc>
              <a:buNone/>
            </a:pPr>
            <a:endParaRPr lang="en-US" sz="1150" dirty="0"/>
          </a:p>
          <a:p>
            <a:pPr indent="0" marL="0">
              <a:lnSpc>
                <a:spcPct val="100000"/>
              </a:lnSpc>
              <a:buNone/>
            </a:pPr>
            <a:r>
              <a:rPr lang="en-US" sz="1150" b="1" dirty="0">
                <a:solidFill>
                  <a:srgbClr val="6B4C9A"/>
                </a:solidFill>
                <a:latin typeface="Calibri" pitchFamily="34" charset="0"/>
                <a:ea typeface="Calibri" pitchFamily="34" charset="-122"/>
                <a:cs typeface="Calibri" pitchFamily="34" charset="-120"/>
              </a:rPr>
              <a:t>3. ドメイン重複を検証する</a:t>
            </a:r>
            <a:endParaRPr lang="en-US" sz="1150" dirty="0"/>
          </a:p>
          <a:p>
            <a:pPr indent="0" marL="0">
              <a:lnSpc>
                <a:spcPct val="100000"/>
              </a:lnSpc>
              <a:buNone/>
            </a:pPr>
            <a:r>
              <a:rPr lang="en-US" sz="1150" dirty="0">
                <a:solidFill>
                  <a:srgbClr val="2D2D2D"/>
                </a:solidFill>
                <a:latin typeface="Calibri" pitchFamily="34" charset="0"/>
                <a:ea typeface="Calibri" pitchFamily="34" charset="-122"/>
                <a:cs typeface="Calibri" pitchFamily="34" charset="-120"/>
              </a:rPr>
              <a:t>   異文化比較では各地域の農耕形態に対する指標の有効性を確認。IDGを報告。</a:t>
            </a:r>
            <a:endParaRPr lang="en-US" sz="1150" dirty="0"/>
          </a:p>
          <a:p>
            <a:pPr indent="0" marL="0">
              <a:lnSpc>
                <a:spcPct val="100000"/>
              </a:lnSpc>
              <a:buNone/>
            </a:pPr>
            <a:endParaRPr lang="en-US" sz="1150" dirty="0"/>
          </a:p>
          <a:p>
            <a:pPr indent="0" marL="0">
              <a:lnSpc>
                <a:spcPct val="100000"/>
              </a:lnSpc>
              <a:buNone/>
            </a:pPr>
            <a:r>
              <a:rPr lang="en-US" sz="1150" b="1" dirty="0">
                <a:solidFill>
                  <a:srgbClr val="6B4C9A"/>
                </a:solidFill>
                <a:latin typeface="Calibri" pitchFamily="34" charset="0"/>
                <a:ea typeface="Calibri" pitchFamily="34" charset="-122"/>
                <a:cs typeface="Calibri" pitchFamily="34" charset="-120"/>
              </a:rPr>
              <a:t>4. 相関の前にデトレンドする</a:t>
            </a:r>
            <a:endParaRPr lang="en-US" sz="1150" dirty="0"/>
          </a:p>
          <a:p>
            <a:pPr indent="0" marL="0">
              <a:lnSpc>
                <a:spcPct val="100000"/>
              </a:lnSpc>
              <a:buNone/>
            </a:pPr>
            <a:r>
              <a:rPr lang="en-US" sz="1150" dirty="0">
                <a:solidFill>
                  <a:srgbClr val="2D2D2D"/>
                </a:solidFill>
                <a:latin typeface="Calibri" pitchFamily="34" charset="0"/>
                <a:ea typeface="Calibri" pitchFamily="34" charset="-122"/>
                <a:cs typeface="Calibri" pitchFamily="34" charset="-120"/>
              </a:rPr>
              <a:t>   生の相関とデトレンド後の相関の両方を報告。消失したら偽。</a:t>
            </a:r>
            <a:endParaRPr lang="en-US" sz="1150" dirty="0"/>
          </a:p>
          <a:p>
            <a:pPr indent="0" marL="0">
              <a:lnSpc>
                <a:spcPct val="100000"/>
              </a:lnSpc>
              <a:buNone/>
            </a:pPr>
            <a:endParaRPr lang="en-US" sz="1150" dirty="0"/>
          </a:p>
          <a:p>
            <a:pPr indent="0" marL="0">
              <a:lnSpc>
                <a:spcPct val="100000"/>
              </a:lnSpc>
              <a:buNone/>
            </a:pPr>
            <a:r>
              <a:rPr lang="en-US" sz="1150" b="1" dirty="0">
                <a:solidFill>
                  <a:srgbClr val="6B4C9A"/>
                </a:solidFill>
                <a:latin typeface="Calibri" pitchFamily="34" charset="0"/>
                <a:ea typeface="Calibri" pitchFamily="34" charset="-122"/>
                <a:cs typeface="Calibri" pitchFamily="34" charset="-120"/>
              </a:rPr>
              <a:t>5. 周波数で分解する</a:t>
            </a:r>
            <a:endParaRPr lang="en-US" sz="1150" dirty="0"/>
          </a:p>
          <a:p>
            <a:pPr indent="0" marL="0">
              <a:lnSpc>
                <a:spcPct val="100000"/>
              </a:lnSpc>
              <a:buNone/>
            </a:pPr>
            <a:r>
              <a:rPr lang="en-US" sz="1150" dirty="0">
                <a:solidFill>
                  <a:srgbClr val="2D2D2D"/>
                </a:solidFill>
                <a:latin typeface="Calibri" pitchFamily="34" charset="0"/>
                <a:ea typeface="Calibri" pitchFamily="34" charset="-122"/>
                <a:cs typeface="Calibri" pitchFamily="34" charset="-120"/>
              </a:rPr>
              <a:t>   有意な相関が出たら、どの周波数帯に信号があるかを報告。メカニズムを制約。</a:t>
            </a:r>
            <a:endParaRPr lang="en-US" sz="1150" dirty="0"/>
          </a:p>
          <a:p>
            <a:pPr indent="0" marL="0">
              <a:lnSpc>
                <a:spcPct val="100000"/>
              </a:lnSpc>
              <a:buNone/>
            </a:pPr>
            <a:endParaRPr lang="en-US" sz="1150" dirty="0"/>
          </a:p>
          <a:p>
            <a:pPr indent="0" marL="0">
              <a:lnSpc>
                <a:spcPct val="100000"/>
              </a:lnSpc>
              <a:buNone/>
            </a:pPr>
            <a:r>
              <a:rPr lang="en-US" sz="1150" b="1" dirty="0">
                <a:solidFill>
                  <a:srgbClr val="6B4C9A"/>
                </a:solidFill>
                <a:latin typeface="Calibri" pitchFamily="34" charset="0"/>
                <a:ea typeface="Calibri" pitchFamily="34" charset="-122"/>
                <a:cs typeface="Calibri" pitchFamily="34" charset="-120"/>
              </a:rPr>
              <a:t>6. 複数プロキシを組み合わせる</a:t>
            </a:r>
            <a:endParaRPr lang="en-US" sz="1150" dirty="0"/>
          </a:p>
          <a:p>
            <a:pPr indent="0" marL="0">
              <a:lnSpc>
                <a:spcPct val="100000"/>
              </a:lnSpc>
              <a:buNone/>
            </a:pPr>
            <a:r>
              <a:rPr lang="en-US" sz="1150" dirty="0">
                <a:solidFill>
                  <a:srgbClr val="2D2D2D"/>
                </a:solidFill>
                <a:latin typeface="Calibri" pitchFamily="34" charset="0"/>
                <a:ea typeface="Calibri" pitchFamily="34" charset="-122"/>
                <a:cs typeface="Calibri" pitchFamily="34" charset="-120"/>
              </a:rPr>
              <a:t>   非重複ドメインのプロキシを使用。一致/不一致のマトリクスを報告。</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37"/>
        </a:solidFill>
      </p:bgPr>
    </p:bg>
    <p:spTree>
      <p:nvGrpSpPr>
        <p:cNvPr id="1" name=""/>
        <p:cNvGrpSpPr/>
        <p:nvPr/>
      </p:nvGrpSpPr>
      <p:grpSpPr>
        <a:xfrm>
          <a:off x="0" y="0"/>
          <a:ext cx="0" cy="0"/>
          <a:chOff x="0" y="0"/>
          <a:chExt cx="0" cy="0"/>
        </a:xfrm>
      </p:grpSpPr>
      <p:sp>
        <p:nvSpPr>
          <p:cNvPr id="2" name="Text 0"/>
          <p:cNvSpPr/>
          <p:nvPr/>
        </p:nvSpPr>
        <p:spPr>
          <a:xfrm>
            <a:off x="731520" y="182880"/>
            <a:ext cx="7680960" cy="320040"/>
          </a:xfrm>
          <a:prstGeom prst="rect">
            <a:avLst/>
          </a:prstGeom>
          <a:noFill/>
          <a:ln/>
        </p:spPr>
        <p:txBody>
          <a:bodyPr wrap="square" rtlCol="0" anchor="ctr"/>
          <a:lstStyle/>
          <a:p>
            <a:pPr indent="0" marL="0">
              <a:buNone/>
            </a:pPr>
            <a:r>
              <a:rPr lang="en-US" sz="1400" b="1" dirty="0">
                <a:solidFill>
                  <a:srgbClr val="97BC62"/>
                </a:solidFill>
                <a:latin typeface="Calibri" pitchFamily="34" charset="0"/>
                <a:ea typeface="Calibri" pitchFamily="34" charset="-122"/>
                <a:cs typeface="Calibri" pitchFamily="34" charset="-120"/>
              </a:rPr>
              <a:t>結論</a:t>
            </a:r>
            <a:endParaRPr lang="en-US" sz="1400" dirty="0"/>
          </a:p>
        </p:txBody>
      </p:sp>
      <p:sp>
        <p:nvSpPr>
          <p:cNvPr id="3" name="Text 1"/>
          <p:cNvSpPr/>
          <p:nvPr/>
        </p:nvSpPr>
        <p:spPr>
          <a:xfrm>
            <a:off x="731520" y="548640"/>
            <a:ext cx="7680960" cy="411480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プロキシは過去への透明な窓ではない。</a:t>
            </a:r>
            <a:endParaRPr lang="en-US" sz="1300" dirty="0"/>
          </a:p>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検出特性を持つ測定器である。</a:t>
            </a:r>
            <a:endParaRPr lang="en-US" sz="1300" dirty="0"/>
          </a:p>
          <a:p>
            <a:pPr indent="0" marL="0">
              <a:lnSpc>
                <a:spcPct val="110000"/>
              </a:lnSpc>
              <a:buNone/>
            </a:pPr>
            <a:endParaRPr lang="en-US" sz="1300" dirty="0"/>
          </a:p>
          <a:p>
            <a:pPr indent="0" marL="0">
              <a:lnSpc>
                <a:spcPct val="110000"/>
              </a:lnSpc>
              <a:buNone/>
            </a:pPr>
            <a:r>
              <a:rPr lang="en-US" sz="1300" b="1" dirty="0">
                <a:solidFill>
                  <a:srgbClr val="97BC62"/>
                </a:solidFill>
                <a:latin typeface="Calibri" pitchFamily="34" charset="0"/>
                <a:ea typeface="Calibri" pitchFamily="34" charset="-122"/>
                <a:cs typeface="Calibri" pitchFamily="34" charset="-120"/>
              </a:rPr>
              <a:t>3つの原則（一文で）:</a:t>
            </a:r>
            <a:endParaRPr lang="en-US" sz="1300" dirty="0"/>
          </a:p>
          <a:p>
            <a:pPr indent="0" marL="0">
              <a:lnSpc>
                <a:spcPct val="110000"/>
              </a:lnSpc>
              <a:buNone/>
            </a:pPr>
            <a:endParaRPr lang="en-US" sz="1300" dirty="0"/>
          </a:p>
          <a:p>
            <a:pPr indent="0" marL="0">
              <a:lnSpc>
                <a:spcPct val="110000"/>
              </a:lnSpc>
              <a:buNone/>
            </a:pPr>
            <a:r>
              <a:rPr lang="en-US" sz="1400" dirty="0">
                <a:solidFill>
                  <a:srgbClr val="F7F4EF"/>
                </a:solidFill>
                <a:latin typeface="Calibri" pitchFamily="34" charset="0"/>
                <a:ea typeface="Calibri" pitchFamily="34" charset="-122"/>
                <a:cs typeface="Calibri" pitchFamily="34" charset="-120"/>
              </a:rPr>
              <a:t>「プロキシは、その測定ドメインと重なる変容のみを検出し、</a:t>
            </a:r>
            <a:endParaRPr lang="en-US" sz="1300" dirty="0"/>
          </a:p>
          <a:p>
            <a:pPr indent="0" marL="0">
              <a:lnSpc>
                <a:spcPct val="110000"/>
              </a:lnSpc>
              <a:buNone/>
            </a:pPr>
            <a:r>
              <a:rPr lang="en-US" sz="1400" dirty="0">
                <a:solidFill>
                  <a:srgbClr val="F7F4EF"/>
                </a:solidFill>
                <a:latin typeface="Calibri" pitchFamily="34" charset="0"/>
                <a:ea typeface="Calibri" pitchFamily="34" charset="-122"/>
                <a:cs typeface="Calibri" pitchFamily="34" charset="-120"/>
              </a:rPr>
              <a:t>ノイズフロアを超える信号のみを識別し、</a:t>
            </a:r>
            <a:endParaRPr lang="en-US" sz="1300" dirty="0"/>
          </a:p>
          <a:p>
            <a:pPr indent="0" marL="0">
              <a:lnSpc>
                <a:spcPct val="110000"/>
              </a:lnSpc>
              <a:buNone/>
            </a:pPr>
            <a:r>
              <a:rPr lang="en-US" sz="1400" dirty="0">
                <a:solidFill>
                  <a:srgbClr val="F7F4EF"/>
                </a:solidFill>
                <a:latin typeface="Calibri" pitchFamily="34" charset="0"/>
                <a:ea typeface="Calibri" pitchFamily="34" charset="-122"/>
                <a:cs typeface="Calibri" pitchFamily="34" charset="-120"/>
              </a:rPr>
              <a:t>単一プロキシでは人間影響の全ドメインをカバーできない。」</a:t>
            </a:r>
            <a:endParaRPr lang="en-US" sz="1300" dirty="0"/>
          </a:p>
          <a:p>
            <a:pPr indent="0" marL="0">
              <a:lnSpc>
                <a:spcPct val="110000"/>
              </a:lnSpc>
              <a:buNone/>
            </a:pPr>
            <a:endParaRPr lang="en-US" sz="1300" dirty="0"/>
          </a:p>
          <a:p>
            <a:pPr indent="0" marL="0">
              <a:lnSpc>
                <a:spcPct val="110000"/>
              </a:lnSpc>
              <a:buNone/>
            </a:pPr>
            <a:r>
              <a:rPr lang="en-US" sz="1200" dirty="0">
                <a:solidFill>
                  <a:srgbClr val="666666"/>
                </a:solidFill>
                <a:latin typeface="Calibri" pitchFamily="34" charset="0"/>
                <a:ea typeface="Calibri" pitchFamily="34" charset="-122"/>
                <a:cs typeface="Calibri" pitchFamily="34" charset="-120"/>
              </a:rPr>
              <a:t>物理学は測定理論を発展させた。医学は感度・特異度を定量化した。</a:t>
            </a:r>
            <a:endParaRPr lang="en-US" sz="1300" dirty="0"/>
          </a:p>
          <a:p>
            <a:pPr indent="0" marL="0">
              <a:lnSpc>
                <a:spcPct val="110000"/>
              </a:lnSpc>
              <a:buNone/>
            </a:pPr>
            <a:r>
              <a:rPr lang="en-US" sz="1200" dirty="0">
                <a:solidFill>
                  <a:srgbClr val="666666"/>
                </a:solidFill>
                <a:latin typeface="Calibri" pitchFamily="34" charset="0"/>
                <a:ea typeface="Calibri" pitchFamily="34" charset="-122"/>
                <a:cs typeface="Calibri" pitchFamily="34" charset="-120"/>
              </a:rPr>
              <a:t>古生態学も同じことができる。</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6B4C9A"/>
        </a:solidFill>
      </p:bgPr>
    </p:bg>
    <p:spTree>
      <p:nvGrpSpPr>
        <p:cNvPr id="1" name=""/>
        <p:cNvGrpSpPr/>
        <p:nvPr/>
      </p:nvGrpSpPr>
      <p:grpSpPr>
        <a:xfrm>
          <a:off x="0" y="0"/>
          <a:ext cx="0" cy="0"/>
          <a:chOff x="0" y="0"/>
          <a:chExt cx="0" cy="0"/>
        </a:xfrm>
      </p:grpSpPr>
      <p:sp>
        <p:nvSpPr>
          <p:cNvPr id="2" name="Text 0"/>
          <p:cNvSpPr/>
          <p:nvPr/>
        </p:nvSpPr>
        <p:spPr>
          <a:xfrm>
            <a:off x="731520" y="1645920"/>
            <a:ext cx="7680960" cy="1097280"/>
          </a:xfrm>
          <a:prstGeom prst="rect">
            <a:avLst/>
          </a:prstGeom>
          <a:noFill/>
          <a:ln/>
        </p:spPr>
        <p:txBody>
          <a:bodyPr wrap="square"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ご清聴ありがとうございました</a:t>
            </a:r>
            <a:endParaRPr lang="en-US" sz="3200" dirty="0"/>
          </a:p>
        </p:txBody>
      </p:sp>
      <p:sp>
        <p:nvSpPr>
          <p:cNvPr id="3" name="Text 1"/>
          <p:cNvSpPr/>
          <p:nvPr/>
        </p:nvSpPr>
        <p:spPr>
          <a:xfrm>
            <a:off x="731520" y="3200400"/>
            <a:ext cx="7680960" cy="914400"/>
          </a:xfrm>
          <a:prstGeom prst="rect">
            <a:avLst/>
          </a:prstGeom>
          <a:noFill/>
          <a:ln/>
        </p:spPr>
        <p:txBody>
          <a:bodyPr wrap="square" rtlCol="0" anchor="ctr"/>
          <a:lstStyle/>
          <a:p>
            <a:pPr algn="ctr" indent="0" marL="0">
              <a:lnSpc>
                <a:spcPct val="130000"/>
              </a:lnSpc>
              <a:buNone/>
            </a:pPr>
            <a:r>
              <a:rPr lang="en-US" sz="1300" dirty="0">
                <a:solidFill>
                  <a:srgbClr val="F7F4EF"/>
                </a:solidFill>
                <a:latin typeface="Calibri" pitchFamily="34" charset="0"/>
                <a:ea typeface="Calibri" pitchFamily="34" charset="-122"/>
                <a:cs typeface="Calibri" pitchFamily="34" charset="-120"/>
              </a:rPr>
              <a:t>11本の論文 | 1,500+サイト | 5大陸 | 3原則 + 3ツール</a:t>
            </a:r>
            <a:endParaRPr lang="en-US" sz="1300" dirty="0"/>
          </a:p>
          <a:p>
            <a:pPr algn="ctr" indent="0" marL="0">
              <a:lnSpc>
                <a:spcPct val="130000"/>
              </a:lnSpc>
              <a:buNone/>
            </a:pPr>
            <a:r>
              <a:rPr lang="en-US" sz="1300" dirty="0">
                <a:solidFill>
                  <a:srgbClr val="F7F4EF"/>
                </a:solidFill>
                <a:latin typeface="Calibri" pitchFamily="34" charset="0"/>
                <a:ea typeface="Calibri" pitchFamily="34" charset="-122"/>
                <a:cs typeface="Calibri" pitchFamily="34" charset="-120"/>
              </a:rPr>
              <a:t>ArchEco 歴史生態学×考古学 研究室</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2026-03-29T13:32:58Z</dcterms:created>
  <dcterms:modified xsi:type="dcterms:W3CDTF">2026-03-29T13:32:58Z</dcterms:modified>
</cp:coreProperties>
</file>