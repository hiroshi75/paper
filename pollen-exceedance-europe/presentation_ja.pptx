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牧畜先行 %</c:v>
                </c:pt>
              </c:strCache>
            </c:strRef>
          </c:tx>
          <c:spPr>
            <a:solidFill>
              <a:srgbClr val="2C5F2D"/>
            </a:solidFill>
            <a:effectLst/>
          </c:spPr>
          <c:invertIfNegative val="0"/>
          <c:dLbls>
            <c:numFmt formatCode="#,##0" sourceLinked="0"/>
            <c:txPr>
              <a:bodyPr/>
              <a:lstStyle/>
              <a:p>
                <a:pPr>
                  <a:defRPr b="0" i="0" strike="noStrike" sz="1200" u="none">
                    <a:solidFill>
                      <a:srgbClr val="2D2D2D"/>
                    </a:solidFill>
                    <a:latin typeface="Arial"/>
                  </a:defRPr>
                </a:pPr>
              </a:p>
            </c:txPr>
            <c:showLegendKey val="0"/>
            <c:showVal val="1"/>
            <c:showCatName val="0"/>
            <c:showSerName val="0"/>
            <c:showPercent val="0"/>
            <c:showBubbleSize val="0"/>
            <c:showLeaderLines val="0"/>
          </c:dLbls>
          <c:cat>
            <c:multiLvlStrRef>
              <c:f>Sheet1!$A$2:$A$4</c:f>
              <c:multiLvlStrCache>
                <c:ptCount val="3"/>
                <c:lvl>
                  <c:pt idx="0">
                    <c:v>イギリス諸島
(n=53)</c:v>
                  </c:pt>
                  <c:pt idx="1">
                    <c:v>中央ヨーロッパ
(n=61)</c:v>
                  </c:pt>
                  <c:pt idx="2">
                    <c:v>スカンジナビア
(n=181)</c:v>
                  </c:pt>
                </c:lvl>
              </c:multiLvlStrCache>
            </c:multiLvlStrRef>
          </c:cat>
          <c:val>
            <c:numRef>
              <c:f>Sheet1!$B$2:$B$4</c:f>
              <c:numCache>
                <c:formatCode>General</c:formatCode>
                <c:ptCount val="3"/>
                <c:pt idx="0">
                  <c:v>81.1</c:v>
                </c:pt>
                <c:pt idx="1">
                  <c:v>82</c:v>
                </c:pt>
                <c:pt idx="2">
                  <c:v>67.4</c:v>
                </c:pt>
              </c:numCache>
            </c:numRef>
          </c:val>
        </c:ser>
        <c:dLbls>
          <c:numFmt formatCode="#,##0" sourceLinked="0"/>
          <c:txPr>
            <a:bodyPr/>
            <a:lstStyle/>
            <a:p>
              <a:pPr>
                <a:defRPr b="0" i="0" strike="noStrike" sz="1200" u="none">
                  <a:solidFill>
                    <a:srgbClr val="2D2D2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D2D2D"/>
                </a:solidFill>
                <a:latin typeface="Arial"/>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2D"/>
        </a:solidFill>
      </p:bgPr>
    </p:bg>
    <p:spTree>
      <p:nvGrpSpPr>
        <p:cNvPr id="1" name=""/>
        <p:cNvGrpSpPr/>
        <p:nvPr/>
      </p:nvGrpSpPr>
      <p:grpSpPr>
        <a:xfrm>
          <a:off x="0" y="0"/>
          <a:ext cx="0" cy="0"/>
          <a:chOff x="0" y="0"/>
          <a:chExt cx="0" cy="0"/>
        </a:xfrm>
      </p:grpSpPr>
      <p:sp>
        <p:nvSpPr>
          <p:cNvPr id="2" name="Shape 0"/>
          <p:cNvSpPr/>
          <p:nvPr/>
        </p:nvSpPr>
        <p:spPr>
          <a:xfrm>
            <a:off x="0" y="3840480"/>
            <a:ext cx="9144000" cy="1303020"/>
          </a:xfrm>
          <a:prstGeom prst="rect">
            <a:avLst/>
          </a:prstGeom>
          <a:solidFill>
            <a:srgbClr val="2C5F2D"/>
          </a:solidFill>
          <a:ln/>
        </p:spPr>
      </p:sp>
      <p:sp>
        <p:nvSpPr>
          <p:cNvPr id="3" name="Text 1"/>
          <p:cNvSpPr/>
          <p:nvPr/>
        </p:nvSpPr>
        <p:spPr>
          <a:xfrm>
            <a:off x="731520" y="731520"/>
            <a:ext cx="7680960" cy="2194560"/>
          </a:xfrm>
          <a:prstGeom prst="rect">
            <a:avLst/>
          </a:prstGeom>
          <a:noFill/>
          <a:ln/>
        </p:spPr>
        <p:txBody>
          <a:bodyPr wrap="square" rtlCol="0" anchor="ctr"/>
          <a:lstStyle/>
          <a:p>
            <a:pPr indent="0" marL="0">
              <a:lnSpc>
                <a:spcPct val="130000"/>
              </a:lnSpc>
              <a:buNone/>
            </a:pPr>
            <a:r>
              <a:rPr lang="en-US" sz="2800" b="1" dirty="0">
                <a:solidFill>
                  <a:srgbClr val="FFFFFF"/>
                </a:solidFill>
                <a:latin typeface="Georgia" pitchFamily="34" charset="0"/>
                <a:ea typeface="Georgia" pitchFamily="34" charset="-122"/>
                <a:cs typeface="Georgia" pitchFamily="34" charset="-120"/>
              </a:rPr>
              <a:t>花粉指標種の「存在」ではなく「閾値超過」が</a:t>
            </a:r>
            <a:endParaRPr lang="en-US" sz="2800" dirty="0"/>
          </a:p>
          <a:p>
            <a:pPr indent="0" marL="0">
              <a:lnSpc>
                <a:spcPct val="130000"/>
              </a:lnSpc>
              <a:buNone/>
            </a:pPr>
            <a:r>
              <a:rPr lang="en-US" sz="2800" b="1" dirty="0">
                <a:solidFill>
                  <a:srgbClr val="FFFFFF"/>
                </a:solidFill>
                <a:latin typeface="Georgia" pitchFamily="34" charset="0"/>
                <a:ea typeface="Georgia" pitchFamily="34" charset="-122"/>
                <a:cs typeface="Georgia" pitchFamily="34" charset="-120"/>
              </a:rPr>
              <a:t>人為的植生シグナルを識別する</a:t>
            </a:r>
            <a:endParaRPr lang="en-US" sz="2800" dirty="0"/>
          </a:p>
        </p:txBody>
      </p:sp>
      <p:sp>
        <p:nvSpPr>
          <p:cNvPr id="4" name="Text 2"/>
          <p:cNvSpPr/>
          <p:nvPr/>
        </p:nvSpPr>
        <p:spPr>
          <a:xfrm>
            <a:off x="731520" y="2743200"/>
            <a:ext cx="7680960" cy="548640"/>
          </a:xfrm>
          <a:prstGeom prst="rect">
            <a:avLst/>
          </a:prstGeom>
          <a:noFill/>
          <a:ln/>
        </p:spPr>
        <p:txBody>
          <a:bodyPr wrap="square" rtlCol="0" anchor="ctr"/>
          <a:lstStyle/>
          <a:p>
            <a:pPr indent="0" marL="0">
              <a:buNone/>
            </a:pPr>
            <a:r>
              <a:rPr lang="en-US" sz="1600" dirty="0">
                <a:solidFill>
                  <a:srgbClr val="97BC62"/>
                </a:solidFill>
                <a:latin typeface="Calibri" pitchFamily="34" charset="0"/>
                <a:ea typeface="Calibri" pitchFamily="34" charset="-122"/>
                <a:cs typeface="Calibri" pitchFamily="34" charset="-120"/>
              </a:rPr>
              <a:t>ヨーロッパ北西部・中央部 331地点の花粉記録からの証拠</a:t>
            </a:r>
            <a:endParaRPr lang="en-US" sz="1600" dirty="0"/>
          </a:p>
        </p:txBody>
      </p:sp>
      <p:sp>
        <p:nvSpPr>
          <p:cNvPr id="5" name="Text 3"/>
          <p:cNvSpPr/>
          <p:nvPr/>
        </p:nvSpPr>
        <p:spPr>
          <a:xfrm>
            <a:off x="731520" y="4114800"/>
            <a:ext cx="45720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ArchEco 歴史生態学×考古学 研究室</a:t>
            </a:r>
            <a:endParaRPr lang="en-US" sz="1400" dirty="0"/>
          </a:p>
        </p:txBody>
      </p:sp>
      <p:sp>
        <p:nvSpPr>
          <p:cNvPr id="6" name="Text 4"/>
          <p:cNvSpPr/>
          <p:nvPr/>
        </p:nvSpPr>
        <p:spPr>
          <a:xfrm>
            <a:off x="731520" y="4480560"/>
            <a:ext cx="2743200" cy="274320"/>
          </a:xfrm>
          <a:prstGeom prst="rect">
            <a:avLst/>
          </a:prstGeom>
          <a:noFill/>
          <a:ln/>
        </p:spPr>
        <p:txBody>
          <a:bodyPr wrap="square" rtlCol="0" anchor="ctr"/>
          <a:lstStyle/>
          <a:p>
            <a:pPr indent="0" marL="0">
              <a:buNone/>
            </a:pPr>
            <a:r>
              <a:rPr lang="en-US" sz="1200" dirty="0">
                <a:solidFill>
                  <a:srgbClr val="F7F4EF"/>
                </a:solidFill>
                <a:latin typeface="Calibri" pitchFamily="34" charset="0"/>
                <a:ea typeface="Calibri" pitchFamily="34" charset="-122"/>
                <a:cs typeface="Calibri" pitchFamily="34" charset="-120"/>
              </a:rPr>
              <a:t>2026年3月</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Lab — 花粉指標種の閾値超過が人為的シグナルを識別する</a:t>
            </a:r>
            <a:endParaRPr lang="en-US" sz="800" dirty="0"/>
          </a:p>
        </p:txBody>
      </p:sp>
      <p:sp>
        <p:nvSpPr>
          <p:cNvPr id="4" name="Text 2"/>
          <p:cNvSpPr/>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B3A2D"/>
                </a:solidFill>
                <a:latin typeface="Georgia" pitchFamily="34" charset="0"/>
                <a:ea typeface="Georgia" pitchFamily="34" charset="-122"/>
                <a:cs typeface="Georgia" pitchFamily="34" charset="-120"/>
              </a:rPr>
              <a:t>この研究の概要 — 3分でわかるまとめ</a:t>
            </a:r>
            <a:endParaRPr lang="en-US" sz="2400" dirty="0"/>
          </a:p>
        </p:txBody>
      </p:sp>
      <p:sp>
        <p:nvSpPr>
          <p:cNvPr id="5" name="Text 3"/>
          <p:cNvSpPr/>
          <p:nvPr/>
        </p:nvSpPr>
        <p:spPr>
          <a:xfrm>
            <a:off x="640080" y="1005840"/>
            <a:ext cx="7863840" cy="3474720"/>
          </a:xfrm>
          <a:prstGeom prst="rect">
            <a:avLst/>
          </a:prstGeom>
          <a:noFill/>
          <a:ln/>
        </p:spPr>
        <p:txBody>
          <a:bodyPr wrap="square" rtlCol="0" anchor="t"/>
          <a:lstStyle/>
          <a:p>
            <a:pPr indent="0" marL="0">
              <a:lnSpc>
                <a:spcPct val="120000"/>
              </a:lnSpc>
              <a:buNone/>
            </a:pPr>
            <a:r>
              <a:rPr lang="en-US" sz="1400" b="1" dirty="0">
                <a:solidFill>
                  <a:srgbClr val="B85042"/>
                </a:solidFill>
                <a:latin typeface="Calibri" pitchFamily="34" charset="0"/>
                <a:ea typeface="Calibri" pitchFamily="34" charset="-122"/>
                <a:cs typeface="Calibri" pitchFamily="34" charset="-120"/>
              </a:rPr>
              <a:t>問い: </a:t>
            </a:r>
            <a:pPr indent="0" marL="0">
              <a:lnSpc>
                <a:spcPct val="120000"/>
              </a:lnSpc>
              <a:buNone/>
            </a:pPr>
            <a:r>
              <a:rPr lang="en-US" sz="1400" dirty="0">
                <a:solidFill>
                  <a:srgbClr val="2D2D2D"/>
                </a:solidFill>
                <a:latin typeface="Calibri" pitchFamily="34" charset="0"/>
                <a:ea typeface="Calibri" pitchFamily="34" charset="-122"/>
                <a:cs typeface="Calibri" pitchFamily="34" charset="-120"/>
              </a:rPr>
              <a:t>花粉記録から「人間が植生を変えた」ことを、どうやって証明するか？</a:t>
            </a:r>
            <a:endParaRPr lang="en-US" sz="1400" dirty="0"/>
          </a:p>
          <a:p>
            <a:pPr indent="0" marL="0">
              <a:lnSpc>
                <a:spcPct val="120000"/>
              </a:lnSpc>
              <a:buNone/>
            </a:pPr>
            <a:endParaRPr lang="en-US" sz="1400" dirty="0"/>
          </a:p>
          <a:p>
            <a:pPr indent="0" marL="0">
              <a:lnSpc>
                <a:spcPct val="120000"/>
              </a:lnSpc>
              <a:buNone/>
            </a:pPr>
            <a:r>
              <a:rPr lang="en-US" sz="1400" b="1" dirty="0">
                <a:solidFill>
                  <a:srgbClr val="2C5F2D"/>
                </a:solidFill>
                <a:latin typeface="Calibri" pitchFamily="34" charset="0"/>
                <a:ea typeface="Calibri" pitchFamily="34" charset="-122"/>
                <a:cs typeface="Calibri" pitchFamily="34" charset="-120"/>
              </a:rPr>
              <a:t>発見: </a:t>
            </a:r>
            <a:pPr indent="0" marL="0">
              <a:lnSpc>
                <a:spcPct val="120000"/>
              </a:lnSpc>
              <a:buNone/>
            </a:pPr>
            <a:r>
              <a:rPr lang="en-US" sz="1400" dirty="0">
                <a:solidFill>
                  <a:srgbClr val="2D2D2D"/>
                </a:solidFill>
                <a:latin typeface="Calibri" pitchFamily="34" charset="0"/>
                <a:ea typeface="Calibri" pitchFamily="34" charset="-122"/>
                <a:cs typeface="Calibri" pitchFamily="34" charset="-120"/>
              </a:rPr>
              <a:t>花粉中の牧畜指標種（オオバコ、スイバなど）が「存在する」だけでは証拠にならない。</a:t>
            </a:r>
            <a:endParaRPr lang="en-US" sz="1400" dirty="0"/>
          </a:p>
          <a:p>
            <a:pPr indent="0" marL="0">
              <a:lnSpc>
                <a:spcPct val="120000"/>
              </a:lnSpc>
              <a:buNone/>
            </a:pPr>
            <a:r>
              <a:rPr lang="en-US" sz="1400" dirty="0">
                <a:solidFill>
                  <a:srgbClr val="2D2D2D"/>
                </a:solidFill>
                <a:latin typeface="Calibri" pitchFamily="34" charset="0"/>
                <a:ea typeface="Calibri" pitchFamily="34" charset="-122"/>
                <a:cs typeface="Calibri" pitchFamily="34" charset="-120"/>
              </a:rPr>
              <a:t>これらは元々ヨーロッパの在来種であり、人間がいなくても存在するからである。</a:t>
            </a:r>
            <a:endParaRPr lang="en-US" sz="1400" dirty="0"/>
          </a:p>
          <a:p>
            <a:pPr indent="0" marL="0">
              <a:lnSpc>
                <a:spcPct val="120000"/>
              </a:lnSpc>
              <a:buNone/>
            </a:pPr>
            <a:endParaRPr lang="en-US" sz="1400" dirty="0"/>
          </a:p>
          <a:p>
            <a:pPr indent="0" marL="0">
              <a:lnSpc>
                <a:spcPct val="120000"/>
              </a:lnSpc>
              <a:buNone/>
            </a:pPr>
            <a:r>
              <a:rPr lang="en-US" sz="1400" b="1" dirty="0">
                <a:solidFill>
                  <a:srgbClr val="B85042"/>
                </a:solidFill>
                <a:latin typeface="Calibri" pitchFamily="34" charset="0"/>
                <a:ea typeface="Calibri" pitchFamily="34" charset="-122"/>
                <a:cs typeface="Calibri" pitchFamily="34" charset="-120"/>
              </a:rPr>
              <a:t>鍵: </a:t>
            </a:r>
            <a:pPr indent="0" marL="0">
              <a:lnSpc>
                <a:spcPct val="120000"/>
              </a:lnSpc>
              <a:buNone/>
            </a:pPr>
            <a:r>
              <a:rPr lang="en-US" sz="1400" dirty="0">
                <a:solidFill>
                  <a:srgbClr val="2D2D2D"/>
                </a:solidFill>
                <a:latin typeface="Calibri" pitchFamily="34" charset="0"/>
                <a:ea typeface="Calibri" pitchFamily="34" charset="-122"/>
                <a:cs typeface="Calibri" pitchFamily="34" charset="-120"/>
              </a:rPr>
              <a:t>在来種が「異常に増加」（完新世前半のベースラインを統計的に超過）したとき、</a:t>
            </a:r>
            <a:endParaRPr lang="en-US" sz="1400" dirty="0"/>
          </a:p>
          <a:p>
            <a:pPr indent="0" marL="0">
              <a:lnSpc>
                <a:spcPct val="120000"/>
              </a:lnSpc>
              <a:buNone/>
            </a:pPr>
            <a:r>
              <a:rPr lang="en-US" sz="1400" dirty="0">
                <a:solidFill>
                  <a:srgbClr val="2D2D2D"/>
                </a:solidFill>
                <a:latin typeface="Calibri" pitchFamily="34" charset="0"/>
                <a:ea typeface="Calibri" pitchFamily="34" charset="-122"/>
                <a:cs typeface="Calibri" pitchFamily="34" charset="-120"/>
              </a:rPr>
              <a:t>それは人為的な景観変化のシグネチャーである。</a:t>
            </a:r>
            <a:endParaRPr lang="en-US" sz="1400" dirty="0"/>
          </a:p>
          <a:p>
            <a:pPr indent="0" marL="0">
              <a:lnSpc>
                <a:spcPct val="120000"/>
              </a:lnSpc>
              <a:buNone/>
            </a:pPr>
            <a:endParaRPr lang="en-US" sz="1400" dirty="0"/>
          </a:p>
          <a:p>
            <a:pPr indent="0" marL="0">
              <a:lnSpc>
                <a:spcPct val="120000"/>
              </a:lnSpc>
              <a:buNone/>
            </a:pPr>
            <a:r>
              <a:rPr lang="en-US" sz="1400" b="1" dirty="0">
                <a:solidFill>
                  <a:srgbClr val="2C5F2D"/>
                </a:solidFill>
                <a:latin typeface="Calibri" pitchFamily="34" charset="0"/>
                <a:ea typeface="Calibri" pitchFamily="34" charset="-122"/>
                <a:cs typeface="Calibri" pitchFamily="34" charset="-120"/>
              </a:rPr>
              <a:t>規模: </a:t>
            </a:r>
            <a:pPr indent="0" marL="0">
              <a:lnSpc>
                <a:spcPct val="120000"/>
              </a:lnSpc>
              <a:buNone/>
            </a:pPr>
            <a:r>
              <a:rPr lang="en-US" sz="1400" dirty="0">
                <a:solidFill>
                  <a:srgbClr val="2D2D2D"/>
                </a:solidFill>
                <a:latin typeface="Calibri" pitchFamily="34" charset="0"/>
                <a:ea typeface="Calibri" pitchFamily="34" charset="-122"/>
                <a:cs typeface="Calibri" pitchFamily="34" charset="-120"/>
              </a:rPr>
              <a:t>ヨーロッパ3地域（中央ヨーロッパ・イギリス諸島・スカンジナビア）の331地点を分析。</a:t>
            </a:r>
            <a:endParaRPr lang="en-US" sz="1400" dirty="0"/>
          </a:p>
          <a:p>
            <a:pPr indent="0" marL="0">
              <a:lnSpc>
                <a:spcPct val="120000"/>
              </a:lnSpc>
              <a:buNone/>
            </a:pPr>
            <a:r>
              <a:rPr lang="en-US" sz="1400" dirty="0">
                <a:solidFill>
                  <a:srgbClr val="2D2D2D"/>
                </a:solidFill>
                <a:latin typeface="Calibri" pitchFamily="34" charset="0"/>
                <a:ea typeface="Calibri" pitchFamily="34" charset="-122"/>
                <a:cs typeface="Calibri" pitchFamily="34" charset="-120"/>
              </a:rPr>
              <a:t>20以上の統計分析と7回の独立レビューを経て、科学的真理を追究した。</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Lab — 花粉指標種の閾値超過が人為的シグナルを識別する</a:t>
            </a:r>
            <a:endParaRPr lang="en-US" sz="800" dirty="0"/>
          </a:p>
        </p:txBody>
      </p:sp>
      <p:sp>
        <p:nvSpPr>
          <p:cNvPr id="4" name="Text 2"/>
          <p:cNvSpPr/>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B3A2D"/>
                </a:solidFill>
                <a:latin typeface="Georgia" pitchFamily="34" charset="0"/>
                <a:ea typeface="Georgia" pitchFamily="34" charset="-122"/>
                <a:cs typeface="Georgia" pitchFamily="34" charset="-120"/>
              </a:rPr>
              <a:t>背景① 花粉分析とは何か</a:t>
            </a:r>
            <a:endParaRPr lang="en-US" sz="2400" dirty="0"/>
          </a:p>
        </p:txBody>
      </p:sp>
      <p:sp>
        <p:nvSpPr>
          <p:cNvPr id="5" name="Text 3"/>
          <p:cNvSpPr/>
          <p:nvPr/>
        </p:nvSpPr>
        <p:spPr>
          <a:xfrm>
            <a:off x="640080" y="1005840"/>
            <a:ext cx="7863840" cy="3474720"/>
          </a:xfrm>
          <a:prstGeom prst="rect">
            <a:avLst/>
          </a:prstGeom>
          <a:noFill/>
          <a:ln/>
        </p:spPr>
        <p:txBody>
          <a:bodyPr wrap="square" rtlCol="0" anchor="t"/>
          <a:lstStyle/>
          <a:p>
            <a:pPr indent="0" marL="0">
              <a:lnSpc>
                <a:spcPct val="120000"/>
              </a:lnSpc>
              <a:buNone/>
            </a:pPr>
            <a:r>
              <a:rPr lang="en-US" sz="1300" b="1" dirty="0">
                <a:solidFill>
                  <a:srgbClr val="2D2D2D"/>
                </a:solidFill>
                <a:latin typeface="Calibri" pitchFamily="34" charset="0"/>
                <a:ea typeface="Calibri" pitchFamily="34" charset="-122"/>
                <a:cs typeface="Calibri" pitchFamily="34" charset="-120"/>
              </a:rPr>
              <a:t>花粉分析（Palynology）は、過去の植生を復元する手法です。</a:t>
            </a:r>
            <a:endParaRPr lang="en-US" sz="1300" dirty="0"/>
          </a:p>
          <a:p>
            <a:pPr indent="0" marL="0">
              <a:lnSpc>
                <a:spcPct val="120000"/>
              </a:lnSpc>
              <a:buNone/>
            </a:pPr>
            <a:endParaRPr lang="en-US" sz="1300" dirty="0"/>
          </a:p>
          <a:p>
            <a:pPr indent="0" marL="0">
              <a:lnSpc>
                <a:spcPct val="120000"/>
              </a:lnSpc>
              <a:buNone/>
            </a:pPr>
            <a:r>
              <a:rPr lang="en-US" sz="1300" dirty="0">
                <a:solidFill>
                  <a:srgbClr val="2D2D2D"/>
                </a:solidFill>
                <a:latin typeface="Calibri" pitchFamily="34" charset="0"/>
                <a:ea typeface="Calibri" pitchFamily="34" charset="-122"/>
                <a:cs typeface="Calibri" pitchFamily="34" charset="-120"/>
              </a:rPr>
              <a:t>植物は毎年大量の花粉を放出し、その一部は湖や泥炭地の堆積物に保存されます。</a:t>
            </a:r>
            <a:endParaRPr lang="en-US" sz="1300" dirty="0"/>
          </a:p>
          <a:p>
            <a:pPr indent="0" marL="0">
              <a:lnSpc>
                <a:spcPct val="120000"/>
              </a:lnSpc>
              <a:buNone/>
            </a:pPr>
            <a:r>
              <a:rPr lang="en-US" sz="1300" dirty="0">
                <a:solidFill>
                  <a:srgbClr val="2D2D2D"/>
                </a:solidFill>
                <a:latin typeface="Calibri" pitchFamily="34" charset="0"/>
                <a:ea typeface="Calibri" pitchFamily="34" charset="-122"/>
                <a:cs typeface="Calibri" pitchFamily="34" charset="-120"/>
              </a:rPr>
              <a:t>花粉粒は種ごとに独特の形をしており、顕微鏡で同定できます。</a:t>
            </a:r>
            <a:endParaRPr lang="en-US" sz="1300" dirty="0"/>
          </a:p>
          <a:p>
            <a:pPr indent="0" marL="0">
              <a:lnSpc>
                <a:spcPct val="120000"/>
              </a:lnSpc>
              <a:buNone/>
            </a:pPr>
            <a:r>
              <a:rPr lang="en-US" sz="1300" dirty="0">
                <a:solidFill>
                  <a:srgbClr val="2D2D2D"/>
                </a:solidFill>
                <a:latin typeface="Calibri" pitchFamily="34" charset="0"/>
                <a:ea typeface="Calibri" pitchFamily="34" charset="-122"/>
                <a:cs typeface="Calibri" pitchFamily="34" charset="-120"/>
              </a:rPr>
              <a:t>堆積物の深い層ほど古い時代の花粉を含むため、</a:t>
            </a:r>
            <a:endParaRPr lang="en-US" sz="1300" dirty="0"/>
          </a:p>
          <a:p>
            <a:pPr indent="0" marL="0">
              <a:lnSpc>
                <a:spcPct val="120000"/>
              </a:lnSpc>
              <a:buNone/>
            </a:pPr>
            <a:r>
              <a:rPr lang="en-US" sz="1300" dirty="0">
                <a:solidFill>
                  <a:srgbClr val="2D2D2D"/>
                </a:solidFill>
                <a:latin typeface="Calibri" pitchFamily="34" charset="0"/>
                <a:ea typeface="Calibri" pitchFamily="34" charset="-122"/>
                <a:cs typeface="Calibri" pitchFamily="34" charset="-120"/>
              </a:rPr>
              <a:t>コア（柱状試料）を掘れば数千年分の植生変化を読み取れます。</a:t>
            </a:r>
            <a:endParaRPr lang="en-US" sz="1300" dirty="0"/>
          </a:p>
          <a:p>
            <a:pPr indent="0" marL="0">
              <a:lnSpc>
                <a:spcPct val="120000"/>
              </a:lnSpc>
              <a:buNone/>
            </a:pPr>
            <a:endParaRPr lang="en-US" sz="1300" dirty="0"/>
          </a:p>
          <a:p>
            <a:pPr indent="0" marL="0">
              <a:lnSpc>
                <a:spcPct val="120000"/>
              </a:lnSpc>
              <a:buNone/>
            </a:pPr>
            <a:r>
              <a:rPr lang="en-US" sz="1300" dirty="0">
                <a:solidFill>
                  <a:srgbClr val="2D2D2D"/>
                </a:solidFill>
                <a:latin typeface="Calibri" pitchFamily="34" charset="0"/>
                <a:ea typeface="Calibri" pitchFamily="34" charset="-122"/>
                <a:cs typeface="Calibri" pitchFamily="34" charset="-120"/>
              </a:rPr>
              <a:t>放射性炭素年代測定（¹⁴C年代測定）で各層の年代を決定し、</a:t>
            </a:r>
            <a:endParaRPr lang="en-US" sz="1300" dirty="0"/>
          </a:p>
          <a:p>
            <a:pPr indent="0" marL="0">
              <a:lnSpc>
                <a:spcPct val="120000"/>
              </a:lnSpc>
              <a:buNone/>
            </a:pPr>
            <a:r>
              <a:rPr lang="en-US" sz="1300" dirty="0">
                <a:solidFill>
                  <a:srgbClr val="2D2D2D"/>
                </a:solidFill>
                <a:latin typeface="Calibri" pitchFamily="34" charset="0"/>
                <a:ea typeface="Calibri" pitchFamily="34" charset="-122"/>
                <a:cs typeface="Calibri" pitchFamily="34" charset="-120"/>
              </a:rPr>
              <a:t>「いつ、どの植物が増減したか」を定量的に復元します。</a:t>
            </a:r>
            <a:endParaRPr lang="en-US" sz="1300" dirty="0"/>
          </a:p>
          <a:p>
            <a:pPr indent="0" marL="0">
              <a:lnSpc>
                <a:spcPct val="120000"/>
              </a:lnSpc>
              <a:buNone/>
            </a:pPr>
            <a:endParaRPr lang="en-US" sz="1300" dirty="0"/>
          </a:p>
          <a:p>
            <a:pPr indent="0" marL="0">
              <a:lnSpc>
                <a:spcPct val="120000"/>
              </a:lnSpc>
              <a:buNone/>
            </a:pPr>
            <a:r>
              <a:rPr lang="en-US" sz="1300" b="1" dirty="0">
                <a:solidFill>
                  <a:srgbClr val="2D2D2D"/>
                </a:solidFill>
                <a:latin typeface="Calibri" pitchFamily="34" charset="0"/>
                <a:ea typeface="Calibri" pitchFamily="34" charset="-122"/>
                <a:cs typeface="Calibri" pitchFamily="34" charset="-120"/>
              </a:rPr>
              <a:t>本研究で使用したデータベース:</a:t>
            </a:r>
            <a:endParaRPr lang="en-US" sz="1300" dirty="0"/>
          </a:p>
          <a:p>
            <a:pPr indent="0" marL="0">
              <a:lnSpc>
                <a:spcPct val="120000"/>
              </a:lnSpc>
              <a:buNone/>
            </a:pPr>
            <a:r>
              <a:rPr lang="en-US" sz="1300" dirty="0">
                <a:solidFill>
                  <a:srgbClr val="2D2D2D"/>
                </a:solidFill>
                <a:latin typeface="Calibri" pitchFamily="34" charset="0"/>
                <a:ea typeface="Calibri" pitchFamily="34" charset="-122"/>
                <a:cs typeface="Calibri" pitchFamily="34" charset="-120"/>
              </a:rPr>
              <a:t>Neotoma Paleoecology Database — 世界中の花粉データを集約した公開データベース。</a:t>
            </a:r>
            <a:endParaRPr lang="en-US" sz="1300" dirty="0"/>
          </a:p>
          <a:p>
            <a:pPr indent="0" marL="0">
              <a:lnSpc>
                <a:spcPct val="120000"/>
              </a:lnSpc>
              <a:buNone/>
            </a:pPr>
            <a:r>
              <a:rPr lang="en-US" sz="1300" dirty="0">
                <a:solidFill>
                  <a:srgbClr val="2D2D2D"/>
                </a:solidFill>
                <a:latin typeface="Calibri" pitchFamily="34" charset="0"/>
                <a:ea typeface="Calibri" pitchFamily="34" charset="-122"/>
                <a:cs typeface="Calibri" pitchFamily="34" charset="-120"/>
              </a:rPr>
              <a:t>ここから3地域331地点の花粉記録を取得しました。</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Lab — 花粉指標種の閾値超過が人為的シグナルを識別する</a:t>
            </a:r>
            <a:endParaRPr lang="en-US" sz="800" dirty="0"/>
          </a:p>
        </p:txBody>
      </p:sp>
      <p:sp>
        <p:nvSpPr>
          <p:cNvPr id="4" name="Text 2"/>
          <p:cNvSpPr/>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B3A2D"/>
                </a:solidFill>
                <a:latin typeface="Georgia" pitchFamily="34" charset="0"/>
                <a:ea typeface="Georgia" pitchFamily="34" charset="-122"/>
                <a:cs typeface="Georgia" pitchFamily="34" charset="-120"/>
              </a:rPr>
              <a:t>背景② Bray-Curtis非類似度とは</a:t>
            </a:r>
            <a:endParaRPr lang="en-US" sz="2400" dirty="0"/>
          </a:p>
        </p:txBody>
      </p:sp>
      <p:sp>
        <p:nvSpPr>
          <p:cNvPr id="5" name="Text 3"/>
          <p:cNvSpPr/>
          <p:nvPr/>
        </p:nvSpPr>
        <p:spPr>
          <a:xfrm>
            <a:off x="640080" y="1005840"/>
            <a:ext cx="7863840" cy="3474720"/>
          </a:xfrm>
          <a:prstGeom prst="rect">
            <a:avLst/>
          </a:prstGeom>
          <a:noFill/>
          <a:ln/>
        </p:spPr>
        <p:txBody>
          <a:bodyPr wrap="square" rtlCol="0" anchor="t"/>
          <a:lstStyle/>
          <a:p>
            <a:pPr indent="0" marL="0">
              <a:lnSpc>
                <a:spcPct val="115000"/>
              </a:lnSpc>
              <a:buNone/>
            </a:pPr>
            <a:r>
              <a:rPr lang="en-US" sz="1300" b="1" dirty="0">
                <a:solidFill>
                  <a:srgbClr val="2D2D2D"/>
                </a:solidFill>
                <a:latin typeface="Calibri" pitchFamily="34" charset="0"/>
                <a:ea typeface="Calibri" pitchFamily="34" charset="-122"/>
                <a:cs typeface="Calibri" pitchFamily="34" charset="-120"/>
              </a:rPr>
              <a:t>Bray-Curtis非類似度（BC）は、2つの花粉サンプルがどれだけ「違うか」を測る指標です。</a:t>
            </a:r>
            <a:endParaRPr lang="en-US" sz="1300" dirty="0"/>
          </a:p>
          <a:p>
            <a:pPr indent="0" marL="0">
              <a:lnSpc>
                <a:spcPct val="115000"/>
              </a:lnSpc>
              <a:buNone/>
            </a:pPr>
            <a:endParaRPr lang="en-US" sz="1300" dirty="0"/>
          </a:p>
          <a:p>
            <a:pPr indent="0" marL="0">
              <a:lnSpc>
                <a:spcPct val="115000"/>
              </a:lnSpc>
              <a:buNone/>
            </a:pPr>
            <a:r>
              <a:rPr lang="en-US" sz="1300" dirty="0">
                <a:solidFill>
                  <a:srgbClr val="2D2D2D"/>
                </a:solidFill>
                <a:latin typeface="Calibri" pitchFamily="34" charset="0"/>
                <a:ea typeface="Calibri" pitchFamily="34" charset="-122"/>
                <a:cs typeface="Calibri" pitchFamily="34" charset="-120"/>
              </a:rPr>
              <a:t>• 値は0（完全に同じ組成）から1（共通種なし）の範囲</a:t>
            </a:r>
            <a:endParaRPr lang="en-US" sz="1300" dirty="0"/>
          </a:p>
          <a:p>
            <a:pPr indent="0" marL="0">
              <a:lnSpc>
                <a:spcPct val="115000"/>
              </a:lnSpc>
              <a:buNone/>
            </a:pPr>
            <a:r>
              <a:rPr lang="en-US" sz="1300" dirty="0">
                <a:solidFill>
                  <a:srgbClr val="2D2D2D"/>
                </a:solidFill>
                <a:latin typeface="Calibri" pitchFamily="34" charset="0"/>
                <a:ea typeface="Calibri" pitchFamily="34" charset="-122"/>
                <a:cs typeface="Calibri" pitchFamily="34" charset="-120"/>
              </a:rPr>
              <a:t>• 各花粉種の割合の差を合計して計算</a:t>
            </a:r>
            <a:endParaRPr lang="en-US" sz="1300" dirty="0"/>
          </a:p>
          <a:p>
            <a:pPr indent="0" marL="0">
              <a:lnSpc>
                <a:spcPct val="115000"/>
              </a:lnSpc>
              <a:buNone/>
            </a:pPr>
            <a:endParaRPr lang="en-US" sz="1300" dirty="0"/>
          </a:p>
          <a:p>
            <a:pPr indent="0" marL="0">
              <a:lnSpc>
                <a:spcPct val="115000"/>
              </a:lnSpc>
              <a:buNone/>
            </a:pPr>
            <a:r>
              <a:rPr lang="en-US" sz="1300" dirty="0">
                <a:solidFill>
                  <a:srgbClr val="2D2D2D"/>
                </a:solidFill>
                <a:latin typeface="Calibri" pitchFamily="34" charset="0"/>
                <a:ea typeface="Calibri" pitchFamily="34" charset="-122"/>
                <a:cs typeface="Calibri" pitchFamily="34" charset="-120"/>
              </a:rPr>
              <a:t>使い方: 農耕開始「前」の花粉組成をベースライン（基準）とし、</a:t>
            </a:r>
            <a:endParaRPr lang="en-US" sz="1300" dirty="0"/>
          </a:p>
          <a:p>
            <a:pPr indent="0" marL="0">
              <a:lnSpc>
                <a:spcPct val="115000"/>
              </a:lnSpc>
              <a:buNone/>
            </a:pPr>
            <a:r>
              <a:rPr lang="en-US" sz="1300" dirty="0">
                <a:solidFill>
                  <a:srgbClr val="2D2D2D"/>
                </a:solidFill>
                <a:latin typeface="Calibri" pitchFamily="34" charset="0"/>
                <a:ea typeface="Calibri" pitchFamily="34" charset="-122"/>
                <a:cs typeface="Calibri" pitchFamily="34" charset="-120"/>
              </a:rPr>
              <a:t>その後の各時代のサンプルとの非類似度を計算します。</a:t>
            </a:r>
            <a:endParaRPr lang="en-US" sz="1300" dirty="0"/>
          </a:p>
          <a:p>
            <a:pPr indent="0" marL="0">
              <a:lnSpc>
                <a:spcPct val="115000"/>
              </a:lnSpc>
              <a:buNone/>
            </a:pPr>
            <a:r>
              <a:rPr lang="en-US" sz="1300" dirty="0">
                <a:solidFill>
                  <a:srgbClr val="2D2D2D"/>
                </a:solidFill>
                <a:latin typeface="Calibri" pitchFamily="34" charset="0"/>
                <a:ea typeface="Calibri" pitchFamily="34" charset="-122"/>
                <a:cs typeface="Calibri" pitchFamily="34" charset="-120"/>
              </a:rPr>
              <a:t>非類似度が閾値（ベースライン平均+2標準偏差）を超えた最初の時点を</a:t>
            </a:r>
            <a:endParaRPr lang="en-US" sz="1300" dirty="0"/>
          </a:p>
          <a:p>
            <a:pPr indent="0" marL="0">
              <a:lnSpc>
                <a:spcPct val="115000"/>
              </a:lnSpc>
              <a:buNone/>
            </a:pPr>
            <a:r>
              <a:rPr lang="en-US" sz="1300" dirty="0">
                <a:solidFill>
                  <a:srgbClr val="2D2D2D"/>
                </a:solidFill>
                <a:latin typeface="Calibri" pitchFamily="34" charset="0"/>
                <a:ea typeface="Calibri" pitchFamily="34" charset="-122"/>
                <a:cs typeface="Calibri" pitchFamily="34" charset="-120"/>
              </a:rPr>
              <a:t>「植生変化の開始」と定義します。</a:t>
            </a:r>
            <a:endParaRPr lang="en-US" sz="1300" dirty="0"/>
          </a:p>
          <a:p>
            <a:pPr indent="0" marL="0">
              <a:lnSpc>
                <a:spcPct val="115000"/>
              </a:lnSpc>
              <a:buNone/>
            </a:pPr>
            <a:endParaRPr lang="en-US" sz="1300" dirty="0"/>
          </a:p>
          <a:p>
            <a:pPr indent="0" marL="0">
              <a:lnSpc>
                <a:spcPct val="115000"/>
              </a:lnSpc>
              <a:buNone/>
            </a:pPr>
            <a:r>
              <a:rPr lang="en-US" sz="1300" b="1" dirty="0">
                <a:solidFill>
                  <a:srgbClr val="B85042"/>
                </a:solidFill>
                <a:latin typeface="Calibri" pitchFamily="34" charset="0"/>
                <a:ea typeface="Calibri" pitchFamily="34" charset="-122"/>
                <a:cs typeface="Calibri" pitchFamily="34" charset="-120"/>
              </a:rPr>
              <a:t>問題点:</a:t>
            </a:r>
            <a:endParaRPr lang="en-US" sz="1300" dirty="0"/>
          </a:p>
          <a:p>
            <a:pPr indent="0" marL="0">
              <a:lnSpc>
                <a:spcPct val="115000"/>
              </a:lnSpc>
              <a:buNone/>
            </a:pPr>
            <a:r>
              <a:rPr lang="en-US" sz="1300" dirty="0">
                <a:solidFill>
                  <a:srgbClr val="2D2D2D"/>
                </a:solidFill>
                <a:latin typeface="Calibri" pitchFamily="34" charset="0"/>
                <a:ea typeface="Calibri" pitchFamily="34" charset="-122"/>
                <a:cs typeface="Calibri" pitchFamily="34" charset="-120"/>
              </a:rPr>
              <a:t>BC非類似度は「植生が変わった」ことは教えてくれますが、</a:t>
            </a:r>
            <a:endParaRPr lang="en-US" sz="1300" dirty="0"/>
          </a:p>
          <a:p>
            <a:pPr indent="0" marL="0">
              <a:lnSpc>
                <a:spcPct val="115000"/>
              </a:lnSpc>
              <a:buNone/>
            </a:pPr>
            <a:r>
              <a:rPr lang="en-US" sz="1300" dirty="0">
                <a:solidFill>
                  <a:srgbClr val="2D2D2D"/>
                </a:solidFill>
                <a:latin typeface="Calibri" pitchFamily="34" charset="0"/>
                <a:ea typeface="Calibri" pitchFamily="34" charset="-122"/>
                <a:cs typeface="Calibri" pitchFamily="34" charset="-120"/>
              </a:rPr>
              <a:t>「なぜ変わったか」（人間の活動？気候変動？病気？）は教えてくれません。</a:t>
            </a:r>
            <a:endParaRPr lang="en-US" sz="1300" dirty="0"/>
          </a:p>
          <a:p>
            <a:pPr indent="0" marL="0">
              <a:lnSpc>
                <a:spcPct val="115000"/>
              </a:lnSpc>
              <a:buNone/>
            </a:pPr>
            <a:r>
              <a:rPr lang="en-US" sz="1300" b="1" dirty="0">
                <a:solidFill>
                  <a:srgbClr val="2D2D2D"/>
                </a:solidFill>
                <a:latin typeface="Calibri" pitchFamily="34" charset="0"/>
                <a:ea typeface="Calibri" pitchFamily="34" charset="-122"/>
                <a:cs typeface="Calibri" pitchFamily="34" charset="-120"/>
              </a:rPr>
              <a:t>これが本研究の出発点です。</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Lab — 花粉指標種の閾値超過が人為的シグナルを識別する</a:t>
            </a:r>
            <a:endParaRPr lang="en-US" sz="800" dirty="0"/>
          </a:p>
        </p:txBody>
      </p:sp>
      <p:sp>
        <p:nvSpPr>
          <p:cNvPr id="4" name="Text 2"/>
          <p:cNvSpPr/>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B3A2D"/>
                </a:solidFill>
                <a:latin typeface="Georgia" pitchFamily="34" charset="0"/>
                <a:ea typeface="Georgia" pitchFamily="34" charset="-122"/>
                <a:cs typeface="Georgia" pitchFamily="34" charset="-120"/>
              </a:rPr>
              <a:t>問題意識 — 「検出」と「帰属」のギャップ</a:t>
            </a:r>
            <a:endParaRPr lang="en-US" sz="2400" dirty="0"/>
          </a:p>
        </p:txBody>
      </p:sp>
      <p:sp>
        <p:nvSpPr>
          <p:cNvPr id="5" name="Shape 3"/>
          <p:cNvSpPr/>
          <p:nvPr/>
        </p:nvSpPr>
        <p:spPr>
          <a:xfrm>
            <a:off x="457200" y="1005840"/>
            <a:ext cx="3931920" cy="32918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6" name="Shape 4"/>
          <p:cNvSpPr/>
          <p:nvPr/>
        </p:nvSpPr>
        <p:spPr>
          <a:xfrm>
            <a:off x="457200" y="1005840"/>
            <a:ext cx="3931920" cy="457200"/>
          </a:xfrm>
          <a:prstGeom prst="rect">
            <a:avLst/>
          </a:prstGeom>
          <a:solidFill>
            <a:srgbClr val="2C5F2D"/>
          </a:solidFill>
          <a:ln/>
        </p:spPr>
      </p:sp>
      <p:sp>
        <p:nvSpPr>
          <p:cNvPr id="7" name="Text 5"/>
          <p:cNvSpPr/>
          <p:nvPr/>
        </p:nvSpPr>
        <p:spPr>
          <a:xfrm>
            <a:off x="457200" y="100584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検出（Detection）</a:t>
            </a:r>
            <a:endParaRPr lang="en-US" sz="1400" dirty="0"/>
          </a:p>
        </p:txBody>
      </p:sp>
      <p:sp>
        <p:nvSpPr>
          <p:cNvPr id="8" name="Text 6"/>
          <p:cNvSpPr/>
          <p:nvPr/>
        </p:nvSpPr>
        <p:spPr>
          <a:xfrm>
            <a:off x="640080" y="1645920"/>
            <a:ext cx="3566160" cy="2468880"/>
          </a:xfrm>
          <a:prstGeom prst="rect">
            <a:avLst/>
          </a:prstGeom>
          <a:noFill/>
          <a:ln/>
        </p:spPr>
        <p:txBody>
          <a:bodyPr wrap="square" rtlCol="0" anchor="t"/>
          <a:lstStyle/>
          <a:p>
            <a:pPr indent="0" marL="0">
              <a:lnSpc>
                <a:spcPct val="120000"/>
              </a:lnSpc>
              <a:buNone/>
            </a:pPr>
            <a:r>
              <a:rPr lang="en-US" sz="1200" b="1" dirty="0">
                <a:solidFill>
                  <a:srgbClr val="2D2D2D"/>
                </a:solidFill>
                <a:latin typeface="Calibri" pitchFamily="34" charset="0"/>
                <a:ea typeface="Calibri" pitchFamily="34" charset="-122"/>
                <a:cs typeface="Calibri" pitchFamily="34" charset="-120"/>
              </a:rPr>
              <a:t>「植生が変化した」ことを見つけること</a:t>
            </a:r>
            <a:endParaRPr lang="en-US" sz="1200" dirty="0"/>
          </a:p>
          <a:p>
            <a:pPr indent="0" marL="0">
              <a:lnSpc>
                <a:spcPct val="120000"/>
              </a:lnSpc>
              <a:buNone/>
            </a:pPr>
            <a:endParaRPr lang="en-US" sz="1200" dirty="0"/>
          </a:p>
          <a:p>
            <a:pPr indent="0" marL="0">
              <a:lnSpc>
                <a:spcPct val="120000"/>
              </a:lnSpc>
              <a:buNone/>
            </a:pPr>
            <a:r>
              <a:rPr lang="en-US" sz="1200" dirty="0">
                <a:solidFill>
                  <a:srgbClr val="2D2D2D"/>
                </a:solidFill>
                <a:latin typeface="Calibri" pitchFamily="34" charset="0"/>
                <a:ea typeface="Calibri" pitchFamily="34" charset="-122"/>
                <a:cs typeface="Calibri" pitchFamily="34" charset="-120"/>
              </a:rPr>
              <a:t>BC非類似度がベースラインを超えた</a:t>
            </a:r>
            <a:endParaRPr lang="en-US" sz="1200" dirty="0"/>
          </a:p>
          <a:p>
            <a:pPr indent="0" marL="0">
              <a:lnSpc>
                <a:spcPct val="120000"/>
              </a:lnSpc>
              <a:buNone/>
            </a:pPr>
            <a:r>
              <a:rPr lang="en-US" sz="1200" dirty="0">
                <a:solidFill>
                  <a:srgbClr val="2D2D2D"/>
                </a:solidFill>
                <a:latin typeface="Calibri" pitchFamily="34" charset="0"/>
                <a:ea typeface="Calibri" pitchFamily="34" charset="-122"/>
                <a:cs typeface="Calibri" pitchFamily="34" charset="-120"/>
              </a:rPr>
              <a:t>→ 植生組成に有意な変化があった</a:t>
            </a:r>
            <a:endParaRPr lang="en-US" sz="1200" dirty="0"/>
          </a:p>
          <a:p>
            <a:pPr indent="0" marL="0">
              <a:lnSpc>
                <a:spcPct val="120000"/>
              </a:lnSpc>
              <a:buNone/>
            </a:pPr>
            <a:endParaRPr lang="en-US" sz="1200" dirty="0"/>
          </a:p>
          <a:p>
            <a:pPr indent="0" marL="0">
              <a:lnSpc>
                <a:spcPct val="120000"/>
              </a:lnSpc>
              <a:buNone/>
            </a:pPr>
            <a:r>
              <a:rPr lang="en-US" sz="1200" b="1" dirty="0">
                <a:solidFill>
                  <a:srgbClr val="2C5F2D"/>
                </a:solidFill>
                <a:latin typeface="Calibri" pitchFamily="34" charset="0"/>
                <a:ea typeface="Calibri" pitchFamily="34" charset="-122"/>
                <a:cs typeface="Calibri" pitchFamily="34" charset="-120"/>
              </a:rPr>
              <a:t>331地点中295地点（89%）で検出</a:t>
            </a:r>
            <a:endParaRPr lang="en-US" sz="1200" dirty="0"/>
          </a:p>
        </p:txBody>
      </p:sp>
      <p:sp>
        <p:nvSpPr>
          <p:cNvPr id="9" name="Shape 7"/>
          <p:cNvSpPr/>
          <p:nvPr/>
        </p:nvSpPr>
        <p:spPr>
          <a:xfrm>
            <a:off x="4754880" y="1005840"/>
            <a:ext cx="3931920" cy="32918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754880" y="1005840"/>
            <a:ext cx="3931920" cy="457200"/>
          </a:xfrm>
          <a:prstGeom prst="rect">
            <a:avLst/>
          </a:prstGeom>
          <a:solidFill>
            <a:srgbClr val="B85042"/>
          </a:solidFill>
          <a:ln/>
        </p:spPr>
      </p:sp>
      <p:sp>
        <p:nvSpPr>
          <p:cNvPr id="11" name="Text 9"/>
          <p:cNvSpPr/>
          <p:nvPr/>
        </p:nvSpPr>
        <p:spPr>
          <a:xfrm>
            <a:off x="4754880" y="100584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帰属（Attribution）</a:t>
            </a:r>
            <a:endParaRPr lang="en-US" sz="1400" dirty="0"/>
          </a:p>
        </p:txBody>
      </p:sp>
      <p:sp>
        <p:nvSpPr>
          <p:cNvPr id="12" name="Text 10"/>
          <p:cNvSpPr/>
          <p:nvPr/>
        </p:nvSpPr>
        <p:spPr>
          <a:xfrm>
            <a:off x="4937760" y="1645920"/>
            <a:ext cx="3566160" cy="2468880"/>
          </a:xfrm>
          <a:prstGeom prst="rect">
            <a:avLst/>
          </a:prstGeom>
          <a:noFill/>
          <a:ln/>
        </p:spPr>
        <p:txBody>
          <a:bodyPr wrap="square" rtlCol="0" anchor="t"/>
          <a:lstStyle/>
          <a:p>
            <a:pPr indent="0" marL="0">
              <a:lnSpc>
                <a:spcPct val="120000"/>
              </a:lnSpc>
              <a:buNone/>
            </a:pPr>
            <a:r>
              <a:rPr lang="en-US" sz="1200" b="1" dirty="0">
                <a:solidFill>
                  <a:srgbClr val="2D2D2D"/>
                </a:solidFill>
                <a:latin typeface="Calibri" pitchFamily="34" charset="0"/>
                <a:ea typeface="Calibri" pitchFamily="34" charset="-122"/>
                <a:cs typeface="Calibri" pitchFamily="34" charset="-120"/>
              </a:rPr>
              <a:t>「なぜ変化したか」を特定すること</a:t>
            </a:r>
            <a:endParaRPr lang="en-US" sz="1200" dirty="0"/>
          </a:p>
          <a:p>
            <a:pPr indent="0" marL="0">
              <a:lnSpc>
                <a:spcPct val="120000"/>
              </a:lnSpc>
              <a:buNone/>
            </a:pPr>
            <a:endParaRPr lang="en-US" sz="1200" dirty="0"/>
          </a:p>
          <a:p>
            <a:pPr indent="0" marL="0">
              <a:lnSpc>
                <a:spcPct val="120000"/>
              </a:lnSpc>
              <a:buNone/>
            </a:pPr>
            <a:r>
              <a:rPr lang="en-US" sz="1200" dirty="0">
                <a:solidFill>
                  <a:srgbClr val="2D2D2D"/>
                </a:solidFill>
                <a:latin typeface="Calibri" pitchFamily="34" charset="0"/>
                <a:ea typeface="Calibri" pitchFamily="34" charset="-122"/>
                <a:cs typeface="Calibri" pitchFamily="34" charset="-120"/>
              </a:rPr>
              <a:t>人間の牧畜？ 穀物農耕？</a:t>
            </a:r>
            <a:endParaRPr lang="en-US" sz="1200" dirty="0"/>
          </a:p>
          <a:p>
            <a:pPr indent="0" marL="0">
              <a:lnSpc>
                <a:spcPct val="120000"/>
              </a:lnSpc>
              <a:buNone/>
            </a:pPr>
            <a:r>
              <a:rPr lang="en-US" sz="1200" dirty="0">
                <a:solidFill>
                  <a:srgbClr val="2D2D2D"/>
                </a:solidFill>
                <a:latin typeface="Calibri" pitchFamily="34" charset="0"/>
                <a:ea typeface="Calibri" pitchFamily="34" charset="-122"/>
                <a:cs typeface="Calibri" pitchFamily="34" charset="-120"/>
              </a:rPr>
              <a:t>気候変動？ ニレ衰退病？</a:t>
            </a:r>
            <a:endParaRPr lang="en-US" sz="1200" dirty="0"/>
          </a:p>
          <a:p>
            <a:pPr indent="0" marL="0">
              <a:lnSpc>
                <a:spcPct val="120000"/>
              </a:lnSpc>
              <a:buNone/>
            </a:pPr>
            <a:endParaRPr lang="en-US" sz="1200" dirty="0"/>
          </a:p>
          <a:p>
            <a:pPr indent="0" marL="0">
              <a:lnSpc>
                <a:spcPct val="120000"/>
              </a:lnSpc>
              <a:buNone/>
            </a:pPr>
            <a:r>
              <a:rPr lang="en-US" sz="1200" b="1" dirty="0">
                <a:solidFill>
                  <a:srgbClr val="B85042"/>
                </a:solidFill>
                <a:latin typeface="Calibri" pitchFamily="34" charset="0"/>
                <a:ea typeface="Calibri" pitchFamily="34" charset="-122"/>
                <a:cs typeface="Calibri" pitchFamily="34" charset="-120"/>
              </a:rPr>
              <a:t>BC非類似度だけでは区別できない</a:t>
            </a:r>
            <a:endParaRPr lang="en-US" sz="1200" dirty="0"/>
          </a:p>
          <a:p>
            <a:pPr indent="0" marL="0">
              <a:lnSpc>
                <a:spcPct val="120000"/>
              </a:lnSpc>
              <a:buNone/>
            </a:pPr>
            <a:r>
              <a:rPr lang="en-US" sz="1200" b="1" dirty="0">
                <a:solidFill>
                  <a:srgbClr val="B85042"/>
                </a:solidFill>
                <a:latin typeface="Calibri" pitchFamily="34" charset="0"/>
                <a:ea typeface="Calibri" pitchFamily="34" charset="-122"/>
                <a:cs typeface="Calibri" pitchFamily="34" charset="-120"/>
              </a:rPr>
              <a:t>→ 機能的分解が必要</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Lab — 花粉指標種の閾値超過が人為的シグナルを識別する</a:t>
            </a:r>
            <a:endParaRPr lang="en-US" sz="800" dirty="0"/>
          </a:p>
        </p:txBody>
      </p:sp>
      <p:sp>
        <p:nvSpPr>
          <p:cNvPr id="4" name="Text 2"/>
          <p:cNvSpPr/>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B3A2D"/>
                </a:solidFill>
                <a:latin typeface="Georgia" pitchFamily="34" charset="0"/>
                <a:ea typeface="Georgia" pitchFamily="34" charset="-122"/>
                <a:cs typeface="Georgia" pitchFamily="34" charset="-120"/>
              </a:rPr>
              <a:t>4つの競合仮説 — 植生変化の原因は何か？</a:t>
            </a:r>
            <a:endParaRPr lang="en-US" sz="2400" dirty="0"/>
          </a:p>
        </p:txBody>
      </p:sp>
      <p:sp>
        <p:nvSpPr>
          <p:cNvPr id="5" name="Shape 3"/>
          <p:cNvSpPr/>
          <p:nvPr/>
        </p:nvSpPr>
        <p:spPr>
          <a:xfrm>
            <a:off x="457200" y="914400"/>
            <a:ext cx="3931920" cy="17373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6" name="Shape 4"/>
          <p:cNvSpPr/>
          <p:nvPr/>
        </p:nvSpPr>
        <p:spPr>
          <a:xfrm>
            <a:off x="457200" y="914400"/>
            <a:ext cx="73152" cy="1737360"/>
          </a:xfrm>
          <a:prstGeom prst="rect">
            <a:avLst/>
          </a:prstGeom>
          <a:solidFill>
            <a:srgbClr val="2C5F2D"/>
          </a:solidFill>
          <a:ln/>
        </p:spPr>
      </p:sp>
      <p:sp>
        <p:nvSpPr>
          <p:cNvPr id="7" name="Text 5"/>
          <p:cNvSpPr/>
          <p:nvPr/>
        </p:nvSpPr>
        <p:spPr>
          <a:xfrm>
            <a:off x="640080" y="1005840"/>
            <a:ext cx="3566160" cy="320040"/>
          </a:xfrm>
          <a:prstGeom prst="rect">
            <a:avLst/>
          </a:prstGeom>
          <a:noFill/>
          <a:ln/>
        </p:spPr>
        <p:txBody>
          <a:bodyPr wrap="square" lIns="0" tIns="0" rIns="0" bIns="0" rtlCol="0" anchor="ctr"/>
          <a:lstStyle/>
          <a:p>
            <a:pPr indent="0" marL="0">
              <a:buNone/>
            </a:pPr>
            <a:r>
              <a:rPr lang="en-US" sz="1400" b="1" dirty="0">
                <a:solidFill>
                  <a:srgbClr val="2C5F2D"/>
                </a:solidFill>
                <a:latin typeface="Calibri" pitchFamily="34" charset="0"/>
                <a:ea typeface="Calibri" pitchFamily="34" charset="-122"/>
                <a:cs typeface="Calibri" pitchFamily="34" charset="-120"/>
              </a:rPr>
              <a:t>H1: 牧畜先行</a:t>
            </a:r>
            <a:endParaRPr lang="en-US" sz="1400" dirty="0"/>
          </a:p>
        </p:txBody>
      </p:sp>
      <p:sp>
        <p:nvSpPr>
          <p:cNvPr id="8" name="Text 6"/>
          <p:cNvSpPr/>
          <p:nvPr/>
        </p:nvSpPr>
        <p:spPr>
          <a:xfrm>
            <a:off x="640080" y="1325880"/>
            <a:ext cx="3566160" cy="502920"/>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森林伐採と牧草地創出が</a:t>
            </a:r>
            <a:endParaRPr lang="en-US" sz="1100" dirty="0"/>
          </a:p>
          <a:p>
            <a:pPr indent="0" marL="0">
              <a:buNone/>
            </a:pPr>
            <a:r>
              <a:rPr lang="en-US" sz="1100" dirty="0">
                <a:solidFill>
                  <a:srgbClr val="2D2D2D"/>
                </a:solidFill>
                <a:latin typeface="Calibri" pitchFamily="34" charset="0"/>
                <a:ea typeface="Calibri" pitchFamily="34" charset="-122"/>
                <a:cs typeface="Calibri" pitchFamily="34" charset="-120"/>
              </a:rPr>
              <a:t>植生変化の主因</a:t>
            </a:r>
            <a:endParaRPr lang="en-US" sz="1100" dirty="0"/>
          </a:p>
        </p:txBody>
      </p:sp>
      <p:sp>
        <p:nvSpPr>
          <p:cNvPr id="9" name="Text 7"/>
          <p:cNvSpPr/>
          <p:nvPr/>
        </p:nvSpPr>
        <p:spPr>
          <a:xfrm>
            <a:off x="640080" y="1920240"/>
            <a:ext cx="3566160" cy="548640"/>
          </a:xfrm>
          <a:prstGeom prst="rect">
            <a:avLst/>
          </a:prstGeom>
          <a:noFill/>
          <a:ln/>
        </p:spPr>
        <p:txBody>
          <a:bodyPr wrap="square" lIns="0" tIns="0" rIns="0" bIns="0" rtlCol="0" anchor="ctr"/>
          <a:lstStyle/>
          <a:p>
            <a:pPr indent="0" marL="0">
              <a:buNone/>
            </a:pPr>
            <a:r>
              <a:rPr lang="en-US" sz="1000" i="1" dirty="0">
                <a:solidFill>
                  <a:srgbClr val="666666"/>
                </a:solidFill>
                <a:latin typeface="Calibri" pitchFamily="34" charset="0"/>
                <a:ea typeface="Calibri" pitchFamily="34" charset="-122"/>
                <a:cs typeface="Calibri" pitchFamily="34" charset="-120"/>
              </a:rPr>
              <a:t>予測: 牧畜指標が穀物指標より先に閾値超過</a:t>
            </a:r>
            <a:endParaRPr lang="en-US" sz="1000" dirty="0"/>
          </a:p>
        </p:txBody>
      </p:sp>
      <p:sp>
        <p:nvSpPr>
          <p:cNvPr id="10" name="Shape 8"/>
          <p:cNvSpPr/>
          <p:nvPr/>
        </p:nvSpPr>
        <p:spPr>
          <a:xfrm>
            <a:off x="4754880" y="914400"/>
            <a:ext cx="3931920" cy="17373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4754880" y="914400"/>
            <a:ext cx="73152" cy="1737360"/>
          </a:xfrm>
          <a:prstGeom prst="rect">
            <a:avLst/>
          </a:prstGeom>
          <a:solidFill>
            <a:srgbClr val="5B8C5A"/>
          </a:solidFill>
          <a:ln/>
        </p:spPr>
      </p:sp>
      <p:sp>
        <p:nvSpPr>
          <p:cNvPr id="12" name="Text 10"/>
          <p:cNvSpPr/>
          <p:nvPr/>
        </p:nvSpPr>
        <p:spPr>
          <a:xfrm>
            <a:off x="4937760" y="1005840"/>
            <a:ext cx="3566160" cy="320040"/>
          </a:xfrm>
          <a:prstGeom prst="rect">
            <a:avLst/>
          </a:prstGeom>
          <a:noFill/>
          <a:ln/>
        </p:spPr>
        <p:txBody>
          <a:bodyPr wrap="square" lIns="0" tIns="0" rIns="0" bIns="0" rtlCol="0" anchor="ctr"/>
          <a:lstStyle/>
          <a:p>
            <a:pPr indent="0" marL="0">
              <a:buNone/>
            </a:pPr>
            <a:r>
              <a:rPr lang="en-US" sz="1400" b="1" dirty="0">
                <a:solidFill>
                  <a:srgbClr val="5B8C5A"/>
                </a:solidFill>
                <a:latin typeface="Calibri" pitchFamily="34" charset="0"/>
                <a:ea typeface="Calibri" pitchFamily="34" charset="-122"/>
                <a:cs typeface="Calibri" pitchFamily="34" charset="-120"/>
              </a:rPr>
              <a:t>H2: 穀物先行</a:t>
            </a:r>
            <a:endParaRPr lang="en-US" sz="1400" dirty="0"/>
          </a:p>
        </p:txBody>
      </p:sp>
      <p:sp>
        <p:nvSpPr>
          <p:cNvPr id="13" name="Text 11"/>
          <p:cNvSpPr/>
          <p:nvPr/>
        </p:nvSpPr>
        <p:spPr>
          <a:xfrm>
            <a:off x="4937760" y="1325880"/>
            <a:ext cx="3566160" cy="502920"/>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穀物栽培（小麦・大麦等）が</a:t>
            </a:r>
            <a:endParaRPr lang="en-US" sz="1100" dirty="0"/>
          </a:p>
          <a:p>
            <a:pPr indent="0" marL="0">
              <a:buNone/>
            </a:pPr>
            <a:r>
              <a:rPr lang="en-US" sz="1100" dirty="0">
                <a:solidFill>
                  <a:srgbClr val="2D2D2D"/>
                </a:solidFill>
                <a:latin typeface="Calibri" pitchFamily="34" charset="0"/>
                <a:ea typeface="Calibri" pitchFamily="34" charset="-122"/>
                <a:cs typeface="Calibri" pitchFamily="34" charset="-120"/>
              </a:rPr>
              <a:t>植生変化の主因</a:t>
            </a:r>
            <a:endParaRPr lang="en-US" sz="1100" dirty="0"/>
          </a:p>
        </p:txBody>
      </p:sp>
      <p:sp>
        <p:nvSpPr>
          <p:cNvPr id="14" name="Text 12"/>
          <p:cNvSpPr/>
          <p:nvPr/>
        </p:nvSpPr>
        <p:spPr>
          <a:xfrm>
            <a:off x="4937760" y="1920240"/>
            <a:ext cx="3566160" cy="548640"/>
          </a:xfrm>
          <a:prstGeom prst="rect">
            <a:avLst/>
          </a:prstGeom>
          <a:noFill/>
          <a:ln/>
        </p:spPr>
        <p:txBody>
          <a:bodyPr wrap="square" lIns="0" tIns="0" rIns="0" bIns="0" rtlCol="0" anchor="ctr"/>
          <a:lstStyle/>
          <a:p>
            <a:pPr indent="0" marL="0">
              <a:buNone/>
            </a:pPr>
            <a:r>
              <a:rPr lang="en-US" sz="1000" i="1" dirty="0">
                <a:solidFill>
                  <a:srgbClr val="666666"/>
                </a:solidFill>
                <a:latin typeface="Calibri" pitchFamily="34" charset="0"/>
                <a:ea typeface="Calibri" pitchFamily="34" charset="-122"/>
                <a:cs typeface="Calibri" pitchFamily="34" charset="-120"/>
              </a:rPr>
              <a:t>予測: 穀物指標が牧畜指標より先に閾値超過</a:t>
            </a:r>
            <a:endParaRPr lang="en-US" sz="1000" dirty="0"/>
          </a:p>
        </p:txBody>
      </p:sp>
      <p:sp>
        <p:nvSpPr>
          <p:cNvPr id="15" name="Shape 13"/>
          <p:cNvSpPr/>
          <p:nvPr/>
        </p:nvSpPr>
        <p:spPr>
          <a:xfrm>
            <a:off x="457200" y="2834640"/>
            <a:ext cx="3931920" cy="17373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6" name="Shape 14"/>
          <p:cNvSpPr/>
          <p:nvPr/>
        </p:nvSpPr>
        <p:spPr>
          <a:xfrm>
            <a:off x="457200" y="2834640"/>
            <a:ext cx="73152" cy="1737360"/>
          </a:xfrm>
          <a:prstGeom prst="rect">
            <a:avLst/>
          </a:prstGeom>
          <a:solidFill>
            <a:srgbClr val="6A8CAF"/>
          </a:solidFill>
          <a:ln/>
        </p:spPr>
      </p:sp>
      <p:sp>
        <p:nvSpPr>
          <p:cNvPr id="17" name="Text 15"/>
          <p:cNvSpPr/>
          <p:nvPr/>
        </p:nvSpPr>
        <p:spPr>
          <a:xfrm>
            <a:off x="640080" y="2926080"/>
            <a:ext cx="3566160" cy="320040"/>
          </a:xfrm>
          <a:prstGeom prst="rect">
            <a:avLst/>
          </a:prstGeom>
          <a:noFill/>
          <a:ln/>
        </p:spPr>
        <p:txBody>
          <a:bodyPr wrap="square" lIns="0" tIns="0" rIns="0" bIns="0" rtlCol="0" anchor="ctr"/>
          <a:lstStyle/>
          <a:p>
            <a:pPr indent="0" marL="0">
              <a:buNone/>
            </a:pPr>
            <a:r>
              <a:rPr lang="en-US" sz="1400" b="1" dirty="0">
                <a:solidFill>
                  <a:srgbClr val="6A8CAF"/>
                </a:solidFill>
                <a:latin typeface="Calibri" pitchFamily="34" charset="0"/>
                <a:ea typeface="Calibri" pitchFamily="34" charset="-122"/>
                <a:cs typeface="Calibri" pitchFamily="34" charset="-120"/>
              </a:rPr>
              <a:t>H3: 気候変動</a:t>
            </a:r>
            <a:endParaRPr lang="en-US" sz="1400" dirty="0"/>
          </a:p>
        </p:txBody>
      </p:sp>
      <p:sp>
        <p:nvSpPr>
          <p:cNvPr id="18" name="Text 16"/>
          <p:cNvSpPr/>
          <p:nvPr/>
        </p:nvSpPr>
        <p:spPr>
          <a:xfrm>
            <a:off x="640080" y="3246120"/>
            <a:ext cx="3566160" cy="502920"/>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完新世の気候変化による</a:t>
            </a:r>
            <a:endParaRPr lang="en-US" sz="1100" dirty="0"/>
          </a:p>
          <a:p>
            <a:pPr indent="0" marL="0">
              <a:buNone/>
            </a:pPr>
            <a:r>
              <a:rPr lang="en-US" sz="1100" dirty="0">
                <a:solidFill>
                  <a:srgbClr val="2D2D2D"/>
                </a:solidFill>
                <a:latin typeface="Calibri" pitchFamily="34" charset="0"/>
                <a:ea typeface="Calibri" pitchFamily="34" charset="-122"/>
                <a:cs typeface="Calibri" pitchFamily="34" charset="-120"/>
              </a:rPr>
              <a:t>自然な森林組成変化</a:t>
            </a:r>
            <a:endParaRPr lang="en-US" sz="1100" dirty="0"/>
          </a:p>
        </p:txBody>
      </p:sp>
      <p:sp>
        <p:nvSpPr>
          <p:cNvPr id="19" name="Text 17"/>
          <p:cNvSpPr/>
          <p:nvPr/>
        </p:nvSpPr>
        <p:spPr>
          <a:xfrm>
            <a:off x="640080" y="3840480"/>
            <a:ext cx="3566160" cy="548640"/>
          </a:xfrm>
          <a:prstGeom prst="rect">
            <a:avLst/>
          </a:prstGeom>
          <a:noFill/>
          <a:ln/>
        </p:spPr>
        <p:txBody>
          <a:bodyPr wrap="square" lIns="0" tIns="0" rIns="0" bIns="0" rtlCol="0" anchor="ctr"/>
          <a:lstStyle/>
          <a:p>
            <a:pPr indent="0" marL="0">
              <a:buNone/>
            </a:pPr>
            <a:r>
              <a:rPr lang="en-US" sz="1000" i="1" dirty="0">
                <a:solidFill>
                  <a:srgbClr val="666666"/>
                </a:solidFill>
                <a:latin typeface="Calibri" pitchFamily="34" charset="0"/>
                <a:ea typeface="Calibri" pitchFamily="34" charset="-122"/>
                <a:cs typeface="Calibri" pitchFamily="34" charset="-120"/>
              </a:rPr>
              <a:t>予測: シグナルが気候イベントに集中する</a:t>
            </a:r>
            <a:endParaRPr lang="en-US" sz="1000" dirty="0"/>
          </a:p>
        </p:txBody>
      </p:sp>
      <p:sp>
        <p:nvSpPr>
          <p:cNvPr id="20" name="Shape 18"/>
          <p:cNvSpPr/>
          <p:nvPr/>
        </p:nvSpPr>
        <p:spPr>
          <a:xfrm>
            <a:off x="4754880" y="2834640"/>
            <a:ext cx="3931920" cy="17373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1" name="Shape 19"/>
          <p:cNvSpPr/>
          <p:nvPr/>
        </p:nvSpPr>
        <p:spPr>
          <a:xfrm>
            <a:off x="4754880" y="2834640"/>
            <a:ext cx="73152" cy="1737360"/>
          </a:xfrm>
          <a:prstGeom prst="rect">
            <a:avLst/>
          </a:prstGeom>
          <a:solidFill>
            <a:srgbClr val="8B7355"/>
          </a:solidFill>
          <a:ln/>
        </p:spPr>
      </p:sp>
      <p:sp>
        <p:nvSpPr>
          <p:cNvPr id="22" name="Text 20"/>
          <p:cNvSpPr/>
          <p:nvPr/>
        </p:nvSpPr>
        <p:spPr>
          <a:xfrm>
            <a:off x="4937760" y="2926080"/>
            <a:ext cx="3566160" cy="320040"/>
          </a:xfrm>
          <a:prstGeom prst="rect">
            <a:avLst/>
          </a:prstGeom>
          <a:noFill/>
          <a:ln/>
        </p:spPr>
        <p:txBody>
          <a:bodyPr wrap="square" lIns="0" tIns="0" rIns="0" bIns="0" rtlCol="0" anchor="ctr"/>
          <a:lstStyle/>
          <a:p>
            <a:pPr indent="0" marL="0">
              <a:buNone/>
            </a:pPr>
            <a:r>
              <a:rPr lang="en-US" sz="1400" b="1" dirty="0">
                <a:solidFill>
                  <a:srgbClr val="8B7355"/>
                </a:solidFill>
                <a:latin typeface="Calibri" pitchFamily="34" charset="0"/>
                <a:ea typeface="Calibri" pitchFamily="34" charset="-122"/>
                <a:cs typeface="Calibri" pitchFamily="34" charset="-120"/>
              </a:rPr>
              <a:t>H4: ニレ衰退</a:t>
            </a:r>
            <a:endParaRPr lang="en-US" sz="1400" dirty="0"/>
          </a:p>
        </p:txBody>
      </p:sp>
      <p:sp>
        <p:nvSpPr>
          <p:cNvPr id="23" name="Text 21"/>
          <p:cNvSpPr/>
          <p:nvPr/>
        </p:nvSpPr>
        <p:spPr>
          <a:xfrm>
            <a:off x="4937760" y="3246120"/>
            <a:ext cx="3566160" cy="502920"/>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約5,800年前のニレ枯死病</a:t>
            </a:r>
            <a:endParaRPr lang="en-US" sz="1100" dirty="0"/>
          </a:p>
          <a:p>
            <a:pPr indent="0" marL="0">
              <a:buNone/>
            </a:pPr>
            <a:r>
              <a:rPr lang="en-US" sz="1100" dirty="0">
                <a:solidFill>
                  <a:srgbClr val="2D2D2D"/>
                </a:solidFill>
                <a:latin typeface="Calibri" pitchFamily="34" charset="0"/>
                <a:ea typeface="Calibri" pitchFamily="34" charset="-122"/>
                <a:cs typeface="Calibri" pitchFamily="34" charset="-120"/>
              </a:rPr>
              <a:t>によるニレの激減</a:t>
            </a:r>
            <a:endParaRPr lang="en-US" sz="1100" dirty="0"/>
          </a:p>
        </p:txBody>
      </p:sp>
      <p:sp>
        <p:nvSpPr>
          <p:cNvPr id="24" name="Text 22"/>
          <p:cNvSpPr/>
          <p:nvPr/>
        </p:nvSpPr>
        <p:spPr>
          <a:xfrm>
            <a:off x="4937760" y="3840480"/>
            <a:ext cx="3566160" cy="548640"/>
          </a:xfrm>
          <a:prstGeom prst="rect">
            <a:avLst/>
          </a:prstGeom>
          <a:noFill/>
          <a:ln/>
        </p:spPr>
        <p:txBody>
          <a:bodyPr wrap="square" lIns="0" tIns="0" rIns="0" bIns="0" rtlCol="0" anchor="ctr"/>
          <a:lstStyle/>
          <a:p>
            <a:pPr indent="0" marL="0">
              <a:buNone/>
            </a:pPr>
            <a:r>
              <a:rPr lang="en-US" sz="1000" i="1" dirty="0">
                <a:solidFill>
                  <a:srgbClr val="666666"/>
                </a:solidFill>
                <a:latin typeface="Calibri" pitchFamily="34" charset="0"/>
                <a:ea typeface="Calibri" pitchFamily="34" charset="-122"/>
                <a:cs typeface="Calibri" pitchFamily="34" charset="-120"/>
              </a:rPr>
              <a:t>予測: ニレ除外でシグナルが消失する</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3A2D"/>
        </a:solidFill>
      </p:bgPr>
    </p:bg>
    <p:spTree>
      <p:nvGrpSpPr>
        <p:cNvPr id="1" name=""/>
        <p:cNvGrpSpPr/>
        <p:nvPr/>
      </p:nvGrpSpPr>
      <p:grpSpPr>
        <a:xfrm>
          <a:off x="0" y="0"/>
          <a:ext cx="0" cy="0"/>
          <a:chOff x="0" y="0"/>
          <a:chExt cx="0" cy="0"/>
        </a:xfrm>
      </p:grpSpPr>
      <p:sp>
        <p:nvSpPr>
          <p:cNvPr id="2" name="Text 0"/>
          <p:cNvSpPr/>
          <p:nvPr/>
        </p:nvSpPr>
        <p:spPr>
          <a:xfrm>
            <a:off x="731520" y="274320"/>
            <a:ext cx="7680960" cy="457200"/>
          </a:xfrm>
          <a:prstGeom prst="rect">
            <a:avLst/>
          </a:prstGeom>
          <a:noFill/>
          <a:ln/>
        </p:spPr>
        <p:txBody>
          <a:bodyPr wrap="square" rtlCol="0" anchor="ctr"/>
          <a:lstStyle/>
          <a:p>
            <a:pPr indent="0" marL="0">
              <a:buNone/>
            </a:pPr>
            <a:r>
              <a:rPr lang="en-US" sz="1400" b="1" dirty="0">
                <a:solidFill>
                  <a:srgbClr val="97BC62"/>
                </a:solidFill>
                <a:latin typeface="Calibri" pitchFamily="34" charset="0"/>
                <a:ea typeface="Calibri" pitchFamily="34" charset="-122"/>
                <a:cs typeface="Calibri" pitchFamily="34" charset="-120"/>
              </a:rPr>
              <a:t>核心的洞察</a:t>
            </a:r>
            <a:endParaRPr lang="en-US" sz="1400" dirty="0"/>
          </a:p>
        </p:txBody>
      </p:sp>
      <p:sp>
        <p:nvSpPr>
          <p:cNvPr id="3" name="Text 1"/>
          <p:cNvSpPr/>
          <p:nvPr/>
        </p:nvSpPr>
        <p:spPr>
          <a:xfrm>
            <a:off x="731520" y="731520"/>
            <a:ext cx="7680960" cy="1463040"/>
          </a:xfrm>
          <a:prstGeom prst="rect">
            <a:avLst/>
          </a:prstGeom>
          <a:noFill/>
          <a:ln/>
        </p:spPr>
        <p:txBody>
          <a:bodyPr wrap="square" rtlCol="0" anchor="ctr"/>
          <a:lstStyle/>
          <a:p>
            <a:pPr indent="0" marL="0">
              <a:lnSpc>
                <a:spcPct val="130000"/>
              </a:lnSpc>
              <a:buNone/>
            </a:pPr>
            <a:r>
              <a:rPr lang="en-US" sz="2800" b="1" dirty="0">
                <a:solidFill>
                  <a:srgbClr val="FFFFFF"/>
                </a:solidFill>
                <a:latin typeface="Georgia" pitchFamily="34" charset="0"/>
                <a:ea typeface="Georgia" pitchFamily="34" charset="-122"/>
                <a:cs typeface="Georgia" pitchFamily="34" charset="-120"/>
              </a:rPr>
              <a:t>「存在」は自明。</a:t>
            </a:r>
            <a:endParaRPr lang="en-US" sz="2800" dirty="0"/>
          </a:p>
          <a:p>
            <a:pPr indent="0" marL="0">
              <a:lnSpc>
                <a:spcPct val="130000"/>
              </a:lnSpc>
              <a:buNone/>
            </a:pPr>
            <a:r>
              <a:rPr lang="en-US" sz="2800" b="1" dirty="0">
                <a:solidFill>
                  <a:srgbClr val="FFFFFF"/>
                </a:solidFill>
                <a:latin typeface="Georgia" pitchFamily="34" charset="0"/>
                <a:ea typeface="Georgia" pitchFamily="34" charset="-122"/>
                <a:cs typeface="Georgia" pitchFamily="34" charset="-120"/>
              </a:rPr>
              <a:t>「閾値超過」こそが人為的シグナル。</a:t>
            </a:r>
            <a:endParaRPr lang="en-US" sz="2800" dirty="0"/>
          </a:p>
        </p:txBody>
      </p:sp>
      <p:sp>
        <p:nvSpPr>
          <p:cNvPr id="4" name="Text 2"/>
          <p:cNvSpPr/>
          <p:nvPr/>
        </p:nvSpPr>
        <p:spPr>
          <a:xfrm>
            <a:off x="731520" y="2377440"/>
            <a:ext cx="7680960" cy="2560320"/>
          </a:xfrm>
          <a:prstGeom prst="rect">
            <a:avLst/>
          </a:prstGeom>
          <a:noFill/>
          <a:ln/>
        </p:spPr>
        <p:txBody>
          <a:bodyPr wrap="square" rtlCol="0" anchor="t"/>
          <a:lstStyle/>
          <a:p>
            <a:pPr indent="0" marL="0">
              <a:lnSpc>
                <a:spcPct val="115000"/>
              </a:lnSpc>
              <a:buNone/>
            </a:pPr>
            <a:r>
              <a:rPr lang="en-US" sz="1300" dirty="0">
                <a:solidFill>
                  <a:srgbClr val="F7F4EF"/>
                </a:solidFill>
                <a:latin typeface="Calibri" pitchFamily="34" charset="0"/>
                <a:ea typeface="Calibri" pitchFamily="34" charset="-122"/>
                <a:cs typeface="Calibri" pitchFamily="34" charset="-120"/>
              </a:rPr>
              <a:t>オオバコ（Plantago）やスイバ（Rumex）はヨーロッパの在来種です。</a:t>
            </a:r>
            <a:endParaRPr lang="en-US" sz="1300" dirty="0"/>
          </a:p>
          <a:p>
            <a:pPr indent="0" marL="0">
              <a:lnSpc>
                <a:spcPct val="115000"/>
              </a:lnSpc>
              <a:buNone/>
            </a:pPr>
            <a:r>
              <a:rPr lang="en-US" sz="1300" dirty="0">
                <a:solidFill>
                  <a:srgbClr val="F7F4EF"/>
                </a:solidFill>
                <a:latin typeface="Calibri" pitchFamily="34" charset="0"/>
                <a:ea typeface="Calibri" pitchFamily="34" charset="-122"/>
                <a:cs typeface="Calibri" pitchFamily="34" charset="-120"/>
              </a:rPr>
              <a:t>人間がいなくても、完新世（約1万年前〜）を通じてずっと花粉記録に現れます。</a:t>
            </a:r>
            <a:endParaRPr lang="en-US" sz="1300" dirty="0"/>
          </a:p>
          <a:p>
            <a:pPr indent="0" marL="0">
              <a:lnSpc>
                <a:spcPct val="115000"/>
              </a:lnSpc>
              <a:buNone/>
            </a:pPr>
            <a:endParaRPr lang="en-US" sz="1300" dirty="0"/>
          </a:p>
          <a:p>
            <a:pPr indent="0" marL="0">
              <a:lnSpc>
                <a:spcPct val="115000"/>
              </a:lnSpc>
              <a:buNone/>
            </a:pPr>
            <a:r>
              <a:rPr lang="en-US" sz="1300" dirty="0">
                <a:solidFill>
                  <a:srgbClr val="F7F4EF"/>
                </a:solidFill>
                <a:latin typeface="Calibri" pitchFamily="34" charset="0"/>
                <a:ea typeface="Calibri" pitchFamily="34" charset="-122"/>
                <a:cs typeface="Calibri" pitchFamily="34" charset="-120"/>
              </a:rPr>
              <a:t>したがって「牧畜指標種が穀物より先に花粉記録に出現する」という事実は、</a:t>
            </a:r>
            <a:endParaRPr lang="en-US" sz="1300" dirty="0"/>
          </a:p>
          <a:p>
            <a:pPr indent="0" marL="0">
              <a:lnSpc>
                <a:spcPct val="115000"/>
              </a:lnSpc>
              <a:buNone/>
            </a:pPr>
            <a:r>
              <a:rPr lang="en-US" sz="1300" dirty="0">
                <a:solidFill>
                  <a:srgbClr val="F7F4EF"/>
                </a:solidFill>
                <a:latin typeface="Calibri" pitchFamily="34" charset="0"/>
                <a:ea typeface="Calibri" pitchFamily="34" charset="-122"/>
                <a:cs typeface="Calibri" pitchFamily="34" charset="-120"/>
              </a:rPr>
              <a:t>在来種が外来種（穀物）より先に存在するという当然の結果にすぎません。</a:t>
            </a:r>
            <a:endParaRPr lang="en-US" sz="1300" dirty="0"/>
          </a:p>
          <a:p>
            <a:pPr indent="0" marL="0">
              <a:lnSpc>
                <a:spcPct val="115000"/>
              </a:lnSpc>
              <a:buNone/>
            </a:pPr>
            <a:r>
              <a:rPr lang="en-US" sz="1300" dirty="0">
                <a:solidFill>
                  <a:srgbClr val="97BC62"/>
                </a:solidFill>
                <a:latin typeface="Calibri" pitchFamily="34" charset="0"/>
                <a:ea typeface="Calibri" pitchFamily="34" charset="-122"/>
                <a:cs typeface="Calibri" pitchFamily="34" charset="-120"/>
              </a:rPr>
              <a:t>（ヌルモデルで95%以上がこの順序になると予測される）</a:t>
            </a:r>
            <a:endParaRPr lang="en-US" sz="1300" dirty="0"/>
          </a:p>
          <a:p>
            <a:pPr indent="0" marL="0">
              <a:lnSpc>
                <a:spcPct val="115000"/>
              </a:lnSpc>
              <a:buNone/>
            </a:pPr>
            <a:endParaRPr lang="en-US" sz="1300" dirty="0"/>
          </a:p>
          <a:p>
            <a:pPr indent="0" marL="0">
              <a:lnSpc>
                <a:spcPct val="115000"/>
              </a:lnSpc>
              <a:buNone/>
            </a:pPr>
            <a:r>
              <a:rPr lang="en-US" sz="1300" dirty="0">
                <a:solidFill>
                  <a:srgbClr val="F7F4EF"/>
                </a:solidFill>
                <a:latin typeface="Calibri" pitchFamily="34" charset="0"/>
                <a:ea typeface="Calibri" pitchFamily="34" charset="-122"/>
                <a:cs typeface="Calibri" pitchFamily="34" charset="-120"/>
              </a:rPr>
              <a:t>しかし、これらの種が完新世前半のベースラインを</a:t>
            </a:r>
            <a:endParaRPr lang="en-US" sz="1300" dirty="0"/>
          </a:p>
          <a:p>
            <a:pPr indent="0" marL="0">
              <a:lnSpc>
                <a:spcPct val="115000"/>
              </a:lnSpc>
              <a:buNone/>
            </a:pPr>
            <a:r>
              <a:rPr lang="en-US" sz="1300" b="1" dirty="0">
                <a:solidFill>
                  <a:srgbClr val="F7F4EF"/>
                </a:solidFill>
                <a:latin typeface="Calibri" pitchFamily="34" charset="0"/>
                <a:ea typeface="Calibri" pitchFamily="34" charset="-122"/>
                <a:cs typeface="Calibri" pitchFamily="34" charset="-120"/>
              </a:rPr>
              <a:t>統計的に有意に超過する（平均+2標準偏差）ことは自明ではありません。</a:t>
            </a:r>
            <a:endParaRPr lang="en-US" sz="1300" dirty="0"/>
          </a:p>
          <a:p>
            <a:pPr indent="0" marL="0">
              <a:lnSpc>
                <a:spcPct val="115000"/>
              </a:lnSpc>
              <a:buNone/>
            </a:pPr>
            <a:r>
              <a:rPr lang="en-US" sz="1300" dirty="0">
                <a:solidFill>
                  <a:srgbClr val="F7F4EF"/>
                </a:solidFill>
                <a:latin typeface="Calibri" pitchFamily="34" charset="0"/>
                <a:ea typeface="Calibri" pitchFamily="34" charset="-122"/>
                <a:cs typeface="Calibri" pitchFamily="34" charset="-120"/>
              </a:rPr>
              <a:t>自然のサイト（H3）では0/37地点（0%）で超過が起き、</a:t>
            </a:r>
            <a:endParaRPr lang="en-US" sz="1300" dirty="0"/>
          </a:p>
          <a:p>
            <a:pPr indent="0" marL="0">
              <a:lnSpc>
                <a:spcPct val="115000"/>
              </a:lnSpc>
              <a:buNone/>
            </a:pPr>
            <a:r>
              <a:rPr lang="en-US" sz="1300" b="1" dirty="0">
                <a:solidFill>
                  <a:srgbClr val="F7F4EF"/>
                </a:solidFill>
                <a:latin typeface="Calibri" pitchFamily="34" charset="0"/>
                <a:ea typeface="Calibri" pitchFamily="34" charset="-122"/>
                <a:cs typeface="Calibri" pitchFamily="34" charset="-120"/>
              </a:rPr>
              <a:t>人為的サイト（H1）では87%で超過が起きました。</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Lab — 花粉指標種の閾値超過が人為的シグナルを識別する</a:t>
            </a:r>
            <a:endParaRPr lang="en-US" sz="800" dirty="0"/>
          </a:p>
        </p:txBody>
      </p:sp>
      <p:sp>
        <p:nvSpPr>
          <p:cNvPr id="4" name="Text 2"/>
          <p:cNvSpPr/>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B3A2D"/>
                </a:solidFill>
                <a:latin typeface="Georgia" pitchFamily="34" charset="0"/>
                <a:ea typeface="Georgia" pitchFamily="34" charset="-122"/>
                <a:cs typeface="Georgia" pitchFamily="34" charset="-120"/>
              </a:rPr>
              <a:t>データと手法① — 331地点の花粉記録</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1828800"/>
        </p:xfrm>
        <a:graphic>
          <a:graphicData uri="http://schemas.openxmlformats.org/drawingml/2006/table">
            <a:tbl>
              <a:tblPr/>
              <a:tblGrid>
                <a:gridCol w="1828800"/>
                <a:gridCol w="1097280"/>
                <a:gridCol w="1828800"/>
                <a:gridCol w="1828800"/>
                <a:gridCol w="1645920"/>
              </a:tblGrid>
              <a:tr h="457200">
                <a:tc>
                  <a:txBody>
                    <a:bodyPr/>
                    <a:lstStyle/>
                    <a:p>
                      <a:pPr algn="ctr" indent="0" marL="0">
                        <a:buNone/>
                      </a:pPr>
                      <a:r>
                        <a:rPr lang="en-US" sz="1200" b="1" dirty="0">
                          <a:solidFill>
                            <a:srgbClr val="FFFFFF"/>
                          </a:solidFill>
                        </a:rPr>
                        <a:t>地域</a:t>
                      </a:r>
                      <a:endParaRPr lang="en-US" sz="12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c>
                  <a:txBody>
                    <a:bodyPr/>
                    <a:lstStyle/>
                    <a:p>
                      <a:pPr algn="ctr" indent="0" marL="0">
                        <a:buNone/>
                      </a:pPr>
                      <a:r>
                        <a:rPr lang="en-US" sz="1200" b="1" dirty="0">
                          <a:solidFill>
                            <a:srgbClr val="FFFFFF"/>
                          </a:solidFill>
                        </a:rPr>
                        <a:t>地点数</a:t>
                      </a:r>
                      <a:endParaRPr lang="en-US" sz="12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rPr>
                        <a:t>新石器時代到来</a:t>
                      </a:r>
                      <a:endParaRPr lang="en-US" sz="1100" dirty="0"/>
                    </a:p>
                    <a:p>
                      <a:pPr algn="ctr" indent="0" marL="0">
                        <a:buNone/>
                      </a:pPr>
                      <a:r>
                        <a:rPr lang="en-US" sz="1100" b="1" dirty="0">
                          <a:solidFill>
                            <a:srgbClr val="FFFFFF"/>
                          </a:solidFill>
                        </a:rPr>
                        <a:t>（cal BP）</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c>
                  <a:txBody>
                    <a:bodyPr/>
                    <a:lstStyle/>
                    <a:p>
                      <a:pPr algn="ctr" indent="0" marL="0">
                        <a:buNone/>
                      </a:pPr>
                      <a:r>
                        <a:rPr lang="en-US" sz="1200" b="1" dirty="0">
                          <a:solidFill>
                            <a:srgbClr val="FFFFFF"/>
                          </a:solidFill>
                        </a:rPr>
                        <a:t>文化</a:t>
                      </a:r>
                      <a:endParaRPr lang="en-US" sz="12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c>
                  <a:txBody>
                    <a:bodyPr/>
                    <a:lstStyle/>
                    <a:p>
                      <a:pPr algn="ctr" indent="0" marL="0">
                        <a:buNone/>
                      </a:pPr>
                      <a:r>
                        <a:rPr lang="en-US" sz="1200" b="1" dirty="0">
                          <a:solidFill>
                            <a:srgbClr val="FFFFFF"/>
                          </a:solidFill>
                        </a:rPr>
                        <a:t>シグナル検出率</a:t>
                      </a:r>
                      <a:endParaRPr lang="en-US" sz="12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r>
              <a:tr h="457200">
                <a:tc>
                  <a:txBody>
                    <a:bodyPr/>
                    <a:lstStyle/>
                    <a:p>
                      <a:pPr algn="ctr" indent="0" marL="0">
                        <a:buNone/>
                      </a:pPr>
                      <a:r>
                        <a:rPr lang="en-US" sz="1100" dirty="0">
                          <a:solidFill>
                            <a:srgbClr val="000000"/>
                          </a:solidFill>
                        </a:rPr>
                        <a:t>中央ヨーロッパ</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100" dirty="0">
                          <a:solidFill>
                            <a:srgbClr val="000000"/>
                          </a:solidFill>
                        </a:rPr>
                        <a:t>63</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100" dirty="0">
                          <a:solidFill>
                            <a:srgbClr val="000000"/>
                          </a:solidFill>
                        </a:rPr>
                        <a:t>約7,500年前</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000000"/>
                          </a:solidFill>
                        </a:rPr>
                        <a:t>線帯紋土器文化</a:t>
                      </a:r>
                      <a:endParaRPr lang="en-US" sz="1000" dirty="0"/>
                    </a:p>
                    <a:p>
                      <a:pPr algn="ctr" indent="0" marL="0">
                        <a:buNone/>
                      </a:pPr>
                      <a:r>
                        <a:rPr lang="en-US" sz="1000" dirty="0">
                          <a:solidFill>
                            <a:srgbClr val="000000"/>
                          </a:solidFill>
                        </a:rPr>
                        <a:t>(LBK)</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100" b="1" dirty="0">
                          <a:solidFill>
                            <a:srgbClr val="000000"/>
                          </a:solidFill>
                        </a:rPr>
                        <a:t>97%</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algn="ctr" indent="0" marL="0">
                        <a:buNone/>
                      </a:pPr>
                      <a:r>
                        <a:rPr lang="en-US" sz="1100" dirty="0">
                          <a:solidFill>
                            <a:srgbClr val="000000"/>
                          </a:solidFill>
                        </a:rPr>
                        <a:t>イギリス諸島</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100" dirty="0">
                          <a:solidFill>
                            <a:srgbClr val="000000"/>
                          </a:solidFill>
                        </a:rPr>
                        <a:t>61</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100" dirty="0">
                          <a:solidFill>
                            <a:srgbClr val="000000"/>
                          </a:solidFill>
                        </a:rPr>
                        <a:t>約6,000年前</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000000"/>
                          </a:solidFill>
                        </a:rPr>
                        <a:t>初期新石器</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100" b="1" dirty="0">
                          <a:solidFill>
                            <a:srgbClr val="000000"/>
                          </a:solidFill>
                        </a:rPr>
                        <a:t>87%</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algn="ctr" indent="0" marL="0">
                        <a:buNone/>
                      </a:pPr>
                      <a:r>
                        <a:rPr lang="en-US" sz="1100" dirty="0">
                          <a:solidFill>
                            <a:srgbClr val="000000"/>
                          </a:solidFill>
                        </a:rPr>
                        <a:t>スカンジナビア</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100" dirty="0">
                          <a:solidFill>
                            <a:srgbClr val="000000"/>
                          </a:solidFill>
                        </a:rPr>
                        <a:t>207</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100" dirty="0">
                          <a:solidFill>
                            <a:srgbClr val="000000"/>
                          </a:solidFill>
                        </a:rPr>
                        <a:t>約5,800年前</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000000"/>
                          </a:solidFill>
                        </a:rPr>
                        <a:t>漏斗状杯文化</a:t>
                      </a:r>
                      <a:endParaRPr lang="en-US" sz="1000" dirty="0"/>
                    </a:p>
                    <a:p>
                      <a:pPr algn="ctr" indent="0" marL="0">
                        <a:buNone/>
                      </a:pPr>
                      <a:r>
                        <a:rPr lang="en-US" sz="1000" dirty="0">
                          <a:solidFill>
                            <a:srgbClr val="000000"/>
                          </a:solidFill>
                        </a:rPr>
                        <a:t>(TRB)</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100" b="1" dirty="0">
                          <a:solidFill>
                            <a:srgbClr val="000000"/>
                          </a:solidFill>
                        </a:rPr>
                        <a:t>87%</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6" name="Text 3"/>
          <p:cNvSpPr/>
          <p:nvPr/>
        </p:nvSpPr>
        <p:spPr>
          <a:xfrm>
            <a:off x="640080" y="2926080"/>
            <a:ext cx="7863840" cy="1828800"/>
          </a:xfrm>
          <a:prstGeom prst="rect">
            <a:avLst/>
          </a:prstGeom>
          <a:noFill/>
          <a:ln/>
        </p:spPr>
        <p:txBody>
          <a:bodyPr wrap="square" rtlCol="0" anchor="t"/>
          <a:lstStyle/>
          <a:p>
            <a:pPr indent="0" marL="0">
              <a:lnSpc>
                <a:spcPct val="120000"/>
              </a:lnSpc>
              <a:buNone/>
            </a:pPr>
            <a:r>
              <a:rPr lang="en-US" sz="1100" dirty="0">
                <a:solidFill>
                  <a:srgbClr val="666666"/>
                </a:solidFill>
                <a:latin typeface="Calibri" pitchFamily="34" charset="0"/>
                <a:ea typeface="Calibri" pitchFamily="34" charset="-122"/>
                <a:cs typeface="Calibri" pitchFamily="34" charset="-120"/>
              </a:rPr>
              <a:t>cal BP = calibrated years Before Present（較正年代。1950年を基点とした暦年）</a:t>
            </a:r>
            <a:endParaRPr lang="en-US" sz="1100" dirty="0"/>
          </a:p>
          <a:p>
            <a:pPr indent="0" marL="0">
              <a:lnSpc>
                <a:spcPct val="120000"/>
              </a:lnSpc>
              <a:buNone/>
            </a:pPr>
            <a:r>
              <a:rPr lang="en-US" sz="1100" dirty="0">
                <a:solidFill>
                  <a:srgbClr val="666666"/>
                </a:solidFill>
                <a:latin typeface="Calibri" pitchFamily="34" charset="0"/>
                <a:ea typeface="Calibri" pitchFamily="34" charset="-122"/>
                <a:cs typeface="Calibri" pitchFamily="34" charset="-120"/>
              </a:rPr>
              <a:t>LBK = Linearbandkeramik（中央ヨーロッパ最古の農耕文化）</a:t>
            </a:r>
            <a:endParaRPr lang="en-US" sz="1100" dirty="0"/>
          </a:p>
          <a:p>
            <a:pPr indent="0" marL="0">
              <a:lnSpc>
                <a:spcPct val="120000"/>
              </a:lnSpc>
              <a:buNone/>
            </a:pPr>
            <a:r>
              <a:rPr lang="en-US" sz="1100" dirty="0">
                <a:solidFill>
                  <a:srgbClr val="666666"/>
                </a:solidFill>
                <a:latin typeface="Calibri" pitchFamily="34" charset="0"/>
                <a:ea typeface="Calibri" pitchFamily="34" charset="-122"/>
                <a:cs typeface="Calibri" pitchFamily="34" charset="-120"/>
              </a:rPr>
              <a:t>TRB = Trichterbecher / Funnel Beaker（北欧最古の農耕文化）</a:t>
            </a:r>
            <a:endParaRPr lang="en-US" sz="1100" dirty="0"/>
          </a:p>
          <a:p>
            <a:pPr indent="0" marL="0">
              <a:lnSpc>
                <a:spcPct val="120000"/>
              </a:lnSpc>
              <a:buNone/>
            </a:pPr>
            <a:endParaRPr lang="en-US" sz="1100" dirty="0"/>
          </a:p>
          <a:p>
            <a:pPr indent="0" marL="0">
              <a:lnSpc>
                <a:spcPct val="120000"/>
              </a:lnSpc>
              <a:buNone/>
            </a:pPr>
            <a:r>
              <a:rPr lang="en-US" sz="1100" dirty="0">
                <a:solidFill>
                  <a:srgbClr val="666666"/>
                </a:solidFill>
                <a:latin typeface="Calibri" pitchFamily="34" charset="0"/>
                <a:ea typeface="Calibri" pitchFamily="34" charset="-122"/>
                <a:cs typeface="Calibri" pitchFamily="34" charset="-120"/>
              </a:rPr>
              <a:t>データ品質基準: ①7,000年前以前のサンプルが1つ以上 ②完新世サンプル10以上 ③放射性炭素年代2点以上</a:t>
            </a:r>
            <a:endParaRPr lang="en-US" sz="1100" dirty="0"/>
          </a:p>
          <a:p>
            <a:pPr indent="0" marL="0">
              <a:lnSpc>
                <a:spcPct val="120000"/>
              </a:lnSpc>
              <a:buNone/>
            </a:pPr>
            <a:r>
              <a:rPr lang="en-US" sz="1100" dirty="0">
                <a:solidFill>
                  <a:srgbClr val="666666"/>
                </a:solidFill>
                <a:latin typeface="Calibri" pitchFamily="34" charset="0"/>
                <a:ea typeface="Calibri" pitchFamily="34" charset="-122"/>
                <a:cs typeface="Calibri" pitchFamily="34" charset="-120"/>
              </a:rPr>
              <a:t>全データはNeotoma Paleoecology Databaseから取得（公開データ）。</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Lab — 花粉指標種の閾値超過が人為的シグナルを識別する</a:t>
            </a:r>
            <a:endParaRPr lang="en-US" sz="800" dirty="0"/>
          </a:p>
        </p:txBody>
      </p:sp>
      <p:sp>
        <p:nvSpPr>
          <p:cNvPr id="4" name="Text 2"/>
          <p:cNvSpPr/>
          <p:nvPr/>
        </p:nvSpPr>
        <p:spPr>
          <a:xfrm>
            <a:off x="457200" y="228600"/>
            <a:ext cx="8229600" cy="548640"/>
          </a:xfrm>
          <a:prstGeom prst="rect">
            <a:avLst/>
          </a:prstGeom>
          <a:noFill/>
          <a:ln/>
        </p:spPr>
        <p:txBody>
          <a:bodyPr wrap="square" lIns="0" tIns="0" rIns="0" bIns="0" rtlCol="0" anchor="ctr"/>
          <a:lstStyle/>
          <a:p>
            <a:pPr indent="0" marL="0">
              <a:buNone/>
            </a:pPr>
            <a:r>
              <a:rPr lang="en-US" sz="2200" b="1" dirty="0">
                <a:solidFill>
                  <a:srgbClr val="1B3A2D"/>
                </a:solidFill>
                <a:latin typeface="Georgia" pitchFamily="34" charset="0"/>
                <a:ea typeface="Georgia" pitchFamily="34" charset="-122"/>
                <a:cs typeface="Georgia" pitchFamily="34" charset="-120"/>
              </a:rPr>
              <a:t>手法② — 機能的分解: BCシグナルの中身を調べる</a:t>
            </a:r>
            <a:endParaRPr lang="en-US" sz="2200" dirty="0"/>
          </a:p>
        </p:txBody>
      </p:sp>
      <p:sp>
        <p:nvSpPr>
          <p:cNvPr id="5" name="Text 3"/>
          <p:cNvSpPr/>
          <p:nvPr/>
        </p:nvSpPr>
        <p:spPr>
          <a:xfrm>
            <a:off x="640080" y="914400"/>
            <a:ext cx="7863840" cy="640080"/>
          </a:xfrm>
          <a:prstGeom prst="rect">
            <a:avLst/>
          </a:prstGeom>
          <a:noFill/>
          <a:ln/>
        </p:spPr>
        <p:txBody>
          <a:bodyPr wrap="square" rtlCol="0" anchor="t"/>
          <a:lstStyle/>
          <a:p>
            <a:pPr indent="0" marL="0">
              <a:lnSpc>
                <a:spcPct val="120000"/>
              </a:lnSpc>
              <a:buNone/>
            </a:pPr>
            <a:r>
              <a:rPr lang="en-US" sz="1300" b="1" dirty="0">
                <a:solidFill>
                  <a:srgbClr val="2D2D2D"/>
                </a:solidFill>
                <a:latin typeface="Calibri" pitchFamily="34" charset="0"/>
                <a:ea typeface="Calibri" pitchFamily="34" charset="-122"/>
                <a:cs typeface="Calibri" pitchFamily="34" charset="-120"/>
              </a:rPr>
              <a:t>BC非類似度は「どの花粉種がどれだけ変化に寄与したか」に分解できます。</a:t>
            </a:r>
            <a:endParaRPr lang="en-US" sz="1300" dirty="0"/>
          </a:p>
          <a:p>
            <a:pPr indent="0" marL="0">
              <a:lnSpc>
                <a:spcPct val="120000"/>
              </a:lnSpc>
              <a:buNone/>
            </a:pPr>
            <a:r>
              <a:rPr lang="en-US" sz="1300" dirty="0">
                <a:solidFill>
                  <a:srgbClr val="2D2D2D"/>
                </a:solidFill>
                <a:latin typeface="Calibri" pitchFamily="34" charset="0"/>
                <a:ea typeface="Calibri" pitchFamily="34" charset="-122"/>
                <a:cs typeface="Calibri" pitchFamily="34" charset="-120"/>
              </a:rPr>
              <a:t>各花粉種の寄与を5つの機能グループに分類しました:</a:t>
            </a:r>
            <a:endParaRPr lang="en-US" sz="1300" dirty="0"/>
          </a:p>
        </p:txBody>
      </p:sp>
      <p:sp>
        <p:nvSpPr>
          <p:cNvPr id="6" name="Shape 4"/>
          <p:cNvSpPr/>
          <p:nvPr/>
        </p:nvSpPr>
        <p:spPr>
          <a:xfrm>
            <a:off x="640080" y="1691640"/>
            <a:ext cx="73152" cy="457200"/>
          </a:xfrm>
          <a:prstGeom prst="rect">
            <a:avLst/>
          </a:prstGeom>
          <a:solidFill>
            <a:srgbClr val="4A7C59"/>
          </a:solidFill>
          <a:ln/>
        </p:spPr>
      </p:sp>
      <p:sp>
        <p:nvSpPr>
          <p:cNvPr id="7" name="Text 5"/>
          <p:cNvSpPr/>
          <p:nvPr/>
        </p:nvSpPr>
        <p:spPr>
          <a:xfrm>
            <a:off x="868680" y="1691640"/>
            <a:ext cx="2011680" cy="457200"/>
          </a:xfrm>
          <a:prstGeom prst="rect">
            <a:avLst/>
          </a:prstGeom>
          <a:noFill/>
          <a:ln/>
        </p:spPr>
        <p:txBody>
          <a:bodyPr wrap="square" lIns="0" tIns="0" rIns="0" bIns="0" rtlCol="0" anchor="ctr"/>
          <a:lstStyle/>
          <a:p>
            <a:pPr indent="0" marL="0">
              <a:buNone/>
            </a:pPr>
            <a:r>
              <a:rPr lang="en-US" sz="1200" b="1" dirty="0">
                <a:solidFill>
                  <a:srgbClr val="2D2D2D"/>
                </a:solidFill>
                <a:latin typeface="Calibri" pitchFamily="34" charset="0"/>
                <a:ea typeface="Calibri" pitchFamily="34" charset="-122"/>
                <a:cs typeface="Calibri" pitchFamily="34" charset="-120"/>
              </a:rPr>
              <a:t>気候感受性樹木</a:t>
            </a:r>
            <a:endParaRPr lang="en-US" sz="1200" dirty="0"/>
          </a:p>
        </p:txBody>
      </p:sp>
      <p:sp>
        <p:nvSpPr>
          <p:cNvPr id="8" name="Text 6"/>
          <p:cNvSpPr/>
          <p:nvPr/>
        </p:nvSpPr>
        <p:spPr>
          <a:xfrm>
            <a:off x="2926080" y="1691640"/>
            <a:ext cx="3200400" cy="457200"/>
          </a:xfrm>
          <a:prstGeom prst="rect">
            <a:avLst/>
          </a:prstGeom>
          <a:noFill/>
          <a:ln/>
        </p:spPr>
        <p:txBody>
          <a:bodyPr wrap="square" lIns="0" tIns="0" rIns="0" bIns="0" rtlCol="0" anchor="ctr"/>
          <a:lstStyle/>
          <a:p>
            <a:pPr indent="0" marL="0">
              <a:buNone/>
            </a:pPr>
            <a:r>
              <a:rPr lang="en-US" sz="1100" dirty="0">
                <a:solidFill>
                  <a:srgbClr val="666666"/>
                </a:solidFill>
                <a:latin typeface="Calibri" pitchFamily="34" charset="0"/>
                <a:ea typeface="Calibri" pitchFamily="34" charset="-122"/>
                <a:cs typeface="Calibri" pitchFamily="34" charset="-120"/>
              </a:rPr>
              <a:t>ハシバミ、カバノキ、マツ、ニレ</a:t>
            </a:r>
            <a:endParaRPr lang="en-US" sz="1100" dirty="0"/>
          </a:p>
        </p:txBody>
      </p:sp>
      <p:sp>
        <p:nvSpPr>
          <p:cNvPr id="9" name="Text 7"/>
          <p:cNvSpPr/>
          <p:nvPr/>
        </p:nvSpPr>
        <p:spPr>
          <a:xfrm>
            <a:off x="6400800" y="1691640"/>
            <a:ext cx="1828800" cy="457200"/>
          </a:xfrm>
          <a:prstGeom prst="rect">
            <a:avLst/>
          </a:prstGeom>
          <a:noFill/>
          <a:ln/>
        </p:spPr>
        <p:txBody>
          <a:bodyPr wrap="square" lIns="0" tIns="0" rIns="0" bIns="0" rtlCol="0" anchor="ctr"/>
          <a:lstStyle/>
          <a:p>
            <a:pPr algn="r" indent="0" marL="0">
              <a:buNone/>
            </a:pPr>
            <a:r>
              <a:rPr lang="en-US" sz="1400" b="1" dirty="0">
                <a:solidFill>
                  <a:srgbClr val="4A7C59"/>
                </a:solidFill>
                <a:latin typeface="Calibri" pitchFamily="34" charset="0"/>
                <a:ea typeface="Calibri" pitchFamily="34" charset="-122"/>
                <a:cs typeface="Calibri" pitchFamily="34" charset="-120"/>
              </a:rPr>
              <a:t>34-57%</a:t>
            </a:r>
            <a:endParaRPr lang="en-US" sz="1400" dirty="0"/>
          </a:p>
        </p:txBody>
      </p:sp>
      <p:sp>
        <p:nvSpPr>
          <p:cNvPr id="10" name="Shape 8"/>
          <p:cNvSpPr/>
          <p:nvPr/>
        </p:nvSpPr>
        <p:spPr>
          <a:xfrm>
            <a:off x="640080" y="2240280"/>
            <a:ext cx="73152" cy="457200"/>
          </a:xfrm>
          <a:prstGeom prst="rect">
            <a:avLst/>
          </a:prstGeom>
          <a:solidFill>
            <a:srgbClr val="6B9E76"/>
          </a:solidFill>
          <a:ln/>
        </p:spPr>
      </p:sp>
      <p:sp>
        <p:nvSpPr>
          <p:cNvPr id="11" name="Text 9"/>
          <p:cNvSpPr/>
          <p:nvPr/>
        </p:nvSpPr>
        <p:spPr>
          <a:xfrm>
            <a:off x="868680" y="2240280"/>
            <a:ext cx="2011680" cy="457200"/>
          </a:xfrm>
          <a:prstGeom prst="rect">
            <a:avLst/>
          </a:prstGeom>
          <a:noFill/>
          <a:ln/>
        </p:spPr>
        <p:txBody>
          <a:bodyPr wrap="square" lIns="0" tIns="0" rIns="0" bIns="0" rtlCol="0" anchor="ctr"/>
          <a:lstStyle/>
          <a:p>
            <a:pPr indent="0" marL="0">
              <a:buNone/>
            </a:pPr>
            <a:r>
              <a:rPr lang="en-US" sz="1200" b="1" dirty="0">
                <a:solidFill>
                  <a:srgbClr val="2D2D2D"/>
                </a:solidFill>
                <a:latin typeface="Calibri" pitchFamily="34" charset="0"/>
                <a:ea typeface="Calibri" pitchFamily="34" charset="-122"/>
                <a:cs typeface="Calibri" pitchFamily="34" charset="-120"/>
              </a:rPr>
              <a:t>遷移樹木</a:t>
            </a:r>
            <a:endParaRPr lang="en-US" sz="1200" dirty="0"/>
          </a:p>
        </p:txBody>
      </p:sp>
      <p:sp>
        <p:nvSpPr>
          <p:cNvPr id="12" name="Text 10"/>
          <p:cNvSpPr/>
          <p:nvPr/>
        </p:nvSpPr>
        <p:spPr>
          <a:xfrm>
            <a:off x="2926080" y="2240280"/>
            <a:ext cx="3200400" cy="457200"/>
          </a:xfrm>
          <a:prstGeom prst="rect">
            <a:avLst/>
          </a:prstGeom>
          <a:noFill/>
          <a:ln/>
        </p:spPr>
        <p:txBody>
          <a:bodyPr wrap="square" lIns="0" tIns="0" rIns="0" bIns="0" rtlCol="0" anchor="ctr"/>
          <a:lstStyle/>
          <a:p>
            <a:pPr indent="0" marL="0">
              <a:buNone/>
            </a:pPr>
            <a:r>
              <a:rPr lang="en-US" sz="1100" dirty="0">
                <a:solidFill>
                  <a:srgbClr val="666666"/>
                </a:solidFill>
                <a:latin typeface="Calibri" pitchFamily="34" charset="0"/>
                <a:ea typeface="Calibri" pitchFamily="34" charset="-122"/>
                <a:cs typeface="Calibri" pitchFamily="34" charset="-120"/>
              </a:rPr>
              <a:t>ブナ、ナラ、シナノキ、ハンノキ</a:t>
            </a:r>
            <a:endParaRPr lang="en-US" sz="1100" dirty="0"/>
          </a:p>
        </p:txBody>
      </p:sp>
      <p:sp>
        <p:nvSpPr>
          <p:cNvPr id="13" name="Text 11"/>
          <p:cNvSpPr/>
          <p:nvPr/>
        </p:nvSpPr>
        <p:spPr>
          <a:xfrm>
            <a:off x="6400800" y="2240280"/>
            <a:ext cx="1828800" cy="457200"/>
          </a:xfrm>
          <a:prstGeom prst="rect">
            <a:avLst/>
          </a:prstGeom>
          <a:noFill/>
          <a:ln/>
        </p:spPr>
        <p:txBody>
          <a:bodyPr wrap="square" lIns="0" tIns="0" rIns="0" bIns="0" rtlCol="0" anchor="ctr"/>
          <a:lstStyle/>
          <a:p>
            <a:pPr algn="r" indent="0" marL="0">
              <a:buNone/>
            </a:pPr>
            <a:r>
              <a:rPr lang="en-US" sz="1400" b="1" dirty="0">
                <a:solidFill>
                  <a:srgbClr val="6B9E76"/>
                </a:solidFill>
                <a:latin typeface="Calibri" pitchFamily="34" charset="0"/>
                <a:ea typeface="Calibri" pitchFamily="34" charset="-122"/>
                <a:cs typeface="Calibri" pitchFamily="34" charset="-120"/>
              </a:rPr>
              <a:t>10-14%</a:t>
            </a:r>
            <a:endParaRPr lang="en-US" sz="1400" dirty="0"/>
          </a:p>
        </p:txBody>
      </p:sp>
      <p:sp>
        <p:nvSpPr>
          <p:cNvPr id="14" name="Shape 12"/>
          <p:cNvSpPr/>
          <p:nvPr/>
        </p:nvSpPr>
        <p:spPr>
          <a:xfrm>
            <a:off x="640080" y="2788920"/>
            <a:ext cx="73152" cy="457200"/>
          </a:xfrm>
          <a:prstGeom prst="rect">
            <a:avLst/>
          </a:prstGeom>
          <a:solidFill>
            <a:srgbClr val="B85042"/>
          </a:solidFill>
          <a:ln/>
        </p:spPr>
      </p:sp>
      <p:sp>
        <p:nvSpPr>
          <p:cNvPr id="15" name="Text 13"/>
          <p:cNvSpPr/>
          <p:nvPr/>
        </p:nvSpPr>
        <p:spPr>
          <a:xfrm>
            <a:off x="868680" y="2788920"/>
            <a:ext cx="2011680" cy="457200"/>
          </a:xfrm>
          <a:prstGeom prst="rect">
            <a:avLst/>
          </a:prstGeom>
          <a:noFill/>
          <a:ln/>
        </p:spPr>
        <p:txBody>
          <a:bodyPr wrap="square" lIns="0" tIns="0" rIns="0" bIns="0" rtlCol="0" anchor="ctr"/>
          <a:lstStyle/>
          <a:p>
            <a:pPr indent="0" marL="0">
              <a:buNone/>
            </a:pPr>
            <a:r>
              <a:rPr lang="en-US" sz="1200" b="1" dirty="0">
                <a:solidFill>
                  <a:srgbClr val="2D2D2D"/>
                </a:solidFill>
                <a:latin typeface="Calibri" pitchFamily="34" charset="0"/>
                <a:ea typeface="Calibri" pitchFamily="34" charset="-122"/>
                <a:cs typeface="Calibri" pitchFamily="34" charset="-120"/>
              </a:rPr>
              <a:t>牧畜・農耕指標</a:t>
            </a:r>
            <a:endParaRPr lang="en-US" sz="1200" dirty="0"/>
          </a:p>
        </p:txBody>
      </p:sp>
      <p:sp>
        <p:nvSpPr>
          <p:cNvPr id="16" name="Text 14"/>
          <p:cNvSpPr/>
          <p:nvPr/>
        </p:nvSpPr>
        <p:spPr>
          <a:xfrm>
            <a:off x="2926080" y="2788920"/>
            <a:ext cx="3200400" cy="457200"/>
          </a:xfrm>
          <a:prstGeom prst="rect">
            <a:avLst/>
          </a:prstGeom>
          <a:noFill/>
          <a:ln/>
        </p:spPr>
        <p:txBody>
          <a:bodyPr wrap="square" lIns="0" tIns="0" rIns="0" bIns="0" rtlCol="0" anchor="ctr"/>
          <a:lstStyle/>
          <a:p>
            <a:pPr indent="0" marL="0">
              <a:buNone/>
            </a:pPr>
            <a:r>
              <a:rPr lang="en-US" sz="1100" dirty="0">
                <a:solidFill>
                  <a:srgbClr val="666666"/>
                </a:solidFill>
                <a:latin typeface="Calibri" pitchFamily="34" charset="0"/>
                <a:ea typeface="Calibri" pitchFamily="34" charset="-122"/>
                <a:cs typeface="Calibri" pitchFamily="34" charset="-120"/>
              </a:rPr>
              <a:t>オオバコ、スイバ、イネ科、穀物類</a:t>
            </a:r>
            <a:endParaRPr lang="en-US" sz="1100" dirty="0"/>
          </a:p>
        </p:txBody>
      </p:sp>
      <p:sp>
        <p:nvSpPr>
          <p:cNvPr id="17" name="Text 15"/>
          <p:cNvSpPr/>
          <p:nvPr/>
        </p:nvSpPr>
        <p:spPr>
          <a:xfrm>
            <a:off x="6400800" y="2788920"/>
            <a:ext cx="1828800" cy="457200"/>
          </a:xfrm>
          <a:prstGeom prst="rect">
            <a:avLst/>
          </a:prstGeom>
          <a:noFill/>
          <a:ln/>
        </p:spPr>
        <p:txBody>
          <a:bodyPr wrap="square" lIns="0" tIns="0" rIns="0" bIns="0" rtlCol="0" anchor="ctr"/>
          <a:lstStyle/>
          <a:p>
            <a:pPr algn="r" indent="0" marL="0">
              <a:buNone/>
            </a:pPr>
            <a:r>
              <a:rPr lang="en-US" sz="1400" b="1" dirty="0">
                <a:solidFill>
                  <a:srgbClr val="B85042"/>
                </a:solidFill>
                <a:latin typeface="Calibri" pitchFamily="34" charset="0"/>
                <a:ea typeface="Calibri" pitchFamily="34" charset="-122"/>
                <a:cs typeface="Calibri" pitchFamily="34" charset="-120"/>
              </a:rPr>
              <a:t>1-7%</a:t>
            </a:r>
            <a:endParaRPr lang="en-US" sz="1400" dirty="0"/>
          </a:p>
        </p:txBody>
      </p:sp>
      <p:sp>
        <p:nvSpPr>
          <p:cNvPr id="18" name="Shape 16"/>
          <p:cNvSpPr/>
          <p:nvPr/>
        </p:nvSpPr>
        <p:spPr>
          <a:xfrm>
            <a:off x="640080" y="3337560"/>
            <a:ext cx="73152" cy="457200"/>
          </a:xfrm>
          <a:prstGeom prst="rect">
            <a:avLst/>
          </a:prstGeom>
          <a:solidFill>
            <a:srgbClr val="6A8CAF"/>
          </a:solidFill>
          <a:ln/>
        </p:spPr>
      </p:sp>
      <p:sp>
        <p:nvSpPr>
          <p:cNvPr id="19" name="Text 17"/>
          <p:cNvSpPr/>
          <p:nvPr/>
        </p:nvSpPr>
        <p:spPr>
          <a:xfrm>
            <a:off x="868680" y="3337560"/>
            <a:ext cx="2011680" cy="457200"/>
          </a:xfrm>
          <a:prstGeom prst="rect">
            <a:avLst/>
          </a:prstGeom>
          <a:noFill/>
          <a:ln/>
        </p:spPr>
        <p:txBody>
          <a:bodyPr wrap="square" lIns="0" tIns="0" rIns="0" bIns="0" rtlCol="0" anchor="ctr"/>
          <a:lstStyle/>
          <a:p>
            <a:pPr indent="0" marL="0">
              <a:buNone/>
            </a:pPr>
            <a:r>
              <a:rPr lang="en-US" sz="1200" b="1" dirty="0">
                <a:solidFill>
                  <a:srgbClr val="2D2D2D"/>
                </a:solidFill>
                <a:latin typeface="Calibri" pitchFamily="34" charset="0"/>
                <a:ea typeface="Calibri" pitchFamily="34" charset="-122"/>
                <a:cs typeface="Calibri" pitchFamily="34" charset="-120"/>
              </a:rPr>
              <a:t>湿地</a:t>
            </a:r>
            <a:endParaRPr lang="en-US" sz="1200" dirty="0"/>
          </a:p>
        </p:txBody>
      </p:sp>
      <p:sp>
        <p:nvSpPr>
          <p:cNvPr id="20" name="Text 18"/>
          <p:cNvSpPr/>
          <p:nvPr/>
        </p:nvSpPr>
        <p:spPr>
          <a:xfrm>
            <a:off x="2926080" y="3337560"/>
            <a:ext cx="3200400" cy="457200"/>
          </a:xfrm>
          <a:prstGeom prst="rect">
            <a:avLst/>
          </a:prstGeom>
          <a:noFill/>
          <a:ln/>
        </p:spPr>
        <p:txBody>
          <a:bodyPr wrap="square" lIns="0" tIns="0" rIns="0" bIns="0" rtlCol="0" anchor="ctr"/>
          <a:lstStyle/>
          <a:p>
            <a:pPr indent="0" marL="0">
              <a:buNone/>
            </a:pPr>
            <a:r>
              <a:rPr lang="en-US" sz="1100" dirty="0">
                <a:solidFill>
                  <a:srgbClr val="666666"/>
                </a:solidFill>
                <a:latin typeface="Calibri" pitchFamily="34" charset="0"/>
                <a:ea typeface="Calibri" pitchFamily="34" charset="-122"/>
                <a:cs typeface="Calibri" pitchFamily="34" charset="-120"/>
              </a:rPr>
              <a:t>ミズゴケ、カヤツリグサ科</a:t>
            </a:r>
            <a:endParaRPr lang="en-US" sz="1100" dirty="0"/>
          </a:p>
        </p:txBody>
      </p:sp>
      <p:sp>
        <p:nvSpPr>
          <p:cNvPr id="21" name="Text 19"/>
          <p:cNvSpPr/>
          <p:nvPr/>
        </p:nvSpPr>
        <p:spPr>
          <a:xfrm>
            <a:off x="6400800" y="3337560"/>
            <a:ext cx="1828800" cy="457200"/>
          </a:xfrm>
          <a:prstGeom prst="rect">
            <a:avLst/>
          </a:prstGeom>
          <a:noFill/>
          <a:ln/>
        </p:spPr>
        <p:txBody>
          <a:bodyPr wrap="square" lIns="0" tIns="0" rIns="0" bIns="0" rtlCol="0" anchor="ctr"/>
          <a:lstStyle/>
          <a:p>
            <a:pPr algn="r" indent="0" marL="0">
              <a:buNone/>
            </a:pPr>
            <a:r>
              <a:rPr lang="en-US" sz="1400" b="1" dirty="0">
                <a:solidFill>
                  <a:srgbClr val="6A8CAF"/>
                </a:solidFill>
                <a:latin typeface="Calibri" pitchFamily="34" charset="0"/>
                <a:ea typeface="Calibri" pitchFamily="34" charset="-122"/>
                <a:cs typeface="Calibri" pitchFamily="34" charset="-120"/>
              </a:rPr>
              <a:t>3-7%</a:t>
            </a:r>
            <a:endParaRPr lang="en-US" sz="1400" dirty="0"/>
          </a:p>
        </p:txBody>
      </p:sp>
      <p:sp>
        <p:nvSpPr>
          <p:cNvPr id="22" name="Shape 20"/>
          <p:cNvSpPr/>
          <p:nvPr/>
        </p:nvSpPr>
        <p:spPr>
          <a:xfrm>
            <a:off x="640080" y="3886200"/>
            <a:ext cx="73152" cy="457200"/>
          </a:xfrm>
          <a:prstGeom prst="rect">
            <a:avLst/>
          </a:prstGeom>
          <a:solidFill>
            <a:srgbClr val="999999"/>
          </a:solidFill>
          <a:ln/>
        </p:spPr>
      </p:sp>
      <p:sp>
        <p:nvSpPr>
          <p:cNvPr id="23" name="Text 21"/>
          <p:cNvSpPr/>
          <p:nvPr/>
        </p:nvSpPr>
        <p:spPr>
          <a:xfrm>
            <a:off x="868680" y="3886200"/>
            <a:ext cx="2011680" cy="457200"/>
          </a:xfrm>
          <a:prstGeom prst="rect">
            <a:avLst/>
          </a:prstGeom>
          <a:noFill/>
          <a:ln/>
        </p:spPr>
        <p:txBody>
          <a:bodyPr wrap="square" lIns="0" tIns="0" rIns="0" bIns="0" rtlCol="0" anchor="ctr"/>
          <a:lstStyle/>
          <a:p>
            <a:pPr indent="0" marL="0">
              <a:buNone/>
            </a:pPr>
            <a:r>
              <a:rPr lang="en-US" sz="1200" b="1" dirty="0">
                <a:solidFill>
                  <a:srgbClr val="2D2D2D"/>
                </a:solidFill>
                <a:latin typeface="Calibri" pitchFamily="34" charset="0"/>
                <a:ea typeface="Calibri" pitchFamily="34" charset="-122"/>
                <a:cs typeface="Calibri" pitchFamily="34" charset="-120"/>
              </a:rPr>
              <a:t>その他</a:t>
            </a:r>
            <a:endParaRPr lang="en-US" sz="1200" dirty="0"/>
          </a:p>
        </p:txBody>
      </p:sp>
      <p:sp>
        <p:nvSpPr>
          <p:cNvPr id="24" name="Text 22"/>
          <p:cNvSpPr/>
          <p:nvPr/>
        </p:nvSpPr>
        <p:spPr>
          <a:xfrm>
            <a:off x="2926080" y="3886200"/>
            <a:ext cx="3200400" cy="457200"/>
          </a:xfrm>
          <a:prstGeom prst="rect">
            <a:avLst/>
          </a:prstGeom>
          <a:noFill/>
          <a:ln/>
        </p:spPr>
        <p:txBody>
          <a:bodyPr wrap="square" lIns="0" tIns="0" rIns="0" bIns="0" rtlCol="0" anchor="ctr"/>
          <a:lstStyle/>
          <a:p>
            <a:pPr indent="0" marL="0">
              <a:buNone/>
            </a:pPr>
            <a:r>
              <a:rPr lang="en-US" sz="1100" dirty="0">
                <a:solidFill>
                  <a:srgbClr val="666666"/>
                </a:solidFill>
                <a:latin typeface="Calibri" pitchFamily="34" charset="0"/>
                <a:ea typeface="Calibri" pitchFamily="34" charset="-122"/>
                <a:cs typeface="Calibri" pitchFamily="34" charset="-120"/>
              </a:rPr>
              <a:t>上記以外の陸生花粉</a:t>
            </a:r>
            <a:endParaRPr lang="en-US" sz="1100" dirty="0"/>
          </a:p>
        </p:txBody>
      </p:sp>
      <p:sp>
        <p:nvSpPr>
          <p:cNvPr id="25" name="Text 23"/>
          <p:cNvSpPr/>
          <p:nvPr/>
        </p:nvSpPr>
        <p:spPr>
          <a:xfrm>
            <a:off x="6400800" y="3886200"/>
            <a:ext cx="1828800" cy="457200"/>
          </a:xfrm>
          <a:prstGeom prst="rect">
            <a:avLst/>
          </a:prstGeom>
          <a:noFill/>
          <a:ln/>
        </p:spPr>
        <p:txBody>
          <a:bodyPr wrap="square" lIns="0" tIns="0" rIns="0" bIns="0" rtlCol="0" anchor="ctr"/>
          <a:lstStyle/>
          <a:p>
            <a:pPr algn="r" indent="0" marL="0">
              <a:buNone/>
            </a:pPr>
            <a:r>
              <a:rPr lang="en-US" sz="1400" b="1" dirty="0">
                <a:solidFill>
                  <a:srgbClr val="999999"/>
                </a:solidFill>
                <a:latin typeface="Calibri" pitchFamily="34" charset="0"/>
                <a:ea typeface="Calibri" pitchFamily="34" charset="-122"/>
                <a:cs typeface="Calibri" pitchFamily="34" charset="-120"/>
              </a:rPr>
              <a:t>8-18%</a:t>
            </a:r>
            <a:endParaRPr lang="en-US" sz="1400" dirty="0"/>
          </a:p>
        </p:txBody>
      </p:sp>
      <p:sp>
        <p:nvSpPr>
          <p:cNvPr id="26" name="Text 24"/>
          <p:cNvSpPr/>
          <p:nvPr/>
        </p:nvSpPr>
        <p:spPr>
          <a:xfrm>
            <a:off x="640080" y="4434840"/>
            <a:ext cx="7863840" cy="457200"/>
          </a:xfrm>
          <a:prstGeom prst="rect">
            <a:avLst/>
          </a:prstGeom>
          <a:noFill/>
          <a:ln/>
        </p:spPr>
        <p:txBody>
          <a:bodyPr wrap="square" lIns="0" tIns="0" rIns="0" bIns="0" rtlCol="0" anchor="ctr"/>
          <a:lstStyle/>
          <a:p>
            <a:pPr indent="0" marL="0">
              <a:lnSpc>
                <a:spcPct val="120000"/>
              </a:lnSpc>
              <a:buNone/>
            </a:pPr>
            <a:r>
              <a:rPr lang="en-US" sz="1100" b="1" dirty="0">
                <a:solidFill>
                  <a:srgbClr val="B85042"/>
                </a:solidFill>
                <a:latin typeface="Calibri" pitchFamily="34" charset="0"/>
                <a:ea typeface="Calibri" pitchFamily="34" charset="-122"/>
                <a:cs typeface="Calibri" pitchFamily="34" charset="-120"/>
              </a:rPr>
              <a:t>→ BCシグナルの34-57%は樹木の組成変化。牧畜・農耕指標はわずか1-7%。</a:t>
            </a:r>
            <a:endParaRPr lang="en-US" sz="1100" dirty="0"/>
          </a:p>
          <a:p>
            <a:pPr indent="0" marL="0">
              <a:lnSpc>
                <a:spcPct val="120000"/>
              </a:lnSpc>
              <a:buNone/>
            </a:pPr>
            <a:r>
              <a:rPr lang="en-US" sz="1100" b="1" dirty="0">
                <a:solidFill>
                  <a:srgbClr val="B85042"/>
                </a:solidFill>
                <a:latin typeface="Calibri" pitchFamily="34" charset="0"/>
                <a:ea typeface="Calibri" pitchFamily="34" charset="-122"/>
                <a:cs typeface="Calibri" pitchFamily="34" charset="-120"/>
              </a:rPr>
              <a:t>  シグナルの大きさだけでは「人為的」か「自然」かを区別できないことが明確になった。</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Lab — 花粉指標種の閾値超過が人為的シグナルを識別する</a:t>
            </a:r>
            <a:endParaRPr lang="en-US" sz="800" dirty="0"/>
          </a:p>
        </p:txBody>
      </p:sp>
      <p:sp>
        <p:nvSpPr>
          <p:cNvPr id="4" name="Text 2"/>
          <p:cNvSpPr/>
          <p:nvPr/>
        </p:nvSpPr>
        <p:spPr>
          <a:xfrm>
            <a:off x="457200" y="228600"/>
            <a:ext cx="8229600" cy="548640"/>
          </a:xfrm>
          <a:prstGeom prst="rect">
            <a:avLst/>
          </a:prstGeom>
          <a:noFill/>
          <a:ln/>
        </p:spPr>
        <p:txBody>
          <a:bodyPr wrap="square" lIns="0" tIns="0" rIns="0" bIns="0" rtlCol="0" anchor="ctr"/>
          <a:lstStyle/>
          <a:p>
            <a:pPr indent="0" marL="0">
              <a:buNone/>
            </a:pPr>
            <a:r>
              <a:rPr lang="en-US" sz="2200" b="1" dirty="0">
                <a:solidFill>
                  <a:srgbClr val="1B3A2D"/>
                </a:solidFill>
                <a:latin typeface="Georgia" pitchFamily="34" charset="0"/>
                <a:ea typeface="Georgia" pitchFamily="34" charset="-122"/>
                <a:cs typeface="Georgia" pitchFamily="34" charset="-120"/>
              </a:rPr>
              <a:t>手法③ — 閾値超過による分類（循環性を排除）</a:t>
            </a:r>
            <a:endParaRPr lang="en-US" sz="2200" dirty="0"/>
          </a:p>
        </p:txBody>
      </p:sp>
      <p:sp>
        <p:nvSpPr>
          <p:cNvPr id="5" name="Text 3"/>
          <p:cNvSpPr/>
          <p:nvPr/>
        </p:nvSpPr>
        <p:spPr>
          <a:xfrm>
            <a:off x="640080" y="914400"/>
            <a:ext cx="7863840" cy="3657600"/>
          </a:xfrm>
          <a:prstGeom prst="rect">
            <a:avLst/>
          </a:prstGeom>
          <a:noFill/>
          <a:ln/>
        </p:spPr>
        <p:txBody>
          <a:bodyPr wrap="square" rtlCol="0" anchor="t"/>
          <a:lstStyle/>
          <a:p>
            <a:pPr indent="0" marL="0">
              <a:lnSpc>
                <a:spcPct val="115000"/>
              </a:lnSpc>
              <a:buNone/>
            </a:pPr>
            <a:r>
              <a:rPr lang="en-US" sz="1300" dirty="0">
                <a:solidFill>
                  <a:srgbClr val="2D2D2D"/>
                </a:solidFill>
                <a:latin typeface="Calibri" pitchFamily="34" charset="0"/>
                <a:ea typeface="Calibri" pitchFamily="34" charset="-122"/>
                <a:cs typeface="Calibri" pitchFamily="34" charset="-120"/>
              </a:rPr>
              <a:t>各地点で、牧畜指標種の花粉割合が完新世前半のベースライン（7,000年前以前の平均）から</a:t>
            </a:r>
            <a:endParaRPr lang="en-US" sz="1300" dirty="0"/>
          </a:p>
          <a:p>
            <a:pPr indent="0" marL="0">
              <a:lnSpc>
                <a:spcPct val="115000"/>
              </a:lnSpc>
              <a:buNone/>
            </a:pPr>
            <a:r>
              <a:rPr lang="en-US" sz="1300" dirty="0">
                <a:solidFill>
                  <a:srgbClr val="2D2D2D"/>
                </a:solidFill>
                <a:latin typeface="Calibri" pitchFamily="34" charset="0"/>
                <a:ea typeface="Calibri" pitchFamily="34" charset="-122"/>
                <a:cs typeface="Calibri" pitchFamily="34" charset="-120"/>
              </a:rPr>
              <a:t>統計的に有意に逸脱（平均+2標準偏差を超過）したかどうかで分類します。</a:t>
            </a:r>
            <a:endParaRPr lang="en-US" sz="1300" dirty="0"/>
          </a:p>
          <a:p>
            <a:pPr indent="0" marL="0">
              <a:lnSpc>
                <a:spcPct val="115000"/>
              </a:lnSpc>
              <a:buNone/>
            </a:pPr>
            <a:endParaRPr lang="en-US" sz="1300" dirty="0"/>
          </a:p>
          <a:p>
            <a:pPr indent="0" marL="0">
              <a:lnSpc>
                <a:spcPct val="115000"/>
              </a:lnSpc>
              <a:buNone/>
            </a:pPr>
            <a:r>
              <a:rPr lang="en-US" sz="1300" b="1" dirty="0">
                <a:solidFill>
                  <a:srgbClr val="2C5F2D"/>
                </a:solidFill>
                <a:latin typeface="Calibri" pitchFamily="34" charset="0"/>
                <a:ea typeface="Calibri" pitchFamily="34" charset="-122"/>
                <a:cs typeface="Calibri" pitchFamily="34" charset="-120"/>
              </a:rPr>
              <a:t>H1（人為的）: 牧畜指標が閾値を超過した地点（87%、246地点）</a:t>
            </a:r>
            <a:endParaRPr lang="en-US" sz="1300" dirty="0"/>
          </a:p>
          <a:p>
            <a:pPr indent="0" marL="0">
              <a:lnSpc>
                <a:spcPct val="115000"/>
              </a:lnSpc>
              <a:buNone/>
            </a:pPr>
            <a:r>
              <a:rPr lang="en-US" sz="1300" dirty="0">
                <a:solidFill>
                  <a:srgbClr val="2D2D2D"/>
                </a:solidFill>
                <a:latin typeface="Calibri" pitchFamily="34" charset="0"/>
                <a:ea typeface="Calibri" pitchFamily="34" charset="-122"/>
                <a:cs typeface="Calibri" pitchFamily="34" charset="-120"/>
              </a:rPr>
              <a:t>  → 人間の牧畜活動が花粉組成を「異常に」変えた証拠</a:t>
            </a:r>
            <a:endParaRPr lang="en-US" sz="1300" dirty="0"/>
          </a:p>
          <a:p>
            <a:pPr indent="0" marL="0">
              <a:lnSpc>
                <a:spcPct val="115000"/>
              </a:lnSpc>
              <a:buNone/>
            </a:pPr>
            <a:endParaRPr lang="en-US" sz="1300" dirty="0"/>
          </a:p>
          <a:p>
            <a:pPr indent="0" marL="0">
              <a:lnSpc>
                <a:spcPct val="115000"/>
              </a:lnSpc>
              <a:buNone/>
            </a:pPr>
            <a:r>
              <a:rPr lang="en-US" sz="1300" b="1" dirty="0">
                <a:solidFill>
                  <a:srgbClr val="6A8CAF"/>
                </a:solidFill>
                <a:latin typeface="Calibri" pitchFamily="34" charset="0"/>
                <a:ea typeface="Calibri" pitchFamily="34" charset="-122"/>
                <a:cs typeface="Calibri" pitchFamily="34" charset="-120"/>
              </a:rPr>
              <a:t>H3（自然）: 牧畜指標が閾値を超過しなかった地点（13%、37地点）</a:t>
            </a:r>
            <a:endParaRPr lang="en-US" sz="1300" dirty="0"/>
          </a:p>
          <a:p>
            <a:pPr indent="0" marL="0">
              <a:lnSpc>
                <a:spcPct val="115000"/>
              </a:lnSpc>
              <a:buNone/>
            </a:pPr>
            <a:r>
              <a:rPr lang="en-US" sz="1300" dirty="0">
                <a:solidFill>
                  <a:srgbClr val="2D2D2D"/>
                </a:solidFill>
                <a:latin typeface="Calibri" pitchFamily="34" charset="0"/>
                <a:ea typeface="Calibri" pitchFamily="34" charset="-122"/>
                <a:cs typeface="Calibri" pitchFamily="34" charset="-120"/>
              </a:rPr>
              <a:t>  → 牧畜指標は「存在する」が「異常に増加」はしていない = 自然の植生変化</a:t>
            </a:r>
            <a:endParaRPr lang="en-US" sz="1300" dirty="0"/>
          </a:p>
          <a:p>
            <a:pPr indent="0" marL="0">
              <a:lnSpc>
                <a:spcPct val="115000"/>
              </a:lnSpc>
              <a:buNone/>
            </a:pPr>
            <a:endParaRPr lang="en-US" sz="1300" dirty="0"/>
          </a:p>
          <a:p>
            <a:pPr indent="0" marL="0">
              <a:lnSpc>
                <a:spcPct val="115000"/>
              </a:lnSpc>
              <a:buNone/>
            </a:pPr>
            <a:r>
              <a:rPr lang="en-US" sz="1300" b="1" dirty="0">
                <a:solidFill>
                  <a:srgbClr val="B85042"/>
                </a:solidFill>
                <a:latin typeface="Calibri" pitchFamily="34" charset="0"/>
                <a:ea typeface="Calibri" pitchFamily="34" charset="-122"/>
                <a:cs typeface="Calibri" pitchFamily="34" charset="-120"/>
              </a:rPr>
              <a:t>重要: H3地点でも牧畜指標種は100%存在しています（在来種だから）。</a:t>
            </a:r>
            <a:endParaRPr lang="en-US" sz="1300" dirty="0"/>
          </a:p>
          <a:p>
            <a:pPr indent="0" marL="0">
              <a:lnSpc>
                <a:spcPct val="115000"/>
              </a:lnSpc>
              <a:buNone/>
            </a:pPr>
            <a:r>
              <a:rPr lang="en-US" sz="1300" b="1" dirty="0">
                <a:solidFill>
                  <a:srgbClr val="B85042"/>
                </a:solidFill>
                <a:latin typeface="Calibri" pitchFamily="34" charset="0"/>
                <a:ea typeface="Calibri" pitchFamily="34" charset="-122"/>
                <a:cs typeface="Calibri" pitchFamily="34" charset="-120"/>
              </a:rPr>
              <a:t>しかし閾値を超過した地点は0/37（0%）。</a:t>
            </a:r>
            <a:endParaRPr lang="en-US" sz="1300" dirty="0"/>
          </a:p>
          <a:p>
            <a:pPr indent="0" marL="0">
              <a:lnSpc>
                <a:spcPct val="115000"/>
              </a:lnSpc>
              <a:buNone/>
            </a:pPr>
            <a:r>
              <a:rPr lang="en-US" sz="1300" b="1" dirty="0">
                <a:solidFill>
                  <a:srgbClr val="B85042"/>
                </a:solidFill>
                <a:latin typeface="Calibri" pitchFamily="34" charset="0"/>
                <a:ea typeface="Calibri" pitchFamily="34" charset="-122"/>
                <a:cs typeface="Calibri" pitchFamily="34" charset="-120"/>
              </a:rPr>
              <a:t>「存在」は自明。「閾値超過」だけが人為的活動を識別できます。</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Lab — 花粉指標種の閾値超過が人為的シグナルを識別する</a:t>
            </a:r>
            <a:endParaRPr lang="en-US" sz="800" dirty="0"/>
          </a:p>
        </p:txBody>
      </p:sp>
      <p:sp>
        <p:nvSpPr>
          <p:cNvPr id="4" name="Text 2"/>
          <p:cNvSpPr/>
          <p:nvPr/>
        </p:nvSpPr>
        <p:spPr>
          <a:xfrm>
            <a:off x="457200" y="228600"/>
            <a:ext cx="8229600" cy="548640"/>
          </a:xfrm>
          <a:prstGeom prst="rect">
            <a:avLst/>
          </a:prstGeom>
          <a:noFill/>
          <a:ln/>
        </p:spPr>
        <p:txBody>
          <a:bodyPr wrap="square" lIns="0" tIns="0" rIns="0" bIns="0" rtlCol="0" anchor="ctr"/>
          <a:lstStyle/>
          <a:p>
            <a:pPr indent="0" marL="0">
              <a:buNone/>
            </a:pPr>
            <a:r>
              <a:rPr lang="en-US" sz="2200" b="1" dirty="0">
                <a:solidFill>
                  <a:srgbClr val="1B3A2D"/>
                </a:solidFill>
                <a:latin typeface="Georgia" pitchFamily="34" charset="0"/>
                <a:ea typeface="Georgia" pitchFamily="34" charset="-122"/>
                <a:cs typeface="Georgia" pitchFamily="34" charset="-120"/>
              </a:rPr>
              <a:t>結果① 牧畜指標の閾値超過が穀物指標に先行する</a:t>
            </a:r>
            <a:endParaRPr lang="en-US" sz="2200" dirty="0"/>
          </a:p>
        </p:txBody>
      </p:sp>
      <p:graphicFrame>
        <p:nvGraphicFramePr>
          <p:cNvPr id="5" name="Chart 0" descr=""/>
          <p:cNvGraphicFramePr/>
          <p:nvPr/>
        </p:nvGraphicFramePr>
        <p:xfrm>
          <a:off x="457200" y="914400"/>
          <a:ext cx="5029200" cy="29260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760720" y="914400"/>
            <a:ext cx="3108960" cy="3657600"/>
          </a:xfrm>
          <a:prstGeom prst="rect">
            <a:avLst/>
          </a:prstGeom>
          <a:noFill/>
          <a:ln/>
        </p:spPr>
        <p:txBody>
          <a:bodyPr wrap="square" rtlCol="0" anchor="t"/>
          <a:lstStyle/>
          <a:p>
            <a:pPr indent="0" marL="0">
              <a:lnSpc>
                <a:spcPct val="115000"/>
              </a:lnSpc>
              <a:buNone/>
            </a:pPr>
            <a:r>
              <a:rPr lang="en-US" sz="1100" b="1" dirty="0">
                <a:solidFill>
                  <a:srgbClr val="2D2D2D"/>
                </a:solidFill>
                <a:latin typeface="Calibri" pitchFamily="34" charset="0"/>
                <a:ea typeface="Calibri" pitchFamily="34" charset="-122"/>
                <a:cs typeface="Calibri" pitchFamily="34" charset="-120"/>
              </a:rPr>
              <a:t>3地域全てで牧畜指標の閾値超過が</a:t>
            </a:r>
            <a:endParaRPr lang="en-US" sz="1100" dirty="0"/>
          </a:p>
          <a:p>
            <a:pPr indent="0" marL="0">
              <a:lnSpc>
                <a:spcPct val="115000"/>
              </a:lnSpc>
              <a:buNone/>
            </a:pPr>
            <a:r>
              <a:rPr lang="en-US" sz="1100" b="1" dirty="0">
                <a:solidFill>
                  <a:srgbClr val="2D2D2D"/>
                </a:solidFill>
                <a:latin typeface="Calibri" pitchFamily="34" charset="0"/>
                <a:ea typeface="Calibri" pitchFamily="34" charset="-122"/>
                <a:cs typeface="Calibri" pitchFamily="34" charset="-120"/>
              </a:rPr>
              <a:t>穀物指標より先に起きた（67-82%）</a:t>
            </a:r>
            <a:endParaRPr lang="en-US" sz="1100" dirty="0"/>
          </a:p>
          <a:p>
            <a:pPr indent="0" marL="0">
              <a:lnSpc>
                <a:spcPct val="115000"/>
              </a:lnSpc>
              <a:buNone/>
            </a:pPr>
            <a:endParaRPr lang="en-US" sz="1100" dirty="0"/>
          </a:p>
          <a:p>
            <a:pPr indent="0" marL="0">
              <a:lnSpc>
                <a:spcPct val="115000"/>
              </a:lnSpc>
              <a:buNone/>
            </a:pPr>
            <a:r>
              <a:rPr lang="en-US" sz="1100" dirty="0">
                <a:solidFill>
                  <a:srgbClr val="2D2D2D"/>
                </a:solidFill>
                <a:latin typeface="Calibri" pitchFamily="34" charset="0"/>
                <a:ea typeface="Calibri" pitchFamily="34" charset="-122"/>
                <a:cs typeface="Calibri" pitchFamily="34" charset="-120"/>
              </a:rPr>
              <a:t>二項検定 p &lt; 0.0001（1/3ヌルに対して）</a:t>
            </a:r>
            <a:endParaRPr lang="en-US" sz="1100" dirty="0"/>
          </a:p>
          <a:p>
            <a:pPr indent="0" marL="0">
              <a:lnSpc>
                <a:spcPct val="115000"/>
              </a:lnSpc>
              <a:buNone/>
            </a:pPr>
            <a:endParaRPr lang="en-US" sz="1100" dirty="0"/>
          </a:p>
          <a:p>
            <a:pPr indent="0" marL="0">
              <a:lnSpc>
                <a:spcPct val="115000"/>
              </a:lnSpc>
              <a:buNone/>
            </a:pPr>
            <a:r>
              <a:rPr lang="en-US" sz="1100" b="1" dirty="0">
                <a:solidFill>
                  <a:srgbClr val="B85042"/>
                </a:solidFill>
                <a:latin typeface="Calibri" pitchFamily="34" charset="0"/>
                <a:ea typeface="Calibri" pitchFamily="34" charset="-122"/>
                <a:cs typeface="Calibri" pitchFamily="34" charset="-120"/>
              </a:rPr>
              <a:t>これは「出現順序」（&gt;95%で自明）</a:t>
            </a:r>
            <a:endParaRPr lang="en-US" sz="1100" dirty="0"/>
          </a:p>
          <a:p>
            <a:pPr indent="0" marL="0">
              <a:lnSpc>
                <a:spcPct val="115000"/>
              </a:lnSpc>
              <a:buNone/>
            </a:pPr>
            <a:r>
              <a:rPr lang="en-US" sz="1100" b="1" dirty="0">
                <a:solidFill>
                  <a:srgbClr val="B85042"/>
                </a:solidFill>
                <a:latin typeface="Calibri" pitchFamily="34" charset="0"/>
                <a:ea typeface="Calibri" pitchFamily="34" charset="-122"/>
                <a:cs typeface="Calibri" pitchFamily="34" charset="-120"/>
              </a:rPr>
              <a:t>とは異なる「閾値超過順序」です。</a:t>
            </a:r>
            <a:endParaRPr lang="en-US" sz="1100" dirty="0"/>
          </a:p>
          <a:p>
            <a:pPr indent="0" marL="0">
              <a:lnSpc>
                <a:spcPct val="115000"/>
              </a:lnSpc>
              <a:buNone/>
            </a:pPr>
            <a:endParaRPr lang="en-US" sz="1100" dirty="0"/>
          </a:p>
          <a:p>
            <a:pPr indent="0" marL="0">
              <a:lnSpc>
                <a:spcPct val="115000"/>
              </a:lnSpc>
              <a:buNone/>
            </a:pPr>
            <a:r>
              <a:rPr lang="en-US" sz="1100" b="1" dirty="0">
                <a:solidFill>
                  <a:srgbClr val="2D2D2D"/>
                </a:solidFill>
                <a:latin typeface="Calibri" pitchFamily="34" charset="0"/>
                <a:ea typeface="Calibri" pitchFamily="34" charset="-122"/>
                <a:cs typeface="Calibri" pitchFamily="34" charset="-120"/>
              </a:rPr>
              <a:t>頑健性テスト:</a:t>
            </a:r>
            <a:endParaRPr lang="en-US" sz="1100" dirty="0"/>
          </a:p>
          <a:p>
            <a:pPr indent="0" marL="0">
              <a:lnSpc>
                <a:spcPct val="115000"/>
              </a:lnSpc>
              <a:buNone/>
            </a:pPr>
            <a:r>
              <a:rPr lang="en-US" sz="1100" dirty="0">
                <a:solidFill>
                  <a:srgbClr val="2D2D2D"/>
                </a:solidFill>
                <a:latin typeface="Calibri" pitchFamily="34" charset="0"/>
                <a:ea typeface="Calibri" pitchFamily="34" charset="-122"/>
                <a:cs typeface="Calibri" pitchFamily="34" charset="-120"/>
              </a:rPr>
              <a:t>• オオバコ除外: 0地点が依存</a:t>
            </a:r>
            <a:endParaRPr lang="en-US" sz="1100" dirty="0"/>
          </a:p>
          <a:p>
            <a:pPr indent="0" marL="0">
              <a:lnSpc>
                <a:spcPct val="115000"/>
              </a:lnSpc>
              <a:buNone/>
            </a:pPr>
            <a:r>
              <a:rPr lang="en-US" sz="1100" dirty="0">
                <a:solidFill>
                  <a:srgbClr val="2D2D2D"/>
                </a:solidFill>
                <a:latin typeface="Calibri" pitchFamily="34" charset="0"/>
                <a:ea typeface="Calibri" pitchFamily="34" charset="-122"/>
                <a:cs typeface="Calibri" pitchFamily="34" charset="-120"/>
              </a:rPr>
              <a:t>• スイバ単独で51-73%確認</a:t>
            </a:r>
            <a:endParaRPr lang="en-US" sz="1100" dirty="0"/>
          </a:p>
          <a:p>
            <a:pPr indent="0" marL="0">
              <a:lnSpc>
                <a:spcPct val="115000"/>
              </a:lnSpc>
              <a:buNone/>
            </a:pPr>
            <a:r>
              <a:rPr lang="en-US" sz="1100" dirty="0">
                <a:solidFill>
                  <a:srgbClr val="2D2D2D"/>
                </a:solidFill>
                <a:latin typeface="Calibri" pitchFamily="34" charset="0"/>
                <a:ea typeface="Calibri" pitchFamily="34" charset="-122"/>
                <a:cs typeface="Calibri" pitchFamily="34" charset="-120"/>
              </a:rPr>
              <a:t>• カルーナ・イネ科・ニレ除外</a:t>
            </a:r>
            <a:endParaRPr lang="en-US" sz="1100" dirty="0"/>
          </a:p>
          <a:p>
            <a:pPr indent="0" marL="0">
              <a:lnSpc>
                <a:spcPct val="115000"/>
              </a:lnSpc>
              <a:buNone/>
            </a:pPr>
            <a:r>
              <a:rPr lang="en-US" sz="1100" dirty="0">
                <a:solidFill>
                  <a:srgbClr val="2D2D2D"/>
                </a:solidFill>
                <a:latin typeface="Calibri" pitchFamily="34" charset="0"/>
                <a:ea typeface="Calibri" pitchFamily="34" charset="-122"/>
                <a:cs typeface="Calibri" pitchFamily="34" charset="-120"/>
              </a:rPr>
              <a:t>  全てで結論維持</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Lab — 花粉指標種の閾値超過が人為的シグナルを識別する</a:t>
            </a:r>
            <a:endParaRPr lang="en-US" sz="800" dirty="0"/>
          </a:p>
        </p:txBody>
      </p:sp>
      <p:sp>
        <p:nvSpPr>
          <p:cNvPr id="4" name="Text 2"/>
          <p:cNvSpPr/>
          <p:nvPr/>
        </p:nvSpPr>
        <p:spPr>
          <a:xfrm>
            <a:off x="457200" y="228600"/>
            <a:ext cx="8229600" cy="548640"/>
          </a:xfrm>
          <a:prstGeom prst="rect">
            <a:avLst/>
          </a:prstGeom>
          <a:noFill/>
          <a:ln/>
        </p:spPr>
        <p:txBody>
          <a:bodyPr wrap="square" lIns="0" tIns="0" rIns="0" bIns="0" rtlCol="0" anchor="ctr"/>
          <a:lstStyle/>
          <a:p>
            <a:pPr indent="0" marL="0">
              <a:buNone/>
            </a:pPr>
            <a:r>
              <a:rPr lang="en-US" sz="2200" b="1" dirty="0">
                <a:solidFill>
                  <a:srgbClr val="1B3A2D"/>
                </a:solidFill>
                <a:latin typeface="Georgia" pitchFamily="34" charset="0"/>
                <a:ea typeface="Georgia" pitchFamily="34" charset="-122"/>
                <a:cs typeface="Georgia" pitchFamily="34" charset="-120"/>
              </a:rPr>
              <a:t>結果② なぜ「出現順序」は証拠にならないのか</a:t>
            </a:r>
            <a:endParaRPr lang="en-US" sz="2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2743200"/>
        </p:xfrm>
        <a:graphic>
          <a:graphicData uri="http://schemas.openxmlformats.org/drawingml/2006/table">
            <a:tbl>
              <a:tblPr/>
              <a:tblGrid>
                <a:gridCol w="2286000"/>
                <a:gridCol w="2286000"/>
                <a:gridCol w="1371600"/>
                <a:gridCol w="2286000"/>
              </a:tblGrid>
              <a:tr h="685800">
                <a:tc>
                  <a:txBody>
                    <a:bodyPr/>
                    <a:lstStyle/>
                    <a:p>
                      <a:pPr algn="ctr" indent="0" marL="0">
                        <a:buNone/>
                      </a:pPr>
                      <a:r>
                        <a:rPr lang="en-US" sz="1100" b="1" dirty="0">
                          <a:solidFill>
                            <a:srgbClr val="FFFFFF"/>
                          </a:solidFill>
                        </a:rPr>
                        <a:t>指標</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2D"/>
                    </a:solidFill>
                  </a:tcPr>
                </a:tc>
                <a:tc>
                  <a:txBody>
                    <a:bodyPr/>
                    <a:lstStyle/>
                    <a:p>
                      <a:pPr algn="ctr" indent="0" marL="0">
                        <a:buNone/>
                      </a:pPr>
                      <a:r>
                        <a:rPr lang="en-US" sz="1000" b="1" dirty="0">
                          <a:solidFill>
                            <a:srgbClr val="FFFFFF"/>
                          </a:solidFill>
                        </a:rPr>
                        <a:t>ヌル予測</a:t>
                      </a:r>
                      <a:endParaRPr lang="en-US" sz="1000" dirty="0"/>
                    </a:p>
                    <a:p>
                      <a:pPr algn="ctr" indent="0" marL="0">
                        <a:buNone/>
                      </a:pPr>
                      <a:r>
                        <a:rPr lang="en-US" sz="1000" b="1" dirty="0">
                          <a:solidFill>
                            <a:srgbClr val="FFFFFF"/>
                          </a:solidFill>
                        </a:rPr>
                        <a:t>（人間活動なしの場合）</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2D"/>
                    </a:solidFill>
                  </a:tcPr>
                </a:tc>
                <a:tc>
                  <a:txBody>
                    <a:bodyPr/>
                    <a:lstStyle/>
                    <a:p>
                      <a:pPr algn="ctr" indent="0" marL="0">
                        <a:buNone/>
                      </a:pPr>
                      <a:r>
                        <a:rPr lang="en-US" sz="1100" b="1" dirty="0">
                          <a:solidFill>
                            <a:srgbClr val="FFFFFF"/>
                          </a:solidFill>
                        </a:rPr>
                        <a:t>観測値</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2D"/>
                    </a:solidFill>
                  </a:tcPr>
                </a:tc>
                <a:tc>
                  <a:txBody>
                    <a:bodyPr/>
                    <a:lstStyle/>
                    <a:p>
                      <a:pPr algn="ctr" indent="0" marL="0">
                        <a:buNone/>
                      </a:pPr>
                      <a:r>
                        <a:rPr lang="en-US" sz="1000" b="1" dirty="0">
                          <a:solidFill>
                            <a:srgbClr val="FFFFFF"/>
                          </a:solidFill>
                        </a:rPr>
                        <a:t>証拠として</a:t>
                      </a:r>
                      <a:endParaRPr lang="en-US" sz="1000" dirty="0"/>
                    </a:p>
                    <a:p>
                      <a:pPr algn="ctr" indent="0" marL="0">
                        <a:buNone/>
                      </a:pPr>
                      <a:r>
                        <a:rPr lang="en-US" sz="1000" b="1" dirty="0">
                          <a:solidFill>
                            <a:srgbClr val="FFFFFF"/>
                          </a:solidFill>
                        </a:rPr>
                        <a:t>有効？</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2D"/>
                    </a:solidFill>
                  </a:tcPr>
                </a:tc>
              </a:tr>
              <a:tr h="685800">
                <a:tc>
                  <a:txBody>
                    <a:bodyPr/>
                    <a:lstStyle/>
                    <a:p>
                      <a:pPr algn="ctr" indent="0" marL="0">
                        <a:buNone/>
                      </a:pPr>
                      <a:r>
                        <a:rPr lang="en-US" sz="1000" dirty="0">
                          <a:solidFill>
                            <a:srgbClr val="000000"/>
                          </a:solidFill>
                        </a:rPr>
                        <a:t>出現順序:</a:t>
                      </a:r>
                      <a:endParaRPr lang="en-US" sz="1000" dirty="0"/>
                    </a:p>
                    <a:p>
                      <a:pPr algn="ctr" indent="0" marL="0">
                        <a:buNone/>
                      </a:pPr>
                      <a:r>
                        <a:rPr lang="en-US" sz="1000" dirty="0">
                          <a:solidFill>
                            <a:srgbClr val="000000"/>
                          </a:solidFill>
                        </a:rPr>
                        <a:t>牧畜種が穀物より先に出現</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B85042"/>
                          </a:solidFill>
                        </a:rPr>
                        <a:t>&gt;95% が牧畜先行</a:t>
                      </a:r>
                      <a:endParaRPr lang="en-US" sz="1000" dirty="0"/>
                    </a:p>
                    <a:p>
                      <a:pPr algn="ctr" indent="0" marL="0">
                        <a:buNone/>
                      </a:pPr>
                      <a:r>
                        <a:rPr lang="en-US" sz="1000" dirty="0">
                          <a:solidFill>
                            <a:srgbClr val="B85042"/>
                          </a:solidFill>
                        </a:rPr>
                        <a:t>（在来種 vs 外来種）</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100" dirty="0">
                          <a:solidFill>
                            <a:srgbClr val="000000"/>
                          </a:solidFill>
                        </a:rPr>
                        <a:t>97-100%</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100" b="1" dirty="0">
                          <a:solidFill>
                            <a:srgbClr val="B85042"/>
                          </a:solidFill>
                        </a:rPr>
                        <a:t>いいえ</a:t>
                      </a:r>
                      <a:endParaRPr lang="en-US" sz="1100" dirty="0"/>
                    </a:p>
                    <a:p>
                      <a:pPr algn="ctr" indent="0" marL="0">
                        <a:buNone/>
                      </a:pPr>
                      <a:r>
                        <a:rPr lang="en-US" sz="1100" b="1" dirty="0">
                          <a:solidFill>
                            <a:srgbClr val="B85042"/>
                          </a:solidFill>
                        </a:rPr>
                        <a:t>（自明）</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685800">
                <a:tc>
                  <a:txBody>
                    <a:bodyPr/>
                    <a:lstStyle/>
                    <a:p>
                      <a:pPr algn="ctr" indent="0" marL="0">
                        <a:buNone/>
                      </a:pPr>
                      <a:r>
                        <a:rPr lang="en-US" sz="1000" dirty="0">
                          <a:solidFill>
                            <a:srgbClr val="000000"/>
                          </a:solidFill>
                        </a:rPr>
                        <a:t>閾値超過:</a:t>
                      </a:r>
                      <a:endParaRPr lang="en-US" sz="1000" dirty="0"/>
                    </a:p>
                    <a:p>
                      <a:pPr algn="ctr" indent="0" marL="0">
                        <a:buNone/>
                      </a:pPr>
                      <a:r>
                        <a:rPr lang="en-US" sz="1000" dirty="0">
                          <a:solidFill>
                            <a:srgbClr val="000000"/>
                          </a:solidFill>
                        </a:rPr>
                        <a:t>牧畜種がベースラインを</a:t>
                      </a:r>
                      <a:endParaRPr lang="en-US" sz="1000" dirty="0"/>
                    </a:p>
                    <a:p>
                      <a:pPr algn="ctr" indent="0" marL="0">
                        <a:buNone/>
                      </a:pPr>
                      <a:r>
                        <a:rPr lang="en-US" sz="1000" dirty="0">
                          <a:solidFill>
                            <a:srgbClr val="000000"/>
                          </a:solidFill>
                        </a:rPr>
                        <a:t>有意に超過</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2C5F2D"/>
                          </a:solidFill>
                        </a:rPr>
                        <a:t>H3（自然）地点で</a:t>
                      </a:r>
                      <a:endParaRPr lang="en-US" sz="1000" dirty="0"/>
                    </a:p>
                    <a:p>
                      <a:pPr algn="ctr" indent="0" marL="0">
                        <a:buNone/>
                      </a:pPr>
                      <a:r>
                        <a:rPr lang="en-US" sz="1000" dirty="0">
                          <a:solidFill>
                            <a:srgbClr val="2C5F2D"/>
                          </a:solidFill>
                        </a:rPr>
                        <a:t>0%（超過しない）</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100" dirty="0">
                          <a:solidFill>
                            <a:srgbClr val="000000"/>
                          </a:solidFill>
                        </a:rPr>
                        <a:t>H1で87%</a:t>
                      </a:r>
                      <a:endParaRPr lang="en-US" sz="1100" dirty="0"/>
                    </a:p>
                    <a:p>
                      <a:pPr algn="ctr" indent="0" marL="0">
                        <a:buNone/>
                      </a:pPr>
                      <a:r>
                        <a:rPr lang="en-US" sz="1100" dirty="0">
                          <a:solidFill>
                            <a:srgbClr val="000000"/>
                          </a:solidFill>
                        </a:rPr>
                        <a:t>H3で0%</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100" b="1" dirty="0">
                          <a:solidFill>
                            <a:srgbClr val="2C5F2D"/>
                          </a:solidFill>
                        </a:rPr>
                        <a:t>はい</a:t>
                      </a:r>
                      <a:endParaRPr lang="en-US" sz="1100" dirty="0"/>
                    </a:p>
                    <a:p>
                      <a:pPr algn="ctr" indent="0" marL="0">
                        <a:buNone/>
                      </a:pPr>
                      <a:r>
                        <a:rPr lang="en-US" sz="1100" b="1" dirty="0">
                          <a:solidFill>
                            <a:srgbClr val="2C5F2D"/>
                          </a:solidFill>
                        </a:rPr>
                        <a:t>（人為的識別）</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685800">
                <a:tc>
                  <a:txBody>
                    <a:bodyPr/>
                    <a:lstStyle/>
                    <a:p>
                      <a:pPr algn="ctr" indent="0" marL="0">
                        <a:buNone/>
                      </a:pPr>
                      <a:r>
                        <a:rPr lang="en-US" sz="1000" dirty="0">
                          <a:solidFill>
                            <a:srgbClr val="000000"/>
                          </a:solidFill>
                        </a:rPr>
                        <a:t>閾値超過の順序:</a:t>
                      </a:r>
                      <a:endParaRPr lang="en-US" sz="1000" dirty="0"/>
                    </a:p>
                    <a:p>
                      <a:pPr algn="ctr" indent="0" marL="0">
                        <a:buNone/>
                      </a:pPr>
                      <a:r>
                        <a:rPr lang="en-US" sz="1000" dirty="0">
                          <a:solidFill>
                            <a:srgbClr val="000000"/>
                          </a:solidFill>
                        </a:rPr>
                        <a:t>牧畜が穀物より先に超過</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000000"/>
                          </a:solidFill>
                        </a:rPr>
                        <a:t>不明</a:t>
                      </a:r>
                      <a:endParaRPr lang="en-US" sz="1000" dirty="0"/>
                    </a:p>
                    <a:p>
                      <a:pPr algn="ctr" indent="0" marL="0">
                        <a:buNone/>
                      </a:pPr>
                      <a:r>
                        <a:rPr lang="en-US" sz="1000" dirty="0">
                          <a:solidFill>
                            <a:srgbClr val="000000"/>
                          </a:solidFill>
                        </a:rPr>
                        <a:t>（これが検定対象）</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100" dirty="0">
                          <a:solidFill>
                            <a:srgbClr val="000000"/>
                          </a:solidFill>
                        </a:rPr>
                        <a:t>67-82%</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100" b="1" dirty="0">
                          <a:solidFill>
                            <a:srgbClr val="2C5F2D"/>
                          </a:solidFill>
                        </a:rPr>
                        <a:t>はい</a:t>
                      </a:r>
                      <a:endParaRPr lang="en-US" sz="1100" dirty="0"/>
                    </a:p>
                    <a:p>
                      <a:pPr algn="ctr" indent="0" marL="0">
                        <a:buNone/>
                      </a:pPr>
                      <a:r>
                        <a:rPr lang="en-US" sz="1100" b="1" dirty="0">
                          <a:solidFill>
                            <a:srgbClr val="2C5F2D"/>
                          </a:solidFill>
                        </a:rPr>
                        <a:t>（H1 vs H2検定）</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6" name="Text 3"/>
          <p:cNvSpPr/>
          <p:nvPr/>
        </p:nvSpPr>
        <p:spPr>
          <a:xfrm>
            <a:off x="640080" y="3840480"/>
            <a:ext cx="7863840" cy="731520"/>
          </a:xfrm>
          <a:prstGeom prst="rect">
            <a:avLst/>
          </a:prstGeom>
          <a:noFill/>
          <a:ln/>
        </p:spPr>
        <p:txBody>
          <a:bodyPr wrap="square" rtlCol="0" anchor="t"/>
          <a:lstStyle/>
          <a:p>
            <a:pPr indent="0" marL="0">
              <a:lnSpc>
                <a:spcPct val="120000"/>
              </a:lnSpc>
              <a:buNone/>
            </a:pPr>
            <a:r>
              <a:rPr lang="en-US" sz="1000" dirty="0">
                <a:solidFill>
                  <a:srgbClr val="666666"/>
                </a:solidFill>
                <a:latin typeface="Calibri" pitchFamily="34" charset="0"/>
                <a:ea typeface="Calibri" pitchFamily="34" charset="-122"/>
                <a:cs typeface="Calibri" pitchFamily="34" charset="-120"/>
              </a:rPr>
              <a:t>牧畜指標種（オオバコ、スイバ等）は約9,400年前からヨーロッパに在来。穀物（小麦等）は新石器時代（約7,500〜5,800年前）に導入。</a:t>
            </a:r>
            <a:endParaRPr lang="en-US" sz="1000" dirty="0"/>
          </a:p>
          <a:p>
            <a:pPr indent="0" marL="0">
              <a:lnSpc>
                <a:spcPct val="120000"/>
              </a:lnSpc>
              <a:buNone/>
            </a:pPr>
            <a:r>
              <a:rPr lang="en-US" sz="1000" dirty="0">
                <a:solidFill>
                  <a:srgbClr val="666666"/>
                </a:solidFill>
                <a:latin typeface="Calibri" pitchFamily="34" charset="0"/>
                <a:ea typeface="Calibri" pitchFamily="34" charset="-122"/>
                <a:cs typeface="Calibri" pitchFamily="34" charset="-120"/>
              </a:rPr>
              <a:t>在来種が外来種より先に花粉記録に現れるのは、人間活動と無関係の生物地理学的事実です。本研究では出現順序を証拠として使用していません。</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Lab — 花粉指標種の閾値超過が人為的シグナルを識別する</a:t>
            </a:r>
            <a:endParaRPr lang="en-US" sz="800" dirty="0"/>
          </a:p>
        </p:txBody>
      </p:sp>
      <p:sp>
        <p:nvSpPr>
          <p:cNvPr id="4" name="Text 2"/>
          <p:cNvSpPr/>
          <p:nvPr/>
        </p:nvSpPr>
        <p:spPr>
          <a:xfrm>
            <a:off x="457200" y="228600"/>
            <a:ext cx="8229600" cy="548640"/>
          </a:xfrm>
          <a:prstGeom prst="rect">
            <a:avLst/>
          </a:prstGeom>
          <a:noFill/>
          <a:ln/>
        </p:spPr>
        <p:txBody>
          <a:bodyPr wrap="square" lIns="0" tIns="0" rIns="0" bIns="0" rtlCol="0" anchor="ctr"/>
          <a:lstStyle/>
          <a:p>
            <a:pPr indent="0" marL="0">
              <a:buNone/>
            </a:pPr>
            <a:r>
              <a:rPr lang="en-US" sz="2000" b="1" dirty="0">
                <a:solidFill>
                  <a:srgbClr val="1B3A2D"/>
                </a:solidFill>
                <a:latin typeface="Georgia" pitchFamily="34" charset="0"/>
                <a:ea typeface="Georgia" pitchFamily="34" charset="-122"/>
                <a:cs typeface="Georgia" pitchFamily="34" charset="-120"/>
              </a:rPr>
              <a:t>結果③ 検出されるのは「新石器の到来」ではなく「牧畜の集約化」</a:t>
            </a:r>
            <a:endParaRPr lang="en-US" sz="2000" dirty="0"/>
          </a:p>
        </p:txBody>
      </p:sp>
      <p:sp>
        <p:nvSpPr>
          <p:cNvPr id="5" name="Text 3"/>
          <p:cNvSpPr/>
          <p:nvPr/>
        </p:nvSpPr>
        <p:spPr>
          <a:xfrm>
            <a:off x="640080" y="868680"/>
            <a:ext cx="7863840" cy="3840480"/>
          </a:xfrm>
          <a:prstGeom prst="rect">
            <a:avLst/>
          </a:prstGeom>
          <a:noFill/>
          <a:ln/>
        </p:spPr>
        <p:txBody>
          <a:bodyPr wrap="square" rtlCol="0" anchor="t"/>
          <a:lstStyle/>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もし花粉シグナルが新石器農耕の「到来」を検出しているなら、</a:t>
            </a:r>
            <a:endParaRPr lang="en-US" sz="1200" dirty="0"/>
          </a:p>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新石器到来に近い地点ほど牧畜指標が強いはずです。</a:t>
            </a:r>
            <a:endParaRPr lang="en-US" sz="1200" dirty="0"/>
          </a:p>
          <a:p>
            <a:pPr indent="0" marL="0">
              <a:lnSpc>
                <a:spcPct val="112000"/>
              </a:lnSpc>
              <a:buNone/>
            </a:pPr>
            <a:endParaRPr lang="en-US" sz="1200" dirty="0"/>
          </a:p>
          <a:p>
            <a:pPr indent="0" marL="0">
              <a:lnSpc>
                <a:spcPct val="112000"/>
              </a:lnSpc>
              <a:buNone/>
            </a:pPr>
            <a:r>
              <a:rPr lang="en-US" sz="1200" b="1" dirty="0">
                <a:solidFill>
                  <a:srgbClr val="B85042"/>
                </a:solidFill>
                <a:latin typeface="Calibri" pitchFamily="34" charset="0"/>
                <a:ea typeface="Calibri" pitchFamily="34" charset="-122"/>
                <a:cs typeface="Calibri" pitchFamily="34" charset="-120"/>
              </a:rPr>
              <a:t>しかしデータは逆を示しました:</a:t>
            </a:r>
            <a:endParaRPr lang="en-US" sz="1200" dirty="0"/>
          </a:p>
          <a:p>
            <a:pPr indent="0" marL="0">
              <a:lnSpc>
                <a:spcPct val="112000"/>
              </a:lnSpc>
              <a:buNone/>
            </a:pPr>
            <a:endParaRPr lang="en-US" sz="1200" dirty="0"/>
          </a:p>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 新石器到来から離れた地点ほど牧畜指標が強い（rho = +0.186, p = 0.0015）</a:t>
            </a:r>
            <a:endParaRPr lang="en-US" sz="1200" dirty="0"/>
          </a:p>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 線形混合モデル（LMM、地域をランダム効果）でも確認（p = 0.0014）</a:t>
            </a:r>
            <a:endParaRPr lang="en-US" sz="1200" dirty="0"/>
          </a:p>
          <a:p>
            <a:pPr indent="0" marL="0">
              <a:lnSpc>
                <a:spcPct val="112000"/>
              </a:lnSpc>
              <a:buNone/>
            </a:pPr>
            <a:endParaRPr lang="en-US" sz="1200" dirty="0"/>
          </a:p>
          <a:p>
            <a:pPr indent="0" marL="0">
              <a:lnSpc>
                <a:spcPct val="112000"/>
              </a:lnSpc>
              <a:buNone/>
            </a:pPr>
            <a:r>
              <a:rPr lang="en-US" sz="1200" b="1" dirty="0">
                <a:solidFill>
                  <a:srgbClr val="2D2D2D"/>
                </a:solidFill>
                <a:latin typeface="Calibri" pitchFamily="34" charset="0"/>
                <a:ea typeface="Calibri" pitchFamily="34" charset="-122"/>
                <a:cs typeface="Calibri" pitchFamily="34" charset="-120"/>
              </a:rPr>
              <a:t>新石器到来から牧畜指標の閾値超過までの中央値ラグ: 2,135年</a:t>
            </a:r>
            <a:endParaRPr lang="en-US" sz="1200" dirty="0"/>
          </a:p>
          <a:p>
            <a:pPr indent="0" marL="0">
              <a:lnSpc>
                <a:spcPct val="112000"/>
              </a:lnSpc>
              <a:buNone/>
            </a:pPr>
            <a:endParaRPr lang="en-US" sz="1200" dirty="0"/>
          </a:p>
          <a:p>
            <a:pPr indent="0" marL="0">
              <a:lnSpc>
                <a:spcPct val="112000"/>
              </a:lnSpc>
              <a:buNone/>
            </a:pPr>
            <a:r>
              <a:rPr lang="en-US" sz="1200" b="1" dirty="0">
                <a:solidFill>
                  <a:srgbClr val="2D2D2D"/>
                </a:solidFill>
                <a:latin typeface="Calibri" pitchFamily="34" charset="0"/>
                <a:ea typeface="Calibri" pitchFamily="34" charset="-122"/>
                <a:cs typeface="Calibri" pitchFamily="34" charset="-120"/>
              </a:rPr>
              <a:t>このラグの分解（ブートストラップ95%信頼区間付き）:</a:t>
            </a:r>
            <a:endParaRPr lang="en-US" sz="1200" dirty="0"/>
          </a:p>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  • 方法論的成分: 約635年 [231〜1,030年]（検出閾値の感度による遅延）</a:t>
            </a:r>
            <a:endParaRPr lang="en-US" sz="1200" dirty="0"/>
          </a:p>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  • 考古学的成分: 約1,454年 [905〜1,977年]（実際の農耕集約化の遅延）</a:t>
            </a:r>
            <a:endParaRPr lang="en-US" sz="1200" dirty="0"/>
          </a:p>
          <a:p>
            <a:pPr indent="0" marL="0">
              <a:lnSpc>
                <a:spcPct val="112000"/>
              </a:lnSpc>
              <a:buNone/>
            </a:pPr>
            <a:endParaRPr lang="en-US" sz="1200" dirty="0"/>
          </a:p>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考古学的に整合: 初期新石器の農耕は小規模な混合農業（Bogaard 2004）。</a:t>
            </a:r>
            <a:endParaRPr lang="en-US" sz="1200" dirty="0"/>
          </a:p>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景観スケールの牧畜経済は主に青銅器時代以降に発展（Stevens &amp; Fuller 2012）。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Lab — 花粉指標種の閾値超過が人為的シグナルを識別する</a:t>
            </a:r>
            <a:endParaRPr lang="en-US" sz="800" dirty="0"/>
          </a:p>
        </p:txBody>
      </p:sp>
      <p:sp>
        <p:nvSpPr>
          <p:cNvPr id="4" name="Text 2"/>
          <p:cNvSpPr/>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B3A2D"/>
                </a:solidFill>
                <a:latin typeface="Georgia" pitchFamily="34" charset="0"/>
                <a:ea typeface="Georgia" pitchFamily="34" charset="-122"/>
                <a:cs typeface="Georgia" pitchFamily="34" charset="-120"/>
              </a:rPr>
              <a:t>結果④ 競合仮説の検証結果</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2286000"/>
        </p:xfrm>
        <a:graphic>
          <a:graphicData uri="http://schemas.openxmlformats.org/drawingml/2006/table">
            <a:tbl>
              <a:tblPr/>
              <a:tblGrid>
                <a:gridCol w="1828800"/>
                <a:gridCol w="4572000"/>
                <a:gridCol w="1828800"/>
              </a:tblGrid>
              <a:tr h="457200">
                <a:tc>
                  <a:txBody>
                    <a:bodyPr/>
                    <a:lstStyle/>
                    <a:p>
                      <a:pPr indent="0" marL="0">
                        <a:buNone/>
                      </a:pPr>
                      <a:r>
                        <a:rPr lang="en-US" sz="1100" b="1" dirty="0">
                          <a:solidFill>
                            <a:srgbClr val="FFFFFF"/>
                          </a:solidFill>
                        </a:rPr>
                        <a:t>仮説</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2D"/>
                    </a:solidFill>
                  </a:tcPr>
                </a:tc>
                <a:tc>
                  <a:txBody>
                    <a:bodyPr/>
                    <a:lstStyle/>
                    <a:p>
                      <a:pPr indent="0" marL="0">
                        <a:buNone/>
                      </a:pPr>
                      <a:r>
                        <a:rPr lang="en-US" sz="1100" b="1" dirty="0">
                          <a:solidFill>
                            <a:srgbClr val="FFFFFF"/>
                          </a:solidFill>
                        </a:rPr>
                        <a:t>検証方法</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2D"/>
                    </a:solidFill>
                  </a:tcPr>
                </a:tc>
                <a:tc>
                  <a:txBody>
                    <a:bodyPr/>
                    <a:lstStyle/>
                    <a:p>
                      <a:pPr algn="ctr" indent="0" marL="0">
                        <a:buNone/>
                      </a:pPr>
                      <a:r>
                        <a:rPr lang="en-US" sz="1100" b="1" dirty="0">
                          <a:solidFill>
                            <a:srgbClr val="FFFFFF"/>
                          </a:solidFill>
                        </a:rPr>
                        <a:t>結果</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2D"/>
                    </a:solidFill>
                  </a:tcPr>
                </a:tc>
              </a:tr>
              <a:tr h="457200">
                <a:tc>
                  <a:txBody>
                    <a:bodyPr/>
                    <a:lstStyle/>
                    <a:p>
                      <a:pPr indent="0" marL="0">
                        <a:buNone/>
                      </a:pPr>
                      <a:r>
                        <a:rPr lang="en-US" sz="1100" b="1" dirty="0">
                          <a:solidFill>
                            <a:srgbClr val="2C5F2D"/>
                          </a:solidFill>
                        </a:rPr>
                        <a:t>H1: 牧畜先行</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rPr>
                        <a:t>閾値超過の順序、3地域再現</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100" b="1" dirty="0">
                          <a:solidFill>
                            <a:srgbClr val="2C5F2D"/>
                          </a:solidFill>
                        </a:rPr>
                        <a:t>支持 ✓</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100" dirty="0">
                          <a:solidFill>
                            <a:srgbClr val="000000"/>
                          </a:solidFill>
                        </a:rPr>
                        <a:t>H2: 穀物先行</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rPr>
                        <a:t>牧畜が67-82%で先行、穀物が先行しない</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100" b="1" dirty="0">
                          <a:solidFill>
                            <a:srgbClr val="B85042"/>
                          </a:solidFill>
                        </a:rPr>
                        <a:t>棄却 ✗</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100" dirty="0">
                          <a:solidFill>
                            <a:srgbClr val="000000"/>
                          </a:solidFill>
                        </a:rPr>
                        <a:t>H3: 気候変動</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rPr>
                        <a:t>気候イベント集中テスト p=0.92</a:t>
                      </a:r>
                      <a:endParaRPr lang="en-US" sz="1000" dirty="0"/>
                    </a:p>
                    <a:p>
                      <a:pPr indent="0" marL="0">
                        <a:buNone/>
                      </a:pPr>
                      <a:r>
                        <a:rPr lang="en-US" sz="1000" dirty="0">
                          <a:solidFill>
                            <a:srgbClr val="000000"/>
                          </a:solidFill>
                        </a:rPr>
                        <a:t>70.9%がHTM終了前に検出</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100" b="1" dirty="0">
                          <a:solidFill>
                            <a:srgbClr val="B85042"/>
                          </a:solidFill>
                        </a:rPr>
                        <a:t>棄却 ✗</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100" dirty="0">
                          <a:solidFill>
                            <a:srgbClr val="000000"/>
                          </a:solidFill>
                        </a:rPr>
                        <a:t>H4: ニレ衰退</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rPr>
                        <a:t>ニレ除外後100%のシグナル残存</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100" b="1" dirty="0">
                          <a:solidFill>
                            <a:srgbClr val="B85042"/>
                          </a:solidFill>
                        </a:rPr>
                        <a:t>棄却 ✗</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6" name="Text 3"/>
          <p:cNvSpPr/>
          <p:nvPr/>
        </p:nvSpPr>
        <p:spPr>
          <a:xfrm>
            <a:off x="640080" y="3383280"/>
            <a:ext cx="7863840" cy="1188720"/>
          </a:xfrm>
          <a:prstGeom prst="rect">
            <a:avLst/>
          </a:prstGeom>
          <a:noFill/>
          <a:ln/>
        </p:spPr>
        <p:txBody>
          <a:bodyPr wrap="square" rtlCol="0" anchor="t"/>
          <a:lstStyle/>
          <a:p>
            <a:pPr indent="0" marL="0">
              <a:lnSpc>
                <a:spcPct val="115000"/>
              </a:lnSpc>
              <a:buNone/>
            </a:pPr>
            <a:r>
              <a:rPr lang="en-US" sz="1100" dirty="0">
                <a:solidFill>
                  <a:srgbClr val="2D2D2D"/>
                </a:solidFill>
                <a:latin typeface="Calibri" pitchFamily="34" charset="0"/>
                <a:ea typeface="Calibri" pitchFamily="34" charset="-122"/>
                <a:cs typeface="Calibri" pitchFamily="34" charset="-120"/>
              </a:rPr>
              <a:t>HTM = Holocene Thermal Maximum（完新世温暖期）: 約8,000〜5,000年前の温暖な時期。</a:t>
            </a:r>
            <a:endParaRPr lang="en-US" sz="1100" dirty="0"/>
          </a:p>
          <a:p>
            <a:pPr indent="0" marL="0">
              <a:lnSpc>
                <a:spcPct val="115000"/>
              </a:lnSpc>
              <a:buNone/>
            </a:pPr>
            <a:r>
              <a:rPr lang="en-US" sz="1100" dirty="0">
                <a:solidFill>
                  <a:srgbClr val="2D2D2D"/>
                </a:solidFill>
                <a:latin typeface="Calibri" pitchFamily="34" charset="0"/>
                <a:ea typeface="Calibri" pitchFamily="34" charset="-122"/>
                <a:cs typeface="Calibri" pitchFamily="34" charset="-120"/>
              </a:rPr>
              <a:t>この時期の終了（気候の寒冷化）が植生変化の原因なら、シグナルはHTM後に集中するはず。</a:t>
            </a:r>
            <a:endParaRPr lang="en-US" sz="1100" dirty="0"/>
          </a:p>
          <a:p>
            <a:pPr indent="0" marL="0">
              <a:lnSpc>
                <a:spcPct val="115000"/>
              </a:lnSpc>
              <a:buNone/>
            </a:pPr>
            <a:r>
              <a:rPr lang="en-US" sz="1100" dirty="0">
                <a:solidFill>
                  <a:srgbClr val="2D2D2D"/>
                </a:solidFill>
                <a:latin typeface="Calibri" pitchFamily="34" charset="0"/>
                <a:ea typeface="Calibri" pitchFamily="34" charset="-122"/>
                <a:cs typeface="Calibri" pitchFamily="34" charset="-120"/>
              </a:rPr>
              <a:t>しかし70.9%のシグナルはHTM終了「前」に検出された → 気候寒冷化では説明できない。</a:t>
            </a:r>
            <a:endParaRPr lang="en-US" sz="1100" dirty="0"/>
          </a:p>
          <a:p>
            <a:pPr indent="0" marL="0">
              <a:lnSpc>
                <a:spcPct val="115000"/>
              </a:lnSpc>
              <a:buNone/>
            </a:pPr>
            <a:endParaRPr lang="en-US" sz="1100" dirty="0"/>
          </a:p>
          <a:p>
            <a:pPr indent="0" marL="0">
              <a:lnSpc>
                <a:spcPct val="115000"/>
              </a:lnSpc>
              <a:buNone/>
            </a:pPr>
            <a:r>
              <a:rPr lang="en-US" sz="1100" b="1" dirty="0">
                <a:solidFill>
                  <a:srgbClr val="2C5F2D"/>
                </a:solidFill>
                <a:latin typeface="Calibri" pitchFamily="34" charset="0"/>
                <a:ea typeface="Calibri" pitchFamily="34" charset="-122"/>
                <a:cs typeface="Calibri" pitchFamily="34" charset="-120"/>
              </a:rPr>
              <a:t>H1（牧畜先行）のみが全ての観測パターンと整合する唯一の仮説。</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Lab — 花粉指標種の閾値超過が人為的シグナルを識別する</a:t>
            </a:r>
            <a:endParaRPr lang="en-US" sz="800" dirty="0"/>
          </a:p>
        </p:txBody>
      </p:sp>
      <p:sp>
        <p:nvSpPr>
          <p:cNvPr id="4" name="Text 2"/>
          <p:cNvSpPr/>
          <p:nvPr/>
        </p:nvSpPr>
        <p:spPr>
          <a:xfrm>
            <a:off x="457200" y="228600"/>
            <a:ext cx="8229600" cy="548640"/>
          </a:xfrm>
          <a:prstGeom prst="rect">
            <a:avLst/>
          </a:prstGeom>
          <a:noFill/>
          <a:ln/>
        </p:spPr>
        <p:txBody>
          <a:bodyPr wrap="square" lIns="0" tIns="0" rIns="0" bIns="0" rtlCol="0" anchor="ctr"/>
          <a:lstStyle/>
          <a:p>
            <a:pPr indent="0" marL="0">
              <a:buNone/>
            </a:pPr>
            <a:r>
              <a:rPr lang="en-US" sz="2200" b="1" dirty="0">
                <a:solidFill>
                  <a:srgbClr val="1B3A2D"/>
                </a:solidFill>
                <a:latin typeface="Georgia" pitchFamily="34" charset="0"/>
                <a:ea typeface="Georgia" pitchFamily="34" charset="-122"/>
                <a:cs typeface="Georgia" pitchFamily="34" charset="-120"/>
              </a:rPr>
              <a:t>結果⑤ 花粉の散布バイアスでは説明できない</a:t>
            </a:r>
            <a:endParaRPr lang="en-US" sz="2200" dirty="0"/>
          </a:p>
        </p:txBody>
      </p:sp>
      <p:sp>
        <p:nvSpPr>
          <p:cNvPr id="5" name="Text 3"/>
          <p:cNvSpPr/>
          <p:nvPr/>
        </p:nvSpPr>
        <p:spPr>
          <a:xfrm>
            <a:off x="640080" y="868680"/>
            <a:ext cx="7863840" cy="3840480"/>
          </a:xfrm>
          <a:prstGeom prst="rect">
            <a:avLst/>
          </a:prstGeom>
          <a:noFill/>
          <a:ln/>
        </p:spPr>
        <p:txBody>
          <a:bodyPr wrap="square" rtlCol="0" anchor="t"/>
          <a:lstStyle/>
          <a:p>
            <a:pPr indent="0" marL="0">
              <a:lnSpc>
                <a:spcPct val="112000"/>
              </a:lnSpc>
              <a:buNone/>
            </a:pPr>
            <a:r>
              <a:rPr lang="en-US" sz="1200" i="1" dirty="0">
                <a:solidFill>
                  <a:srgbClr val="666666"/>
                </a:solidFill>
                <a:latin typeface="Calibri" pitchFamily="34" charset="0"/>
                <a:ea typeface="Calibri" pitchFamily="34" charset="-122"/>
                <a:cs typeface="Calibri" pitchFamily="34" charset="-120"/>
              </a:rPr>
              <a:t>批判: 「牧畜指標が先に検出されるのは、花粉が遠くまで飛ぶからではないか？」</a:t>
            </a:r>
            <a:endParaRPr lang="en-US" sz="1200" dirty="0"/>
          </a:p>
          <a:p>
            <a:pPr indent="0" marL="0">
              <a:lnSpc>
                <a:spcPct val="112000"/>
              </a:lnSpc>
              <a:buNone/>
            </a:pPr>
            <a:endParaRPr lang="en-US" sz="1200" dirty="0"/>
          </a:p>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穀物（小麦など）の花粉: 大粒（&gt;40μm）、重く、風に乗りにくい。畑から約100-300mしか飛ばない。</a:t>
            </a:r>
            <a:endParaRPr lang="en-US" sz="1200" dirty="0"/>
          </a:p>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オオバコの花粉: 小粒（~25μm）、遠くまで飛散。約300-1,000mまで検出可能。</a:t>
            </a:r>
            <a:endParaRPr lang="en-US" sz="1200" dirty="0"/>
          </a:p>
          <a:p>
            <a:pPr indent="0" marL="0">
              <a:lnSpc>
                <a:spcPct val="112000"/>
              </a:lnSpc>
              <a:buNone/>
            </a:pPr>
            <a:endParaRPr lang="en-US" sz="1200" dirty="0"/>
          </a:p>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 この散布差から予測される検出ラグは約200-500年（Sugita 2007のREVEALSモデルに基づく）</a:t>
            </a:r>
            <a:endParaRPr lang="en-US" sz="1200" dirty="0"/>
          </a:p>
          <a:p>
            <a:pPr indent="0" marL="0">
              <a:lnSpc>
                <a:spcPct val="112000"/>
              </a:lnSpc>
              <a:buNone/>
            </a:pPr>
            <a:endParaRPr lang="en-US" sz="1200" dirty="0"/>
          </a:p>
          <a:p>
            <a:pPr indent="0" marL="0">
              <a:lnSpc>
                <a:spcPct val="112000"/>
              </a:lnSpc>
              <a:buNone/>
            </a:pPr>
            <a:r>
              <a:rPr lang="en-US" sz="1200" b="1" dirty="0">
                <a:solidFill>
                  <a:srgbClr val="B85042"/>
                </a:solidFill>
                <a:latin typeface="Calibri" pitchFamily="34" charset="0"/>
                <a:ea typeface="Calibri" pitchFamily="34" charset="-122"/>
                <a:cs typeface="Calibri" pitchFamily="34" charset="-120"/>
              </a:rPr>
              <a:t>しかし:</a:t>
            </a:r>
            <a:endParaRPr lang="en-US" sz="1200" dirty="0"/>
          </a:p>
          <a:p>
            <a:pPr indent="0" marL="0">
              <a:lnSpc>
                <a:spcPct val="112000"/>
              </a:lnSpc>
              <a:buNone/>
            </a:pPr>
            <a:r>
              <a:rPr lang="en-US" sz="1200" b="1" dirty="0">
                <a:solidFill>
                  <a:srgbClr val="2D2D2D"/>
                </a:solidFill>
                <a:latin typeface="Calibri" pitchFamily="34" charset="0"/>
                <a:ea typeface="Calibri" pitchFamily="34" charset="-122"/>
                <a:cs typeface="Calibri" pitchFamily="34" charset="-120"/>
              </a:rPr>
              <a:t>• 観測された中央値ラグ: 3,076年 → 予測の6-15倍</a:t>
            </a:r>
            <a:endParaRPr lang="en-US" sz="1200" dirty="0"/>
          </a:p>
          <a:p>
            <a:pPr indent="0" marL="0">
              <a:lnSpc>
                <a:spcPct val="112000"/>
              </a:lnSpc>
              <a:buNone/>
            </a:pPr>
            <a:r>
              <a:rPr lang="en-US" sz="1200" b="1" dirty="0">
                <a:solidFill>
                  <a:srgbClr val="2D2D2D"/>
                </a:solidFill>
                <a:latin typeface="Calibri" pitchFamily="34" charset="0"/>
                <a:ea typeface="Calibri" pitchFamily="34" charset="-122"/>
                <a:cs typeface="Calibri" pitchFamily="34" charset="-120"/>
              </a:rPr>
              <a:t>• 19.1%の地点で穀物がオオバコより先に検出（散布仮説では不可能）</a:t>
            </a:r>
            <a:endParaRPr lang="en-US" sz="1200" dirty="0"/>
          </a:p>
          <a:p>
            <a:pPr indent="0" marL="0">
              <a:lnSpc>
                <a:spcPct val="112000"/>
              </a:lnSpc>
              <a:buNone/>
            </a:pPr>
            <a:r>
              <a:rPr lang="en-US" sz="1200" b="1" dirty="0">
                <a:solidFill>
                  <a:srgbClr val="2D2D2D"/>
                </a:solidFill>
                <a:latin typeface="Calibri" pitchFamily="34" charset="0"/>
                <a:ea typeface="Calibri" pitchFamily="34" charset="-122"/>
                <a:cs typeface="Calibri" pitchFamily="34" charset="-120"/>
              </a:rPr>
              <a:t>• オオバコを完全に除外しても、スイバ（別の散布特性を持つ）が51-73%で牧畜先行を確認</a:t>
            </a:r>
            <a:endParaRPr lang="en-US" sz="1200" dirty="0"/>
          </a:p>
          <a:p>
            <a:pPr indent="0" marL="0">
              <a:lnSpc>
                <a:spcPct val="112000"/>
              </a:lnSpc>
              <a:buNone/>
            </a:pPr>
            <a:endParaRPr lang="en-US" sz="1200" dirty="0"/>
          </a:p>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結論: 花粉散布の違いは200-500年程度の影響を与えるが、</a:t>
            </a:r>
            <a:endParaRPr lang="en-US" sz="1200" dirty="0"/>
          </a:p>
          <a:p>
            <a:pPr indent="0" marL="0">
              <a:lnSpc>
                <a:spcPct val="112000"/>
              </a:lnSpc>
              <a:buNone/>
            </a:pPr>
            <a:r>
              <a:rPr lang="en-US" sz="1200" b="1" dirty="0">
                <a:solidFill>
                  <a:srgbClr val="2C5F2D"/>
                </a:solidFill>
                <a:latin typeface="Calibri" pitchFamily="34" charset="0"/>
                <a:ea typeface="Calibri" pitchFamily="34" charset="-122"/>
                <a:cs typeface="Calibri" pitchFamily="34" charset="-120"/>
              </a:rPr>
              <a:t>観測された3,076年のラグの主因ではない。実際の農耕活動パターンを反映している。</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Lab — 花粉指標種の閾値超過が人為的シグナルを識別する</a:t>
            </a:r>
            <a:endParaRPr lang="en-US" sz="800" dirty="0"/>
          </a:p>
        </p:txBody>
      </p:sp>
      <p:sp>
        <p:nvSpPr>
          <p:cNvPr id="4" name="Text 2"/>
          <p:cNvSpPr/>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B3A2D"/>
                </a:solidFill>
                <a:latin typeface="Georgia" pitchFamily="34" charset="0"/>
                <a:ea typeface="Georgia" pitchFamily="34" charset="-122"/>
                <a:cs typeface="Georgia" pitchFamily="34" charset="-120"/>
              </a:rPr>
              <a:t>考察① この結果は何を意味するか</a:t>
            </a:r>
            <a:endParaRPr lang="en-US" sz="2400" dirty="0"/>
          </a:p>
        </p:txBody>
      </p:sp>
      <p:sp>
        <p:nvSpPr>
          <p:cNvPr id="5" name="Text 3"/>
          <p:cNvSpPr/>
          <p:nvPr/>
        </p:nvSpPr>
        <p:spPr>
          <a:xfrm>
            <a:off x="640080" y="868680"/>
            <a:ext cx="7863840" cy="3840480"/>
          </a:xfrm>
          <a:prstGeom prst="rect">
            <a:avLst/>
          </a:prstGeom>
          <a:noFill/>
          <a:ln/>
        </p:spPr>
        <p:txBody>
          <a:bodyPr wrap="square" rtlCol="0" anchor="t"/>
          <a:lstStyle/>
          <a:p>
            <a:pPr indent="0" marL="0">
              <a:lnSpc>
                <a:spcPct val="110000"/>
              </a:lnSpc>
              <a:buNone/>
            </a:pPr>
            <a:r>
              <a:rPr lang="en-US" sz="1150" b="1" dirty="0">
                <a:solidFill>
                  <a:srgbClr val="B85042"/>
                </a:solidFill>
                <a:latin typeface="Calibri" pitchFamily="34" charset="0"/>
                <a:ea typeface="Calibri" pitchFamily="34" charset="-122"/>
                <a:cs typeface="Calibri" pitchFamily="34" charset="-120"/>
              </a:rPr>
              <a:t>1. BC非類似度は「人間の影響」の指標ではない</a:t>
            </a:r>
            <a:endParaRPr lang="en-US" sz="1150" dirty="0"/>
          </a:p>
          <a:p>
            <a:pPr indent="0" marL="0">
              <a:lnSpc>
                <a:spcPct val="110000"/>
              </a:lnSpc>
              <a:buNone/>
            </a:pPr>
            <a:r>
              <a:rPr lang="en-US" sz="1150" dirty="0">
                <a:solidFill>
                  <a:srgbClr val="2D2D2D"/>
                </a:solidFill>
                <a:latin typeface="Calibri" pitchFamily="34" charset="0"/>
                <a:ea typeface="Calibri" pitchFamily="34" charset="-122"/>
                <a:cs typeface="Calibri" pitchFamily="34" charset="-120"/>
              </a:rPr>
              <a:t>シグナルの34-57%は樹木の組成変化。人為的指標はわずか1-7%。</a:t>
            </a:r>
            <a:endParaRPr lang="en-US" sz="1150" dirty="0"/>
          </a:p>
          <a:p>
            <a:pPr indent="0" marL="0">
              <a:lnSpc>
                <a:spcPct val="110000"/>
              </a:lnSpc>
              <a:buNone/>
            </a:pPr>
            <a:r>
              <a:rPr lang="en-US" sz="1150" dirty="0">
                <a:solidFill>
                  <a:srgbClr val="2D2D2D"/>
                </a:solidFill>
                <a:latin typeface="Calibri" pitchFamily="34" charset="0"/>
                <a:ea typeface="Calibri" pitchFamily="34" charset="-122"/>
                <a:cs typeface="Calibri" pitchFamily="34" charset="-120"/>
              </a:rPr>
              <a:t>シグナルの「大きさ」だけ見ても、人為的変化と自然変化を区別できない。</a:t>
            </a:r>
            <a:endParaRPr lang="en-US" sz="1150" dirty="0"/>
          </a:p>
          <a:p>
            <a:pPr indent="0" marL="0">
              <a:lnSpc>
                <a:spcPct val="110000"/>
              </a:lnSpc>
              <a:buNone/>
            </a:pPr>
            <a:endParaRPr lang="en-US" sz="1150" dirty="0"/>
          </a:p>
          <a:p>
            <a:pPr indent="0" marL="0">
              <a:lnSpc>
                <a:spcPct val="110000"/>
              </a:lnSpc>
              <a:buNone/>
            </a:pPr>
            <a:r>
              <a:rPr lang="en-US" sz="1150" b="1" dirty="0">
                <a:solidFill>
                  <a:srgbClr val="2C5F2D"/>
                </a:solidFill>
                <a:latin typeface="Calibri" pitchFamily="34" charset="0"/>
                <a:ea typeface="Calibri" pitchFamily="34" charset="-122"/>
                <a:cs typeface="Calibri" pitchFamily="34" charset="-120"/>
              </a:rPr>
              <a:t>2. 「存在」と「閾値超過」を区別せよ</a:t>
            </a:r>
            <a:endParaRPr lang="en-US" sz="1150" dirty="0"/>
          </a:p>
          <a:p>
            <a:pPr indent="0" marL="0">
              <a:lnSpc>
                <a:spcPct val="110000"/>
              </a:lnSpc>
              <a:buNone/>
            </a:pPr>
            <a:r>
              <a:rPr lang="en-US" sz="1150" dirty="0">
                <a:solidFill>
                  <a:srgbClr val="2D2D2D"/>
                </a:solidFill>
                <a:latin typeface="Calibri" pitchFamily="34" charset="0"/>
                <a:ea typeface="Calibri" pitchFamily="34" charset="-122"/>
                <a:cs typeface="Calibri" pitchFamily="34" charset="-120"/>
              </a:rPr>
              <a:t>牧畜指標種の存在は自明（在来種）。異常な増加（閾値超過）のみが人為的証拠。</a:t>
            </a:r>
            <a:endParaRPr lang="en-US" sz="1150" dirty="0"/>
          </a:p>
          <a:p>
            <a:pPr indent="0" marL="0">
              <a:lnSpc>
                <a:spcPct val="110000"/>
              </a:lnSpc>
              <a:buNone/>
            </a:pPr>
            <a:r>
              <a:rPr lang="en-US" sz="1150" dirty="0">
                <a:solidFill>
                  <a:srgbClr val="2D2D2D"/>
                </a:solidFill>
                <a:latin typeface="Calibri" pitchFamily="34" charset="0"/>
                <a:ea typeface="Calibri" pitchFamily="34" charset="-122"/>
                <a:cs typeface="Calibri" pitchFamily="34" charset="-120"/>
              </a:rPr>
              <a:t>過去の研究で「オオバコが穀物より先に出現 → 牧畜先行」と結論したものは再検討が必要。</a:t>
            </a:r>
            <a:endParaRPr lang="en-US" sz="1150" dirty="0"/>
          </a:p>
          <a:p>
            <a:pPr indent="0" marL="0">
              <a:lnSpc>
                <a:spcPct val="110000"/>
              </a:lnSpc>
              <a:buNone/>
            </a:pPr>
            <a:endParaRPr lang="en-US" sz="1150" dirty="0"/>
          </a:p>
          <a:p>
            <a:pPr indent="0" marL="0">
              <a:lnSpc>
                <a:spcPct val="110000"/>
              </a:lnSpc>
              <a:buNone/>
            </a:pPr>
            <a:r>
              <a:rPr lang="en-US" sz="1150" b="1" dirty="0">
                <a:solidFill>
                  <a:srgbClr val="B85042"/>
                </a:solidFill>
                <a:latin typeface="Calibri" pitchFamily="34" charset="0"/>
                <a:ea typeface="Calibri" pitchFamily="34" charset="-122"/>
                <a:cs typeface="Calibri" pitchFamily="34" charset="-120"/>
              </a:rPr>
              <a:t>3. 花粉シグナルは「農耕の到来」ではなく「集約化」を検出する</a:t>
            </a:r>
            <a:endParaRPr lang="en-US" sz="1150" dirty="0"/>
          </a:p>
          <a:p>
            <a:pPr indent="0" marL="0">
              <a:lnSpc>
                <a:spcPct val="110000"/>
              </a:lnSpc>
              <a:buNone/>
            </a:pPr>
            <a:r>
              <a:rPr lang="en-US" sz="1150" dirty="0">
                <a:solidFill>
                  <a:srgbClr val="2D2D2D"/>
                </a:solidFill>
                <a:latin typeface="Calibri" pitchFamily="34" charset="0"/>
                <a:ea typeface="Calibri" pitchFamily="34" charset="-122"/>
                <a:cs typeface="Calibri" pitchFamily="34" charset="-120"/>
              </a:rPr>
              <a:t>新石器到来から約1,400年後（方法論的遅延を補正済み）に初めて花粉に現れる。</a:t>
            </a:r>
            <a:endParaRPr lang="en-US" sz="1150" dirty="0"/>
          </a:p>
          <a:p>
            <a:pPr indent="0" marL="0">
              <a:lnSpc>
                <a:spcPct val="110000"/>
              </a:lnSpc>
              <a:buNone/>
            </a:pPr>
            <a:r>
              <a:rPr lang="en-US" sz="1150" dirty="0">
                <a:solidFill>
                  <a:srgbClr val="2D2D2D"/>
                </a:solidFill>
                <a:latin typeface="Calibri" pitchFamily="34" charset="0"/>
                <a:ea typeface="Calibri" pitchFamily="34" charset="-122"/>
                <a:cs typeface="Calibri" pitchFamily="34" charset="-120"/>
              </a:rPr>
              <a:t>初期新石器の小規模農耕は花粉記録には見えない。</a:t>
            </a:r>
            <a:endParaRPr lang="en-US" sz="1150" dirty="0"/>
          </a:p>
          <a:p>
            <a:pPr indent="0" marL="0">
              <a:lnSpc>
                <a:spcPct val="110000"/>
              </a:lnSpc>
              <a:buNone/>
            </a:pPr>
            <a:endParaRPr lang="en-US" sz="1150" dirty="0"/>
          </a:p>
          <a:p>
            <a:pPr indent="0" marL="0">
              <a:lnSpc>
                <a:spcPct val="110000"/>
              </a:lnSpc>
              <a:buNone/>
            </a:pPr>
            <a:r>
              <a:rPr lang="en-US" sz="1150" b="1" dirty="0">
                <a:solidFill>
                  <a:srgbClr val="2C5F2D"/>
                </a:solidFill>
                <a:latin typeface="Calibri" pitchFamily="34" charset="0"/>
                <a:ea typeface="Calibri" pitchFamily="34" charset="-122"/>
                <a:cs typeface="Calibri" pitchFamily="34" charset="-120"/>
              </a:rPr>
              <a:t>4. 閾値超過の順序は「経済的順序」ではなく「花粉検出順序」かもしれない</a:t>
            </a:r>
            <a:endParaRPr lang="en-US" sz="1150" dirty="0"/>
          </a:p>
          <a:p>
            <a:pPr indent="0" marL="0">
              <a:lnSpc>
                <a:spcPct val="110000"/>
              </a:lnSpc>
              <a:buNone/>
            </a:pPr>
            <a:r>
              <a:rPr lang="en-US" sz="1150" dirty="0">
                <a:solidFill>
                  <a:srgbClr val="2D2D2D"/>
                </a:solidFill>
                <a:latin typeface="Calibri" pitchFamily="34" charset="0"/>
                <a:ea typeface="Calibri" pitchFamily="34" charset="-122"/>
                <a:cs typeface="Calibri" pitchFamily="34" charset="-120"/>
              </a:rPr>
              <a:t>考古学的証拠（Bogaard 2004）によれば初期新石器は混合農業。牧畜と穀物は同時に始まった可能性が高い。</a:t>
            </a:r>
            <a:endParaRPr lang="en-US" sz="1150" dirty="0"/>
          </a:p>
          <a:p>
            <a:pPr indent="0" marL="0">
              <a:lnSpc>
                <a:spcPct val="110000"/>
              </a:lnSpc>
              <a:buNone/>
            </a:pPr>
            <a:r>
              <a:rPr lang="en-US" sz="1150" dirty="0">
                <a:solidFill>
                  <a:srgbClr val="2D2D2D"/>
                </a:solidFill>
                <a:latin typeface="Calibri" pitchFamily="34" charset="0"/>
                <a:ea typeface="Calibri" pitchFamily="34" charset="-122"/>
                <a:cs typeface="Calibri" pitchFamily="34" charset="-120"/>
              </a:rPr>
              <a:t>花粉での検出順序の差は、牧畜の方が広い面積を擾乱するため先に閾値を超えるという検出バイアスかもしれない。</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Lab — 花粉指標種の閾値超過が人為的シグナルを識別する</a:t>
            </a:r>
            <a:endParaRPr lang="en-US" sz="800" dirty="0"/>
          </a:p>
        </p:txBody>
      </p:sp>
      <p:sp>
        <p:nvSpPr>
          <p:cNvPr id="4" name="Text 2"/>
          <p:cNvSpPr/>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B3A2D"/>
                </a:solidFill>
                <a:latin typeface="Georgia" pitchFamily="34" charset="0"/>
                <a:ea typeface="Georgia" pitchFamily="34" charset="-122"/>
                <a:cs typeface="Georgia" pitchFamily="34" charset="-120"/>
              </a:rPr>
              <a:t>考察② 既存の大規模研究への示唆</a:t>
            </a:r>
            <a:endParaRPr lang="en-US" sz="2400" dirty="0"/>
          </a:p>
        </p:txBody>
      </p:sp>
      <p:sp>
        <p:nvSpPr>
          <p:cNvPr id="5" name="Text 3"/>
          <p:cNvSpPr/>
          <p:nvPr/>
        </p:nvSpPr>
        <p:spPr>
          <a:xfrm>
            <a:off x="640080" y="868680"/>
            <a:ext cx="7863840" cy="3840480"/>
          </a:xfrm>
          <a:prstGeom prst="rect">
            <a:avLst/>
          </a:prstGeom>
          <a:noFill/>
          <a:ln/>
        </p:spPr>
        <p:txBody>
          <a:bodyPr wrap="square" rtlCol="0" anchor="t"/>
          <a:lstStyle/>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近年、花粉データを用いた大規模研究が増えています:</a:t>
            </a:r>
            <a:endParaRPr lang="en-US" sz="1200" dirty="0"/>
          </a:p>
          <a:p>
            <a:pPr indent="0" marL="0">
              <a:lnSpc>
                <a:spcPct val="112000"/>
              </a:lnSpc>
              <a:buNone/>
            </a:pPr>
            <a:endParaRPr lang="en-US" sz="1200" dirty="0"/>
          </a:p>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 Mottl et al. (2021, Science): 過去18,000年の植生変化率の全球加速</a:t>
            </a:r>
            <a:endParaRPr lang="en-US" sz="1200" dirty="0"/>
          </a:p>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 Gordon et al. (2024): シグナルフェーズ検出法の定式化</a:t>
            </a:r>
            <a:endParaRPr lang="en-US" sz="1200" dirty="0"/>
          </a:p>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 Nogué et al. (2025, Nature Ecology &amp; Evolution): 完新世の人為的植生変化</a:t>
            </a:r>
            <a:endParaRPr lang="en-US" sz="1200" dirty="0"/>
          </a:p>
          <a:p>
            <a:pPr indent="0" marL="0">
              <a:lnSpc>
                <a:spcPct val="112000"/>
              </a:lnSpc>
              <a:buNone/>
            </a:pPr>
            <a:endParaRPr lang="en-US" sz="1200" dirty="0"/>
          </a:p>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これらの研究は主にBC非類似度や変化率の「大きさ」で人間の影響を評価しています。</a:t>
            </a:r>
            <a:endParaRPr lang="en-US" sz="1200" dirty="0"/>
          </a:p>
          <a:p>
            <a:pPr indent="0" marL="0">
              <a:lnSpc>
                <a:spcPct val="112000"/>
              </a:lnSpc>
              <a:buNone/>
            </a:pPr>
            <a:endParaRPr lang="en-US" sz="1200" dirty="0"/>
          </a:p>
          <a:p>
            <a:pPr indent="0" marL="0">
              <a:lnSpc>
                <a:spcPct val="112000"/>
              </a:lnSpc>
              <a:buNone/>
            </a:pPr>
            <a:r>
              <a:rPr lang="en-US" sz="1200" b="1" dirty="0">
                <a:solidFill>
                  <a:srgbClr val="B85042"/>
                </a:solidFill>
                <a:latin typeface="Calibri" pitchFamily="34" charset="0"/>
                <a:ea typeface="Calibri" pitchFamily="34" charset="-122"/>
                <a:cs typeface="Calibri" pitchFamily="34" charset="-120"/>
              </a:rPr>
              <a:t>本研究の示唆:</a:t>
            </a:r>
            <a:endParaRPr lang="en-US" sz="1200" dirty="0"/>
          </a:p>
          <a:p>
            <a:pPr indent="0" marL="0">
              <a:lnSpc>
                <a:spcPct val="112000"/>
              </a:lnSpc>
              <a:buNone/>
            </a:pPr>
            <a:endParaRPr lang="en-US" sz="1200" dirty="0"/>
          </a:p>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① シグナルの大きさでは人為的vs自然を区別できない（検出力わずか5%）</a:t>
            </a:r>
            <a:endParaRPr lang="en-US" sz="1200" dirty="0"/>
          </a:p>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② 「影響開始」の年代は初期農耕ではなく集約化（~1,400年後）を反映</a:t>
            </a:r>
            <a:endParaRPr lang="en-US" sz="1200" dirty="0"/>
          </a:p>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③ 機能的分解（どの種が変わったか）を加えることで帰属の精度が大幅に向上</a:t>
            </a:r>
            <a:endParaRPr lang="en-US" sz="1200" dirty="0"/>
          </a:p>
          <a:p>
            <a:pPr indent="0" marL="0">
              <a:lnSpc>
                <a:spcPct val="112000"/>
              </a:lnSpc>
              <a:buNone/>
            </a:pPr>
            <a:endParaRPr lang="en-US" sz="1200" dirty="0"/>
          </a:p>
          <a:p>
            <a:pPr indent="0" marL="0">
              <a:lnSpc>
                <a:spcPct val="112000"/>
              </a:lnSpc>
              <a:buNone/>
            </a:pPr>
            <a:r>
              <a:rPr lang="en-US" sz="1200" dirty="0">
                <a:solidFill>
                  <a:srgbClr val="2D2D2D"/>
                </a:solidFill>
                <a:latin typeface="Calibri" pitchFamily="34" charset="0"/>
                <a:ea typeface="Calibri" pitchFamily="34" charset="-122"/>
                <a:cs typeface="Calibri" pitchFamily="34" charset="-120"/>
              </a:rPr>
              <a:t>これらの研究が「間違っている」とは言いません。しかし「不完全」であり、</a:t>
            </a:r>
            <a:endParaRPr lang="en-US" sz="1200" dirty="0"/>
          </a:p>
          <a:p>
            <a:pPr indent="0" marL="0">
              <a:lnSpc>
                <a:spcPct val="112000"/>
              </a:lnSpc>
              <a:buNone/>
            </a:pPr>
            <a:r>
              <a:rPr lang="en-US" sz="1200" b="1" dirty="0">
                <a:solidFill>
                  <a:srgbClr val="2C5F2D"/>
                </a:solidFill>
                <a:latin typeface="Calibri" pitchFamily="34" charset="0"/>
                <a:ea typeface="Calibri" pitchFamily="34" charset="-122"/>
                <a:cs typeface="Calibri" pitchFamily="34" charset="-120"/>
              </a:rPr>
              <a:t>機能的分解による追加的な解釈が必要であることを示しています。</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Lab — 花粉指標種の閾値超過が人為的シグナルを識別する</a:t>
            </a:r>
            <a:endParaRPr lang="en-US" sz="800" dirty="0"/>
          </a:p>
        </p:txBody>
      </p:sp>
      <p:sp>
        <p:nvSpPr>
          <p:cNvPr id="4" name="Text 2"/>
          <p:cNvSpPr/>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B3A2D"/>
                </a:solidFill>
                <a:latin typeface="Georgia" pitchFamily="34" charset="0"/>
                <a:ea typeface="Georgia" pitchFamily="34" charset="-122"/>
                <a:cs typeface="Georgia" pitchFamily="34" charset="-120"/>
              </a:rPr>
              <a:t>提案: 5ステップ・プロトコル</a:t>
            </a:r>
            <a:endParaRPr lang="en-US" sz="2400" dirty="0"/>
          </a:p>
        </p:txBody>
      </p:sp>
      <p:sp>
        <p:nvSpPr>
          <p:cNvPr id="5" name="Shape 3"/>
          <p:cNvSpPr/>
          <p:nvPr/>
        </p:nvSpPr>
        <p:spPr>
          <a:xfrm>
            <a:off x="548640" y="960120"/>
            <a:ext cx="457200" cy="457200"/>
          </a:xfrm>
          <a:prstGeom prst="ellipse">
            <a:avLst/>
          </a:prstGeom>
          <a:solidFill>
            <a:srgbClr val="2C5F2D"/>
          </a:solidFill>
          <a:ln/>
        </p:spPr>
      </p:sp>
      <p:sp>
        <p:nvSpPr>
          <p:cNvPr id="6" name="Text 4"/>
          <p:cNvSpPr/>
          <p:nvPr/>
        </p:nvSpPr>
        <p:spPr>
          <a:xfrm>
            <a:off x="548640" y="960120"/>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7" name="Text 5"/>
          <p:cNvSpPr/>
          <p:nvPr/>
        </p:nvSpPr>
        <p:spPr>
          <a:xfrm>
            <a:off x="1188720" y="914400"/>
            <a:ext cx="2286000" cy="54864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検出 (Detect)</a:t>
            </a:r>
            <a:endParaRPr lang="en-US" sz="1300" dirty="0"/>
          </a:p>
        </p:txBody>
      </p:sp>
      <p:sp>
        <p:nvSpPr>
          <p:cNvPr id="8" name="Text 6"/>
          <p:cNvSpPr/>
          <p:nvPr/>
        </p:nvSpPr>
        <p:spPr>
          <a:xfrm>
            <a:off x="3474720" y="914400"/>
            <a:ext cx="5212080" cy="640080"/>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BC非類似度でベースラインからの逸脱を検出。閾値感度分析（1.5-3.0 SD）を実施。</a:t>
            </a:r>
            <a:endParaRPr lang="en-US" sz="1100" dirty="0"/>
          </a:p>
        </p:txBody>
      </p:sp>
      <p:sp>
        <p:nvSpPr>
          <p:cNvPr id="9" name="Shape 7"/>
          <p:cNvSpPr/>
          <p:nvPr/>
        </p:nvSpPr>
        <p:spPr>
          <a:xfrm>
            <a:off x="548640" y="1737360"/>
            <a:ext cx="457200" cy="457200"/>
          </a:xfrm>
          <a:prstGeom prst="ellipse">
            <a:avLst/>
          </a:prstGeom>
          <a:solidFill>
            <a:srgbClr val="2C5F2D"/>
          </a:solidFill>
          <a:ln/>
        </p:spPr>
      </p:sp>
      <p:sp>
        <p:nvSpPr>
          <p:cNvPr id="10" name="Text 8"/>
          <p:cNvSpPr/>
          <p:nvPr/>
        </p:nvSpPr>
        <p:spPr>
          <a:xfrm>
            <a:off x="548640" y="1737360"/>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1" name="Text 9"/>
          <p:cNvSpPr/>
          <p:nvPr/>
        </p:nvSpPr>
        <p:spPr>
          <a:xfrm>
            <a:off x="1188720" y="1691640"/>
            <a:ext cx="2286000" cy="54864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分解 (Decompose)</a:t>
            </a:r>
            <a:endParaRPr lang="en-US" sz="1300" dirty="0"/>
          </a:p>
        </p:txBody>
      </p:sp>
      <p:sp>
        <p:nvSpPr>
          <p:cNvPr id="12" name="Text 10"/>
          <p:cNvSpPr/>
          <p:nvPr/>
        </p:nvSpPr>
        <p:spPr>
          <a:xfrm>
            <a:off x="3474720" y="1691640"/>
            <a:ext cx="5212080" cy="640080"/>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検出されたシグナルを機能グループ（牧畜/農耕、樹木、湿地等）に分解し、各成分の寄与率を定量化。</a:t>
            </a:r>
            <a:endParaRPr lang="en-US" sz="1100" dirty="0"/>
          </a:p>
        </p:txBody>
      </p:sp>
      <p:sp>
        <p:nvSpPr>
          <p:cNvPr id="13" name="Shape 11"/>
          <p:cNvSpPr/>
          <p:nvPr/>
        </p:nvSpPr>
        <p:spPr>
          <a:xfrm>
            <a:off x="548640" y="2514600"/>
            <a:ext cx="457200" cy="457200"/>
          </a:xfrm>
          <a:prstGeom prst="ellipse">
            <a:avLst/>
          </a:prstGeom>
          <a:solidFill>
            <a:srgbClr val="2C5F2D"/>
          </a:solidFill>
          <a:ln/>
        </p:spPr>
      </p:sp>
      <p:sp>
        <p:nvSpPr>
          <p:cNvPr id="14" name="Text 12"/>
          <p:cNvSpPr/>
          <p:nvPr/>
        </p:nvSpPr>
        <p:spPr>
          <a:xfrm>
            <a:off x="548640" y="2514600"/>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5" name="Text 13"/>
          <p:cNvSpPr/>
          <p:nvPr/>
        </p:nvSpPr>
        <p:spPr>
          <a:xfrm>
            <a:off x="1188720" y="2468880"/>
            <a:ext cx="2286000" cy="54864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閾値超過で分類 (Classify)</a:t>
            </a:r>
            <a:endParaRPr lang="en-US" sz="1300" dirty="0"/>
          </a:p>
        </p:txBody>
      </p:sp>
      <p:sp>
        <p:nvSpPr>
          <p:cNvPr id="16" name="Text 14"/>
          <p:cNvSpPr/>
          <p:nvPr/>
        </p:nvSpPr>
        <p:spPr>
          <a:xfrm>
            <a:off x="3474720" y="2468880"/>
            <a:ext cx="5212080" cy="640080"/>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「出現」ではなく「閾値超過」で分類。在来種の存在は自明なので証拠にならない。</a:t>
            </a:r>
            <a:endParaRPr lang="en-US" sz="1100" dirty="0"/>
          </a:p>
        </p:txBody>
      </p:sp>
      <p:sp>
        <p:nvSpPr>
          <p:cNvPr id="17" name="Shape 15"/>
          <p:cNvSpPr/>
          <p:nvPr/>
        </p:nvSpPr>
        <p:spPr>
          <a:xfrm>
            <a:off x="548640" y="3291840"/>
            <a:ext cx="457200" cy="457200"/>
          </a:xfrm>
          <a:prstGeom prst="ellipse">
            <a:avLst/>
          </a:prstGeom>
          <a:solidFill>
            <a:srgbClr val="2C5F2D"/>
          </a:solidFill>
          <a:ln/>
        </p:spPr>
      </p:sp>
      <p:sp>
        <p:nvSpPr>
          <p:cNvPr id="18" name="Text 16"/>
          <p:cNvSpPr/>
          <p:nvPr/>
        </p:nvSpPr>
        <p:spPr>
          <a:xfrm>
            <a:off x="548640" y="3291840"/>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19" name="Text 17"/>
          <p:cNvSpPr/>
          <p:nvPr/>
        </p:nvSpPr>
        <p:spPr>
          <a:xfrm>
            <a:off x="1188720" y="3246120"/>
            <a:ext cx="2286000" cy="54864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時間勾配の検定 (Test)</a:t>
            </a:r>
            <a:endParaRPr lang="en-US" sz="1300" dirty="0"/>
          </a:p>
        </p:txBody>
      </p:sp>
      <p:sp>
        <p:nvSpPr>
          <p:cNvPr id="20" name="Text 18"/>
          <p:cNvSpPr/>
          <p:nvPr/>
        </p:nvSpPr>
        <p:spPr>
          <a:xfrm>
            <a:off x="3474720" y="3246120"/>
            <a:ext cx="5212080" cy="640080"/>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牧畜指標の強度と新石器到来からの時間を連続変数として分析。初期到来 vs 集約化を識別。</a:t>
            </a:r>
            <a:endParaRPr lang="en-US" sz="1100" dirty="0"/>
          </a:p>
        </p:txBody>
      </p:sp>
      <p:sp>
        <p:nvSpPr>
          <p:cNvPr id="21" name="Shape 19"/>
          <p:cNvSpPr/>
          <p:nvPr/>
        </p:nvSpPr>
        <p:spPr>
          <a:xfrm>
            <a:off x="548640" y="4069080"/>
            <a:ext cx="457200" cy="457200"/>
          </a:xfrm>
          <a:prstGeom prst="ellipse">
            <a:avLst/>
          </a:prstGeom>
          <a:solidFill>
            <a:srgbClr val="2C5F2D"/>
          </a:solidFill>
          <a:ln/>
        </p:spPr>
      </p:sp>
      <p:sp>
        <p:nvSpPr>
          <p:cNvPr id="22" name="Text 20"/>
          <p:cNvSpPr/>
          <p:nvPr/>
        </p:nvSpPr>
        <p:spPr>
          <a:xfrm>
            <a:off x="548640" y="4069080"/>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23" name="Text 21"/>
          <p:cNvSpPr/>
          <p:nvPr/>
        </p:nvSpPr>
        <p:spPr>
          <a:xfrm>
            <a:off x="1188720" y="4023360"/>
            <a:ext cx="2286000" cy="54864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厳格指標で検証 (Verify)</a:t>
            </a:r>
            <a:endParaRPr lang="en-US" sz="1300" dirty="0"/>
          </a:p>
        </p:txBody>
      </p:sp>
      <p:sp>
        <p:nvSpPr>
          <p:cNvPr id="24" name="Text 22"/>
          <p:cNvSpPr/>
          <p:nvPr/>
        </p:nvSpPr>
        <p:spPr>
          <a:xfrm>
            <a:off x="3474720" y="4023360"/>
            <a:ext cx="5212080" cy="640080"/>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カルーナ等の曖昧な指標を除いた厳格指標で確認。花粉散布バイアスとの比較も実施。</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Lab — 花粉指標種の閾値超過が人為的シグナルを識別する</a:t>
            </a:r>
            <a:endParaRPr lang="en-US" sz="800" dirty="0"/>
          </a:p>
        </p:txBody>
      </p:sp>
      <p:sp>
        <p:nvSpPr>
          <p:cNvPr id="4" name="Text 2"/>
          <p:cNvSpPr/>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B3A2D"/>
                </a:solidFill>
                <a:latin typeface="Georgia" pitchFamily="34" charset="0"/>
                <a:ea typeface="Georgia" pitchFamily="34" charset="-122"/>
                <a:cs typeface="Georgia" pitchFamily="34" charset="-120"/>
              </a:rPr>
              <a:t>この研究の限界と今後の課題</a:t>
            </a:r>
            <a:endParaRPr lang="en-US" sz="2400" dirty="0"/>
          </a:p>
        </p:txBody>
      </p:sp>
      <p:sp>
        <p:nvSpPr>
          <p:cNvPr id="5" name="Text 3"/>
          <p:cNvSpPr/>
          <p:nvPr/>
        </p:nvSpPr>
        <p:spPr>
          <a:xfrm>
            <a:off x="640080" y="868680"/>
            <a:ext cx="7863840" cy="3840480"/>
          </a:xfrm>
          <a:prstGeom prst="rect">
            <a:avLst/>
          </a:prstGeom>
          <a:noFill/>
          <a:ln/>
        </p:spPr>
        <p:txBody>
          <a:bodyPr wrap="square" rtlCol="0" anchor="t"/>
          <a:lstStyle/>
          <a:p>
            <a:pPr indent="0" marL="0">
              <a:lnSpc>
                <a:spcPct val="110000"/>
              </a:lnSpc>
              <a:buNone/>
            </a:pPr>
            <a:r>
              <a:rPr lang="en-US" sz="1100" b="1" dirty="0">
                <a:solidFill>
                  <a:srgbClr val="B85042"/>
                </a:solidFill>
                <a:latin typeface="Calibri" pitchFamily="34" charset="0"/>
                <a:ea typeface="Calibri" pitchFamily="34" charset="-122"/>
                <a:cs typeface="Calibri" pitchFamily="34" charset="-120"/>
              </a:rPr>
              <a:t>正直に認める限界:</a:t>
            </a:r>
            <a:endParaRPr lang="en-US" sz="1100" dirty="0"/>
          </a:p>
          <a:p>
            <a:pPr indent="0" marL="0">
              <a:lnSpc>
                <a:spcPct val="110000"/>
              </a:lnSpc>
              <a:buNone/>
            </a:pPr>
            <a:endParaRPr lang="en-US" sz="1100" dirty="0"/>
          </a:p>
          <a:p>
            <a:pPr indent="0" marL="0">
              <a:lnSpc>
                <a:spcPct val="110000"/>
              </a:lnSpc>
              <a:buNone/>
            </a:pPr>
            <a:r>
              <a:rPr lang="en-US" sz="1100" dirty="0">
                <a:solidFill>
                  <a:srgbClr val="2D2D2D"/>
                </a:solidFill>
                <a:latin typeface="Calibri" pitchFamily="34" charset="0"/>
                <a:ea typeface="Calibri" pitchFamily="34" charset="-122"/>
                <a:cs typeface="Calibri" pitchFamily="34" charset="-120"/>
              </a:rPr>
              <a:t>• H3地点の0/37は分類の定義の帰結であり、独立した検証ではない</a:t>
            </a:r>
            <a:endParaRPr lang="en-US" sz="1100" dirty="0"/>
          </a:p>
          <a:p>
            <a:pPr indent="0" marL="0">
              <a:lnSpc>
                <a:spcPct val="110000"/>
              </a:lnSpc>
              <a:buNone/>
            </a:pPr>
            <a:r>
              <a:rPr lang="en-US" sz="1100" dirty="0">
                <a:solidFill>
                  <a:srgbClr val="2D2D2D"/>
                </a:solidFill>
                <a:latin typeface="Calibri" pitchFamily="34" charset="0"/>
                <a:ea typeface="Calibri" pitchFamily="34" charset="-122"/>
                <a:cs typeface="Calibri" pitchFamily="34" charset="-120"/>
              </a:rPr>
              <a:t>  （独立した証拠: 閾値超過順序67-82% + 集約化勾配 rho=+0.186）</a:t>
            </a:r>
            <a:endParaRPr lang="en-US" sz="1100" dirty="0"/>
          </a:p>
          <a:p>
            <a:pPr indent="0" marL="0">
              <a:lnSpc>
                <a:spcPct val="110000"/>
              </a:lnSpc>
              <a:buNone/>
            </a:pPr>
            <a:r>
              <a:rPr lang="en-US" sz="1100" dirty="0">
                <a:solidFill>
                  <a:srgbClr val="2D2D2D"/>
                </a:solidFill>
                <a:latin typeface="Calibri" pitchFamily="34" charset="0"/>
                <a:ea typeface="Calibri" pitchFamily="34" charset="-122"/>
                <a:cs typeface="Calibri" pitchFamily="34" charset="-120"/>
              </a:rPr>
              <a:t>• 中央ヨーロッパのH3地点はわずか4地点 → この地域の結果は探索的</a:t>
            </a:r>
            <a:endParaRPr lang="en-US" sz="1100" dirty="0"/>
          </a:p>
          <a:p>
            <a:pPr indent="0" marL="0">
              <a:lnSpc>
                <a:spcPct val="110000"/>
              </a:lnSpc>
              <a:buNone/>
            </a:pPr>
            <a:r>
              <a:rPr lang="en-US" sz="1100" dirty="0">
                <a:solidFill>
                  <a:srgbClr val="2D2D2D"/>
                </a:solidFill>
                <a:latin typeface="Calibri" pitchFamily="34" charset="0"/>
                <a:ea typeface="Calibri" pitchFamily="34" charset="-122"/>
                <a:cs typeface="Calibri" pitchFamily="34" charset="-120"/>
              </a:rPr>
              <a:t>• 空間的自己相関の検出力が低い → p値は「指標的」と解釈すべき</a:t>
            </a:r>
            <a:endParaRPr lang="en-US" sz="1100" dirty="0"/>
          </a:p>
          <a:p>
            <a:pPr indent="0" marL="0">
              <a:lnSpc>
                <a:spcPct val="110000"/>
              </a:lnSpc>
              <a:buNone/>
            </a:pPr>
            <a:r>
              <a:rPr lang="en-US" sz="1100" dirty="0">
                <a:solidFill>
                  <a:srgbClr val="2D2D2D"/>
                </a:solidFill>
                <a:latin typeface="Calibri" pitchFamily="34" charset="0"/>
                <a:ea typeface="Calibri" pitchFamily="34" charset="-122"/>
                <a:cs typeface="Calibri" pitchFamily="34" charset="-120"/>
              </a:rPr>
              <a:t>• 集約化勾配 rho=0.186 は方向性として一致するが、分散の3.5%のみを説明</a:t>
            </a:r>
            <a:endParaRPr lang="en-US" sz="1100" dirty="0"/>
          </a:p>
          <a:p>
            <a:pPr indent="0" marL="0">
              <a:lnSpc>
                <a:spcPct val="110000"/>
              </a:lnSpc>
              <a:buNone/>
            </a:pPr>
            <a:r>
              <a:rPr lang="en-US" sz="1100" dirty="0">
                <a:solidFill>
                  <a:srgbClr val="2D2D2D"/>
                </a:solidFill>
                <a:latin typeface="Calibri" pitchFamily="34" charset="0"/>
                <a:ea typeface="Calibri" pitchFamily="34" charset="-122"/>
                <a:cs typeface="Calibri" pitchFamily="34" charset="-120"/>
              </a:rPr>
              <a:t>• 閾値超過順序が「経済的順序」か「検出バイアス」かは花粉データのみでは判別不能</a:t>
            </a:r>
            <a:endParaRPr lang="en-US" sz="1100" dirty="0"/>
          </a:p>
          <a:p>
            <a:pPr indent="0" marL="0">
              <a:lnSpc>
                <a:spcPct val="110000"/>
              </a:lnSpc>
              <a:buNone/>
            </a:pPr>
            <a:r>
              <a:rPr lang="en-US" sz="1100" dirty="0">
                <a:solidFill>
                  <a:srgbClr val="2D2D2D"/>
                </a:solidFill>
                <a:latin typeface="Calibri" pitchFamily="34" charset="0"/>
                <a:ea typeface="Calibri" pitchFamily="34" charset="-122"/>
                <a:cs typeface="Calibri" pitchFamily="34" charset="-120"/>
              </a:rPr>
              <a:t>• 対象は北西・中央ヨーロッパのみ。地中海域やアジアは未検証</a:t>
            </a:r>
            <a:endParaRPr lang="en-US" sz="1100" dirty="0"/>
          </a:p>
          <a:p>
            <a:pPr indent="0" marL="0">
              <a:lnSpc>
                <a:spcPct val="110000"/>
              </a:lnSpc>
              <a:buNone/>
            </a:pPr>
            <a:endParaRPr lang="en-US" sz="1100" dirty="0"/>
          </a:p>
          <a:p>
            <a:pPr indent="0" marL="0">
              <a:lnSpc>
                <a:spcPct val="110000"/>
              </a:lnSpc>
              <a:buNone/>
            </a:pPr>
            <a:r>
              <a:rPr lang="en-US" sz="1100" b="1" dirty="0">
                <a:solidFill>
                  <a:srgbClr val="2C5F2D"/>
                </a:solidFill>
                <a:latin typeface="Calibri" pitchFamily="34" charset="0"/>
                <a:ea typeface="Calibri" pitchFamily="34" charset="-122"/>
                <a:cs typeface="Calibri" pitchFamily="34" charset="-120"/>
              </a:rPr>
              <a:t>今後の課題:</a:t>
            </a:r>
            <a:endParaRPr lang="en-US" sz="1100" dirty="0"/>
          </a:p>
          <a:p>
            <a:pPr indent="0" marL="0">
              <a:lnSpc>
                <a:spcPct val="110000"/>
              </a:lnSpc>
              <a:buNone/>
            </a:pPr>
            <a:endParaRPr lang="en-US" sz="1100" dirty="0"/>
          </a:p>
          <a:p>
            <a:pPr indent="0" marL="0">
              <a:lnSpc>
                <a:spcPct val="110000"/>
              </a:lnSpc>
              <a:buNone/>
            </a:pPr>
            <a:r>
              <a:rPr lang="en-US" sz="1100" dirty="0">
                <a:solidFill>
                  <a:srgbClr val="2D2D2D"/>
                </a:solidFill>
                <a:latin typeface="Calibri" pitchFamily="34" charset="0"/>
                <a:ea typeface="Calibri" pitchFamily="34" charset="-122"/>
                <a:cs typeface="Calibri" pitchFamily="34" charset="-120"/>
              </a:rPr>
              <a:t>• 糞生菌胞子（Sporormiella, Sordaria）による独立した牧畜検証</a:t>
            </a:r>
            <a:endParaRPr lang="en-US" sz="1100" dirty="0"/>
          </a:p>
          <a:p>
            <a:pPr indent="0" marL="0">
              <a:lnSpc>
                <a:spcPct val="110000"/>
              </a:lnSpc>
              <a:buNone/>
            </a:pPr>
            <a:r>
              <a:rPr lang="en-US" sz="1100" dirty="0">
                <a:solidFill>
                  <a:srgbClr val="2D2D2D"/>
                </a:solidFill>
                <a:latin typeface="Calibri" pitchFamily="34" charset="0"/>
                <a:ea typeface="Calibri" pitchFamily="34" charset="-122"/>
                <a:cs typeface="Calibri" pitchFamily="34" charset="-120"/>
              </a:rPr>
              <a:t>  → 草食動物の糞に含まれる菌類胞子。花粉とは独立した牧畜の証拠となる</a:t>
            </a:r>
            <a:endParaRPr lang="en-US" sz="1100" dirty="0"/>
          </a:p>
          <a:p>
            <a:pPr indent="0" marL="0">
              <a:lnSpc>
                <a:spcPct val="110000"/>
              </a:lnSpc>
              <a:buNone/>
            </a:pPr>
            <a:r>
              <a:rPr lang="en-US" sz="1100" dirty="0">
                <a:solidFill>
                  <a:srgbClr val="2D2D2D"/>
                </a:solidFill>
                <a:latin typeface="Calibri" pitchFamily="34" charset="0"/>
                <a:ea typeface="Calibri" pitchFamily="34" charset="-122"/>
                <a:cs typeface="Calibri" pitchFamily="34" charset="-120"/>
              </a:rPr>
              <a:t>• 北極圏・亜寒帯の農耕未到達地域を真の自然対照群として使用</a:t>
            </a:r>
            <a:endParaRPr lang="en-US" sz="1100" dirty="0"/>
          </a:p>
          <a:p>
            <a:pPr indent="0" marL="0">
              <a:lnSpc>
                <a:spcPct val="110000"/>
              </a:lnSpc>
              <a:buNone/>
            </a:pPr>
            <a:r>
              <a:rPr lang="en-US" sz="1100" dirty="0">
                <a:solidFill>
                  <a:srgbClr val="2D2D2D"/>
                </a:solidFill>
                <a:latin typeface="Calibri" pitchFamily="34" charset="0"/>
                <a:ea typeface="Calibri" pitchFamily="34" charset="-122"/>
                <a:cs typeface="Calibri" pitchFamily="34" charset="-120"/>
              </a:rPr>
              <a:t>• 動物考古学・安定同位体分析との統合による非花粉的検証</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3A2D"/>
        </a:solidFill>
      </p:bgPr>
    </p:bg>
    <p:spTree>
      <p:nvGrpSpPr>
        <p:cNvPr id="1" name=""/>
        <p:cNvGrpSpPr/>
        <p:nvPr/>
      </p:nvGrpSpPr>
      <p:grpSpPr>
        <a:xfrm>
          <a:off x="0" y="0"/>
          <a:ext cx="0" cy="0"/>
          <a:chOff x="0" y="0"/>
          <a:chExt cx="0" cy="0"/>
        </a:xfrm>
      </p:grpSpPr>
      <p:sp>
        <p:nvSpPr>
          <p:cNvPr id="2" name="Text 0"/>
          <p:cNvSpPr/>
          <p:nvPr/>
        </p:nvSpPr>
        <p:spPr>
          <a:xfrm>
            <a:off x="731520" y="274320"/>
            <a:ext cx="7680960" cy="457200"/>
          </a:xfrm>
          <a:prstGeom prst="rect">
            <a:avLst/>
          </a:prstGeom>
          <a:noFill/>
          <a:ln/>
        </p:spPr>
        <p:txBody>
          <a:bodyPr wrap="square" rtlCol="0" anchor="ctr"/>
          <a:lstStyle/>
          <a:p>
            <a:pPr indent="0" marL="0">
              <a:buNone/>
            </a:pPr>
            <a:r>
              <a:rPr lang="en-US" sz="1400" b="1" dirty="0">
                <a:solidFill>
                  <a:srgbClr val="97BC62"/>
                </a:solidFill>
                <a:latin typeface="Calibri" pitchFamily="34" charset="0"/>
                <a:ea typeface="Calibri" pitchFamily="34" charset="-122"/>
                <a:cs typeface="Calibri" pitchFamily="34" charset="-120"/>
              </a:rPr>
              <a:t>結論</a:t>
            </a:r>
            <a:endParaRPr lang="en-US" sz="1400" dirty="0"/>
          </a:p>
        </p:txBody>
      </p:sp>
      <p:sp>
        <p:nvSpPr>
          <p:cNvPr id="3" name="Text 1"/>
          <p:cNvSpPr/>
          <p:nvPr/>
        </p:nvSpPr>
        <p:spPr>
          <a:xfrm>
            <a:off x="731520" y="640080"/>
            <a:ext cx="7680960" cy="1097280"/>
          </a:xfrm>
          <a:prstGeom prst="rect">
            <a:avLst/>
          </a:prstGeom>
          <a:noFill/>
          <a:ln/>
        </p:spPr>
        <p:txBody>
          <a:bodyPr wrap="square" rtlCol="0" anchor="ctr"/>
          <a:lstStyle/>
          <a:p>
            <a:pPr indent="0" marL="0">
              <a:lnSpc>
                <a:spcPct val="130000"/>
              </a:lnSpc>
              <a:buNone/>
            </a:pPr>
            <a:r>
              <a:rPr lang="en-US" sz="2600" b="1" dirty="0">
                <a:solidFill>
                  <a:srgbClr val="FFFFFF"/>
                </a:solidFill>
                <a:latin typeface="Georgia" pitchFamily="34" charset="0"/>
                <a:ea typeface="Georgia" pitchFamily="34" charset="-122"/>
                <a:cs typeface="Georgia" pitchFamily="34" charset="-120"/>
              </a:rPr>
              <a:t>花粉指標種の「閾値超過」が</a:t>
            </a:r>
            <a:endParaRPr lang="en-US" sz="2600" dirty="0"/>
          </a:p>
          <a:p>
            <a:pPr indent="0" marL="0">
              <a:lnSpc>
                <a:spcPct val="130000"/>
              </a:lnSpc>
              <a:buNone/>
            </a:pPr>
            <a:r>
              <a:rPr lang="en-US" sz="2600" b="1" dirty="0">
                <a:solidFill>
                  <a:srgbClr val="FFFFFF"/>
                </a:solidFill>
                <a:latin typeface="Georgia" pitchFamily="34" charset="0"/>
                <a:ea typeface="Georgia" pitchFamily="34" charset="-122"/>
                <a:cs typeface="Georgia" pitchFamily="34" charset="-120"/>
              </a:rPr>
              <a:t>人為的シグナルを識別する</a:t>
            </a:r>
            <a:endParaRPr lang="en-US" sz="2600" dirty="0"/>
          </a:p>
        </p:txBody>
      </p:sp>
      <p:sp>
        <p:nvSpPr>
          <p:cNvPr id="4" name="Text 2"/>
          <p:cNvSpPr/>
          <p:nvPr/>
        </p:nvSpPr>
        <p:spPr>
          <a:xfrm>
            <a:off x="731520" y="1920240"/>
            <a:ext cx="7680960" cy="2926080"/>
          </a:xfrm>
          <a:prstGeom prst="rect">
            <a:avLst/>
          </a:prstGeom>
          <a:noFill/>
          <a:ln/>
        </p:spPr>
        <p:txBody>
          <a:bodyPr wrap="square" rtlCol="0" anchor="t"/>
          <a:lstStyle/>
          <a:p>
            <a:pPr indent="0" marL="0">
              <a:lnSpc>
                <a:spcPct val="110000"/>
              </a:lnSpc>
              <a:buNone/>
            </a:pPr>
            <a:r>
              <a:rPr lang="en-US" sz="1300" b="1" dirty="0">
                <a:solidFill>
                  <a:srgbClr val="97BC62"/>
                </a:solidFill>
                <a:latin typeface="Calibri" pitchFamily="34" charset="0"/>
                <a:ea typeface="Calibri" pitchFamily="34" charset="-122"/>
                <a:cs typeface="Calibri" pitchFamily="34" charset="-120"/>
              </a:rPr>
              <a:t>1. </a:t>
            </a:r>
            <a:pPr indent="0" marL="0">
              <a:lnSpc>
                <a:spcPct val="110000"/>
              </a:lnSpc>
              <a:buNone/>
            </a:pPr>
            <a:r>
              <a:rPr lang="en-US" sz="1300" dirty="0">
                <a:solidFill>
                  <a:srgbClr val="F7F4EF"/>
                </a:solidFill>
                <a:latin typeface="Calibri" pitchFamily="34" charset="0"/>
                <a:ea typeface="Calibri" pitchFamily="34" charset="-122"/>
                <a:cs typeface="Calibri" pitchFamily="34" charset="-120"/>
              </a:rPr>
              <a:t>BC非類似度は樹木組成変化が支配（34-57%）。大きさだけでは人為/自然を区別不能。</a:t>
            </a:r>
            <a:endParaRPr lang="en-US" sz="1300" dirty="0"/>
          </a:p>
          <a:p>
            <a:pPr indent="0" marL="0">
              <a:lnSpc>
                <a:spcPct val="110000"/>
              </a:lnSpc>
              <a:buNone/>
            </a:pPr>
            <a:endParaRPr lang="en-US" sz="1300" dirty="0"/>
          </a:p>
          <a:p>
            <a:pPr indent="0" marL="0">
              <a:lnSpc>
                <a:spcPct val="110000"/>
              </a:lnSpc>
              <a:buNone/>
            </a:pPr>
            <a:r>
              <a:rPr lang="en-US" sz="1300" b="1" dirty="0">
                <a:solidFill>
                  <a:srgbClr val="97BC62"/>
                </a:solidFill>
                <a:latin typeface="Calibri" pitchFamily="34" charset="0"/>
                <a:ea typeface="Calibri" pitchFamily="34" charset="-122"/>
                <a:cs typeface="Calibri" pitchFamily="34" charset="-120"/>
              </a:rPr>
              <a:t>2. </a:t>
            </a:r>
            <a:pPr indent="0" marL="0">
              <a:lnSpc>
                <a:spcPct val="110000"/>
              </a:lnSpc>
              <a:buNone/>
            </a:pPr>
            <a:r>
              <a:rPr lang="en-US" sz="1300" dirty="0">
                <a:solidFill>
                  <a:srgbClr val="F7F4EF"/>
                </a:solidFill>
                <a:latin typeface="Calibri" pitchFamily="34" charset="0"/>
                <a:ea typeface="Calibri" pitchFamily="34" charset="-122"/>
                <a:cs typeface="Calibri" pitchFamily="34" charset="-120"/>
              </a:rPr>
              <a:t>「存在」ではなく「閾値超過」が識別指標。H1で87%超過、H3（自然）で0%超過。</a:t>
            </a:r>
            <a:endParaRPr lang="en-US" sz="1300" dirty="0"/>
          </a:p>
          <a:p>
            <a:pPr indent="0" marL="0">
              <a:lnSpc>
                <a:spcPct val="110000"/>
              </a:lnSpc>
              <a:buNone/>
            </a:pPr>
            <a:endParaRPr lang="en-US" sz="1300" dirty="0"/>
          </a:p>
          <a:p>
            <a:pPr indent="0" marL="0">
              <a:lnSpc>
                <a:spcPct val="110000"/>
              </a:lnSpc>
              <a:buNone/>
            </a:pPr>
            <a:r>
              <a:rPr lang="en-US" sz="1300" b="1" dirty="0">
                <a:solidFill>
                  <a:srgbClr val="97BC62"/>
                </a:solidFill>
                <a:latin typeface="Calibri" pitchFamily="34" charset="0"/>
                <a:ea typeface="Calibri" pitchFamily="34" charset="-122"/>
                <a:cs typeface="Calibri" pitchFamily="34" charset="-120"/>
              </a:rPr>
              <a:t>3. </a:t>
            </a:r>
            <a:pPr indent="0" marL="0">
              <a:lnSpc>
                <a:spcPct val="110000"/>
              </a:lnSpc>
              <a:buNone/>
            </a:pPr>
            <a:r>
              <a:rPr lang="en-US" sz="1300" dirty="0">
                <a:solidFill>
                  <a:srgbClr val="F7F4EF"/>
                </a:solidFill>
                <a:latin typeface="Calibri" pitchFamily="34" charset="0"/>
                <a:ea typeface="Calibri" pitchFamily="34" charset="-122"/>
                <a:cs typeface="Calibri" pitchFamily="34" charset="-120"/>
              </a:rPr>
              <a:t>牧畜指標の閾値超過が穀物より先行（67-82%、3地域）。オオバコ除外でも頑健。</a:t>
            </a:r>
            <a:endParaRPr lang="en-US" sz="1300" dirty="0"/>
          </a:p>
          <a:p>
            <a:pPr indent="0" marL="0">
              <a:lnSpc>
                <a:spcPct val="110000"/>
              </a:lnSpc>
              <a:buNone/>
            </a:pPr>
            <a:endParaRPr lang="en-US" sz="1300" dirty="0"/>
          </a:p>
          <a:p>
            <a:pPr indent="0" marL="0">
              <a:lnSpc>
                <a:spcPct val="110000"/>
              </a:lnSpc>
              <a:buNone/>
            </a:pPr>
            <a:r>
              <a:rPr lang="en-US" sz="1300" b="1" dirty="0">
                <a:solidFill>
                  <a:srgbClr val="97BC62"/>
                </a:solidFill>
                <a:latin typeface="Calibri" pitchFamily="34" charset="0"/>
                <a:ea typeface="Calibri" pitchFamily="34" charset="-122"/>
                <a:cs typeface="Calibri" pitchFamily="34" charset="-120"/>
              </a:rPr>
              <a:t>4. </a:t>
            </a:r>
            <a:pPr indent="0" marL="0">
              <a:lnSpc>
                <a:spcPct val="110000"/>
              </a:lnSpc>
              <a:buNone/>
            </a:pPr>
            <a:r>
              <a:rPr lang="en-US" sz="1300" dirty="0">
                <a:solidFill>
                  <a:srgbClr val="F7F4EF"/>
                </a:solidFill>
                <a:latin typeface="Calibri" pitchFamily="34" charset="0"/>
                <a:ea typeface="Calibri" pitchFamily="34" charset="-122"/>
                <a:cs typeface="Calibri" pitchFamily="34" charset="-120"/>
              </a:rPr>
              <a:t>シグナルは新石器到来の約1,400年後の「集約化」を検出。初期農耕は花粉に見えない。</a:t>
            </a:r>
            <a:endParaRPr lang="en-US" sz="1300" dirty="0"/>
          </a:p>
          <a:p>
            <a:pPr indent="0" marL="0">
              <a:lnSpc>
                <a:spcPct val="110000"/>
              </a:lnSpc>
              <a:buNone/>
            </a:pPr>
            <a:endParaRPr lang="en-US" sz="1300" dirty="0"/>
          </a:p>
          <a:p>
            <a:pPr indent="0" marL="0">
              <a:lnSpc>
                <a:spcPct val="110000"/>
              </a:lnSpc>
              <a:buNone/>
            </a:pPr>
            <a:r>
              <a:rPr lang="en-US" sz="1300" b="1" dirty="0">
                <a:solidFill>
                  <a:srgbClr val="97BC62"/>
                </a:solidFill>
                <a:latin typeface="Calibri" pitchFamily="34" charset="0"/>
                <a:ea typeface="Calibri" pitchFamily="34" charset="-122"/>
                <a:cs typeface="Calibri" pitchFamily="34" charset="-120"/>
              </a:rPr>
              <a:t>5. </a:t>
            </a:r>
            <a:pPr indent="0" marL="0">
              <a:lnSpc>
                <a:spcPct val="110000"/>
              </a:lnSpc>
              <a:buNone/>
            </a:pPr>
            <a:r>
              <a:rPr lang="en-US" sz="1300" dirty="0">
                <a:solidFill>
                  <a:srgbClr val="F7F4EF"/>
                </a:solidFill>
                <a:latin typeface="Calibri" pitchFamily="34" charset="0"/>
                <a:ea typeface="Calibri" pitchFamily="34" charset="-122"/>
                <a:cs typeface="Calibri" pitchFamily="34" charset="-120"/>
              </a:rPr>
              <a:t>5ステップ・プロトコル（検出→分解→閾値超過分類→時間勾配→厳格指標検証）を提案。</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C5F2D"/>
        </a:solidFill>
      </p:bgPr>
    </p:bg>
    <p:spTree>
      <p:nvGrpSpPr>
        <p:cNvPr id="1" name=""/>
        <p:cNvGrpSpPr/>
        <p:nvPr/>
      </p:nvGrpSpPr>
      <p:grpSpPr>
        <a:xfrm>
          <a:off x="0" y="0"/>
          <a:ext cx="0" cy="0"/>
          <a:chOff x="0" y="0"/>
          <a:chExt cx="0" cy="0"/>
        </a:xfrm>
      </p:grpSpPr>
      <p:sp>
        <p:nvSpPr>
          <p:cNvPr id="2" name="Text 0"/>
          <p:cNvSpPr/>
          <p:nvPr/>
        </p:nvSpPr>
        <p:spPr>
          <a:xfrm>
            <a:off x="731520" y="1371600"/>
            <a:ext cx="7680960" cy="1371600"/>
          </a:xfrm>
          <a:prstGeom prst="rect">
            <a:avLst/>
          </a:prstGeom>
          <a:noFill/>
          <a:ln/>
        </p:spPr>
        <p:txBody>
          <a:bodyPr wrap="square" rtlCol="0" anchor="ctr"/>
          <a:lstStyle/>
          <a:p>
            <a:pPr algn="ctr" indent="0" marL="0">
              <a:buNone/>
            </a:pPr>
            <a:r>
              <a:rPr lang="en-US" sz="3200" b="1" dirty="0">
                <a:solidFill>
                  <a:srgbClr val="FFFFFF"/>
                </a:solidFill>
                <a:latin typeface="Georgia" pitchFamily="34" charset="0"/>
                <a:ea typeface="Georgia" pitchFamily="34" charset="-122"/>
                <a:cs typeface="Georgia" pitchFamily="34" charset="-120"/>
              </a:rPr>
              <a:t>ご清聴ありがとうございました</a:t>
            </a:r>
            <a:endParaRPr lang="en-US" sz="3200" dirty="0"/>
          </a:p>
        </p:txBody>
      </p:sp>
      <p:sp>
        <p:nvSpPr>
          <p:cNvPr id="3" name="Text 1"/>
          <p:cNvSpPr/>
          <p:nvPr/>
        </p:nvSpPr>
        <p:spPr>
          <a:xfrm>
            <a:off x="731520" y="2926080"/>
            <a:ext cx="7680960" cy="1828800"/>
          </a:xfrm>
          <a:prstGeom prst="rect">
            <a:avLst/>
          </a:prstGeom>
          <a:noFill/>
          <a:ln/>
        </p:spPr>
        <p:txBody>
          <a:bodyPr wrap="square" rtlCol="0" anchor="ctr"/>
          <a:lstStyle/>
          <a:p>
            <a:pPr algn="ctr" indent="0" marL="0">
              <a:lnSpc>
                <a:spcPct val="130000"/>
              </a:lnSpc>
              <a:buNone/>
            </a:pPr>
            <a:r>
              <a:rPr lang="en-US" sz="1300" dirty="0">
                <a:solidFill>
                  <a:srgbClr val="F7F4EF"/>
                </a:solidFill>
                <a:latin typeface="Calibri" pitchFamily="34" charset="0"/>
                <a:ea typeface="Calibri" pitchFamily="34" charset="-122"/>
                <a:cs typeface="Calibri" pitchFamily="34" charset="-120"/>
              </a:rPr>
              <a:t>データ: Neotoma Paleoecology Database（331地点、公開データ）</a:t>
            </a:r>
            <a:endParaRPr lang="en-US" sz="1300" dirty="0"/>
          </a:p>
          <a:p>
            <a:pPr algn="ctr" indent="0" marL="0">
              <a:lnSpc>
                <a:spcPct val="130000"/>
              </a:lnSpc>
              <a:buNone/>
            </a:pPr>
            <a:r>
              <a:rPr lang="en-US" sz="1300" dirty="0">
                <a:solidFill>
                  <a:srgbClr val="F7F4EF"/>
                </a:solidFill>
                <a:latin typeface="Calibri" pitchFamily="34" charset="0"/>
                <a:ea typeface="Calibri" pitchFamily="34" charset="-122"/>
                <a:cs typeface="Calibri" pitchFamily="34" charset="-120"/>
              </a:rPr>
              <a:t>分析コード: GitHub hiroshi75/paper/pollen-exceedance-europe</a:t>
            </a:r>
            <a:endParaRPr lang="en-US" sz="1300" dirty="0"/>
          </a:p>
          <a:p>
            <a:pPr algn="ctr" indent="0" marL="0">
              <a:lnSpc>
                <a:spcPct val="130000"/>
              </a:lnSpc>
              <a:buNone/>
            </a:pPr>
            <a:r>
              <a:rPr lang="en-US" sz="1300" dirty="0">
                <a:solidFill>
                  <a:srgbClr val="F7F4EF"/>
                </a:solidFill>
                <a:latin typeface="Calibri" pitchFamily="34" charset="0"/>
                <a:ea typeface="Calibri" pitchFamily="34" charset="-122"/>
                <a:cs typeface="Calibri" pitchFamily="34" charset="-120"/>
              </a:rPr>
              <a:t>投稿先: AAES (AAES-P-0003) / Quaternary Science Reviews</a:t>
            </a:r>
            <a:endParaRPr lang="en-US" sz="1300" dirty="0"/>
          </a:p>
          <a:p>
            <a:pPr algn="ctr" indent="0" marL="0">
              <a:lnSpc>
                <a:spcPct val="130000"/>
              </a:lnSpc>
              <a:buNone/>
            </a:pPr>
            <a:endParaRPr lang="en-US" sz="1300" dirty="0"/>
          </a:p>
          <a:p>
            <a:pPr algn="ctr" indent="0" marL="0">
              <a:lnSpc>
                <a:spcPct val="130000"/>
              </a:lnSpc>
              <a:buNone/>
            </a:pPr>
            <a:r>
              <a:rPr lang="en-US" sz="1300" b="1" dirty="0">
                <a:solidFill>
                  <a:srgbClr val="F7F4EF"/>
                </a:solidFill>
                <a:latin typeface="Calibri" pitchFamily="34" charset="0"/>
                <a:ea typeface="Calibri" pitchFamily="34" charset="-122"/>
                <a:cs typeface="Calibri" pitchFamily="34" charset="-120"/>
              </a:rPr>
              <a:t>ArchEco 歴史生態学×考古学 研究室</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花粉指標種の閾値超過が人為的シグナルを識別する</dc:title>
  <dc:subject>PptxGenJS Presentation</dc:subject>
  <dc:creator>ArchEco Research Lab</dc:creator>
  <cp:lastModifiedBy>ArchEco Research Lab</cp:lastModifiedBy>
  <cp:revision>1</cp:revision>
  <dcterms:created xsi:type="dcterms:W3CDTF">2026-03-27T02:44:52Z</dcterms:created>
  <dcterms:modified xsi:type="dcterms:W3CDTF">2026-03-27T02:44:52Z</dcterms:modified>
</cp:coreProperties>
</file>